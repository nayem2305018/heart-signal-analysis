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8" r:id="rId10"/>
    <p:sldId id="269" r:id="rId11"/>
    <p:sldId id="270" r:id="rId12"/>
    <p:sldId id="264" r:id="rId13"/>
    <p:sldId id="265" r:id="rId14"/>
    <p:sldId id="266" r:id="rId15"/>
    <p:sldId id="271" r:id="rId16"/>
    <p:sldId id="272" r:id="rId23"/>
    <p:sldId id="273" r:id="rId24"/>
    <p:sldId id="274" r:id="rId25"/>
    <p:sldId id="275" r:id="rId26"/>
    <p:sldId id="276" r:id="rId27"/>
    <p:sldId id="267"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notesMaster" Target="notesMasters/notesMaster1.xml" /><Relationship Id="rId3" Type="http://schemas.openxmlformats.org/officeDocument/2006/relationships/slide" Target="slides/slide2.xml" /><Relationship Id="rId21" Type="http://schemas.openxmlformats.org/officeDocument/2006/relationships/theme" Target="theme/theme1.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viewProps" Target="viewProps.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5" Type="http://schemas.openxmlformats.org/officeDocument/2006/relationships/slide" Target="slides/slide4.xml" /><Relationship Id="rId15" Type="http://schemas.openxmlformats.org/officeDocument/2006/relationships/slide" Target="slides/slide14.xml" /><Relationship Id="rId10" Type="http://schemas.openxmlformats.org/officeDocument/2006/relationships/slide" Target="slides/slide9.xml" /><Relationship Id="rId19" Type="http://schemas.openxmlformats.org/officeDocument/2006/relationships/presProps" Target="presProps.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tableStyles" Target="tableStyles.xml" /><Relationship Id="rId23" Type="http://schemas.openxmlformats.org/officeDocument/2006/relationships/slide" Target="slides/slide17.xml" /><Relationship Id="rId24" Type="http://schemas.openxmlformats.org/officeDocument/2006/relationships/slide" Target="slides/slide18.xml" /><Relationship Id="rId25" Type="http://schemas.openxmlformats.org/officeDocument/2006/relationships/slide" Target="slides/slide19.xml" /><Relationship Id="rId26" Type="http://schemas.openxmlformats.org/officeDocument/2006/relationships/slide" Target="slides/slide20.xml" /><Relationship Id="rId27" Type="http://schemas.openxmlformats.org/officeDocument/2006/relationships/slide" Target="slides/slide2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p14="http://schemas.microsoft.com/office/powerpoint/2010/main"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E4DB407-894A-4CD0-AD45-6C68018E116E}" type="datetimeFigureOut">
              <a:rPr lang="en-US" smtClean="0"/>
              <a:t>9/25/2026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89E236-B6B3-4712-A06A-994BBBF0D2D2}" type="slidenum">
              <a:rPr lang="en-US" smtClean="0"/>
              <a:t>‹#›</a:t>
            </a:fld>
            <a:endParaRPr lang="en-US"/>
          </a:p>
        </p:txBody>
      </p:sp>
    </p:spTree>
    <p:extLst>
      <p:ext uri="{BB962C8B-B14F-4D97-AF65-F5344CB8AC3E}">
        <p14:creationId xmlns:p14="http://schemas.microsoft.com/office/powerpoint/2010/main" val="19906714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Introduce the project as an educational signal-processing application. The examples in this deck come from the supplied MP3 and data/training/training-a/a0001.wav. The song plots use the 50–60 second excerpt.</a:t>
            </a:r>
          </a:p>
        </p:txBody>
      </p:sp>
      <p:sp>
        <p:nvSpPr>
          <p:cNvPr id="4" name="Slide Number Placeholder 3"/>
          <p:cNvSpPr>
            <a:spLocks noGrp="1"/>
          </p:cNvSpPr>
          <p:nvPr>
            <p:ph type="sldNum" sz="quarter" idx="5"/>
          </p:nvPr>
        </p:nvSpPr>
        <p:spPr/>
        <p:txBody>
          <a:bodyPr/>
          <a:lstStyle/>
          <a:p>
            <a:fld id="{7C89E236-B6B3-4712-A06A-994BBBF0D2D2}" type="slidenum">
              <a:rPr lang="en-US" smtClean="0"/>
              <a:t>1</a:t>
            </a:fld>
            <a:endParaRPr lang="en-US"/>
          </a:p>
        </p:txBody>
      </p:sp>
    </p:spTree>
    <p:extLst>
      <p:ext uri="{BB962C8B-B14F-4D97-AF65-F5344CB8AC3E}">
        <p14:creationId xmlns:p14="http://schemas.microsoft.com/office/powerpoint/2010/main" val="2807945208"/>
      </p:ext>
    </p:extLst>
  </p:cSld>
  <p:clrMapOvr>
    <a:masterClrMapping/>
  </p:clrMapOvr>
</p:notes>
</file>

<file path=ppt/notesSlides/notesSlide2.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a0001.wav, mono, 2,000 Hz, duration 35.666 seconds. dashboard.py uses np.arange(len(signal))/sample_rate for the waveform time axis. Clarify that the dots are a display subset; the underlying recording has 2,000 samples per second.</a:t>
            </a:r>
          </a:p>
        </p:txBody>
      </p:sp>
      <p:sp>
        <p:nvSpPr>
          <p:cNvPr id="4" name="Slide Number Placeholder 3"/>
          <p:cNvSpPr>
            <a:spLocks noGrp="1"/>
          </p:cNvSpPr>
          <p:nvPr>
            <p:ph type="sldNum" sz="quarter" idx="5"/>
          </p:nvPr>
        </p:nvSpPr>
        <p:spPr/>
        <p:txBody>
          <a:bodyPr/>
          <a:lstStyle/>
          <a:p>
            <a:fld id="{7C89E236-B6B3-4712-A06A-994BBBF0D2D2}" type="slidenum">
              <a:rPr lang="en-US" smtClean="0"/>
              <a:t>2</a:t>
            </a:fld>
            <a:endParaRPr lang="en-US"/>
          </a:p>
        </p:txBody>
      </p:sp>
    </p:spTree>
    <p:extLst>
      <p:ext uri="{BB962C8B-B14F-4D97-AF65-F5344CB8AC3E}">
        <p14:creationId xmlns:p14="http://schemas.microsoft.com/office/powerpoint/2010/main" val="3048254662"/>
      </p:ext>
    </p:extLst>
  </p:cSld>
  <p:clrMapOvr>
    <a:masterClrMapping/>
  </p:clrMapOvr>
</p:notes>
</file>

<file path=ppt/notesSlides/notesSlide3.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a map of the five workspaces. Heart sounds uses filtering and timing. The audio analyzer shows waveform, spectrum, spectrogram, effects, pitch, and comparison. The crypto page encrypts original file bytes into a reversible WAV carrier. Steganography hides text bits in selected FFT magnitudes. The Echo Detector examines repetition using autocorrelation. Use this map to orient the audience before the detailed examples.</a:t>
            </a:r>
          </a:p>
        </p:txBody>
      </p:sp>
      <p:sp>
        <p:nvSpPr>
          <p:cNvPr id="4" name="Slide Number Placeholder 3"/>
          <p:cNvSpPr>
            <a:spLocks noGrp="1"/>
          </p:cNvSpPr>
          <p:nvPr>
            <p:ph type="sldNum" sz="quarter" idx="5"/>
          </p:nvPr>
        </p:nvSpPr>
        <p:spPr/>
        <p:txBody>
          <a:bodyPr/>
          <a:lstStyle/>
          <a:p>
            <a:fld id="{7C89E236-B6B3-4712-A06A-994BBBF0D2D2}" type="slidenum">
              <a:rPr lang="en-US" smtClean="0"/>
              <a:t>3</a:t>
            </a:fld>
            <a:endParaRPr lang="en-US"/>
          </a:p>
        </p:txBody>
      </p:sp>
    </p:spTree>
    <p:extLst>
      <p:ext uri="{BB962C8B-B14F-4D97-AF65-F5344CB8AC3E}">
        <p14:creationId xmlns:p14="http://schemas.microsoft.com/office/powerpoint/2010/main" val="2095892126"/>
      </p:ext>
    </p:extLst>
  </p:cSld>
  <p:clrMapOvr>
    <a:masterClrMapping/>
  </p:clrMapOvr>
</p:notes>
</file>

<file path=ppt/notesSlides/notesSlide4.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figure uses a0001.wav, 2,000 Hz. For the slide preview, a zero-phase 20–150 Hz bandpass and a smoothed rectified envelope were computed in JavaScript; the app performs its own SciPy Butterworth and filtfilt operations. Code: models/transforms.py design_digital_filter, models/filters.py apply_bandpass_filter, models/peak_detection.py get_envelope and detect_peaks. Explain that the envelope merges many waveform oscillations into a sound event.</a:t>
            </a:r>
          </a:p>
        </p:txBody>
      </p:sp>
      <p:sp>
        <p:nvSpPr>
          <p:cNvPr id="4" name="Slide Number Placeholder 3"/>
          <p:cNvSpPr>
            <a:spLocks noGrp="1"/>
          </p:cNvSpPr>
          <p:nvPr>
            <p:ph type="sldNum" sz="quarter" idx="5"/>
          </p:nvPr>
        </p:nvSpPr>
        <p:spPr/>
        <p:txBody>
          <a:bodyPr/>
          <a:lstStyle/>
          <a:p>
            <a:fld id="{7C89E236-B6B3-4712-A06A-994BBBF0D2D2}" type="slidenum">
              <a:rPr lang="en-US" smtClean="0"/>
              <a:t>4</a:t>
            </a:fld>
            <a:endParaRPr lang="en-US"/>
          </a:p>
        </p:txBody>
      </p:sp>
    </p:spTree>
    <p:extLst>
      <p:ext uri="{BB962C8B-B14F-4D97-AF65-F5344CB8AC3E}">
        <p14:creationId xmlns:p14="http://schemas.microsoft.com/office/powerpoint/2010/main" val="447284307"/>
      </p:ext>
    </p:extLst>
  </p:cSld>
  <p:clrMapOvr>
    <a:masterClrMapping/>
  </p:clrMapOvr>
</p:notes>
</file>

<file path=ppt/notesSlides/notesSlide5.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displayed preview identifies alternating bursts around 0.41, 0.78, 1.40 and 1.77 seconds. A full S1–S2–S1 cycle gives one beat. models/peak_detection.py classify_s1_s2 uses plausible short and long gap rules. calculate_heart_rate uses the median complete S1-to-S1 interval. These labels and BPM are educational estimates, not medical diagnoses.</a:t>
            </a:r>
          </a:p>
        </p:txBody>
      </p:sp>
      <p:sp>
        <p:nvSpPr>
          <p:cNvPr id="4" name="Slide Number Placeholder 3"/>
          <p:cNvSpPr>
            <a:spLocks noGrp="1"/>
          </p:cNvSpPr>
          <p:nvPr>
            <p:ph type="sldNum" sz="quarter" idx="5"/>
          </p:nvPr>
        </p:nvSpPr>
        <p:spPr/>
        <p:txBody>
          <a:bodyPr/>
          <a:lstStyle/>
          <a:p>
            <a:fld id="{7C89E236-B6B3-4712-A06A-994BBBF0D2D2}" type="slidenum">
              <a:rPr lang="en-US" smtClean="0"/>
              <a:t>5</a:t>
            </a:fld>
            <a:endParaRPr lang="en-US"/>
          </a:p>
        </p:txBody>
      </p:sp>
    </p:spTree>
    <p:extLst>
      <p:ext uri="{BB962C8B-B14F-4D97-AF65-F5344CB8AC3E}">
        <p14:creationId xmlns:p14="http://schemas.microsoft.com/office/powerpoint/2010/main" val="3440759937"/>
      </p:ext>
    </p:extLst>
  </p:cSld>
  <p:clrMapOvr>
    <a:masterClrMapping/>
  </p:clrMapOvr>
</p:notes>
</file>

<file path=ppt/notesSlides/notesSlide6.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supplied Avicii Wake Me Up MP3. Chrome decoded the file at 48,000 Hz, stereo, duration about 272.46 seconds. These graphs use channel 1 from seconds 50–60. Waveform shows amplitude vs time; RMS uses short blocks for level; the spectrum averages 32 FFT windows across the excerpt; the spectrogram shows frequency changing over time. The plotted preview is separate from the app output but illustrates the same signal properties. audio_processing.py has RMS, Welch spectrum and STFT functions.</a:t>
            </a:r>
          </a:p>
        </p:txBody>
      </p:sp>
      <p:sp>
        <p:nvSpPr>
          <p:cNvPr id="4" name="Slide Number Placeholder 3"/>
          <p:cNvSpPr>
            <a:spLocks noGrp="1"/>
          </p:cNvSpPr>
          <p:nvPr>
            <p:ph type="sldNum" sz="quarter" idx="5"/>
          </p:nvPr>
        </p:nvSpPr>
        <p:spPr/>
        <p:txBody>
          <a:bodyPr/>
          <a:lstStyle/>
          <a:p>
            <a:fld id="{7C89E236-B6B3-4712-A06A-994BBBF0D2D2}" type="slidenum">
              <a:rPr lang="en-US" smtClean="0"/>
              <a:t>6</a:t>
            </a:fld>
            <a:endParaRPr lang="en-US"/>
          </a:p>
        </p:txBody>
      </p:sp>
    </p:spTree>
    <p:extLst>
      <p:ext uri="{BB962C8B-B14F-4D97-AF65-F5344CB8AC3E}">
        <p14:creationId xmlns:p14="http://schemas.microsoft.com/office/powerpoint/2010/main" val="591448904"/>
      </p:ext>
    </p:extLst>
  </p:cSld>
  <p:clrMapOvr>
    <a:masterClrMapping/>
  </p:clrMapOvr>
</p:notes>
</file>

<file path=ppt/notesSlides/notesSlide7.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plot uses the song excerpt. The gray spectrum is measured from a window in the supplied MP3; the teal curve is a theoretical fourth-order Butterworth low-pass response applied to that spectrum. It is an illustration, not a processed export from the app. audio_processing.py frequency_filter validates cutoffs against Nyquist, designs SOS sections and applies sosfiltfilt. Mention that cutoff is gradual rather than a hard boundary.</a:t>
            </a:r>
          </a:p>
        </p:txBody>
      </p:sp>
      <p:sp>
        <p:nvSpPr>
          <p:cNvPr id="4" name="Slide Number Placeholder 3"/>
          <p:cNvSpPr>
            <a:spLocks noGrp="1"/>
          </p:cNvSpPr>
          <p:nvPr>
            <p:ph type="sldNum" sz="quarter" idx="5"/>
          </p:nvPr>
        </p:nvSpPr>
        <p:spPr/>
        <p:txBody>
          <a:bodyPr/>
          <a:lstStyle/>
          <a:p>
            <a:fld id="{7C89E236-B6B3-4712-A06A-994BBBF0D2D2}" type="slidenum">
              <a:rPr lang="en-US" smtClean="0"/>
              <a:t>7</a:t>
            </a:fld>
            <a:endParaRPr lang="en-US"/>
          </a:p>
        </p:txBody>
      </p:sp>
    </p:spTree>
    <p:extLst>
      <p:ext uri="{BB962C8B-B14F-4D97-AF65-F5344CB8AC3E}">
        <p14:creationId xmlns:p14="http://schemas.microsoft.com/office/powerpoint/2010/main" val="4135198143"/>
      </p:ext>
    </p:extLst>
  </p:cSld>
  <p:clrMapOvr>
    <a:masterClrMapping/>
  </p:clrMapOvr>
</p:notes>
</file>

<file path=ppt/notesSlides/notesSlide8.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Delay uses a time shift. The code in audio_processing.py calculates offset as delay_seconds times sample_rate, then adds one amplitude-scaled copy. A 0.3-second delay at 44.1 kHz is 13,230 samples. The timeline is schematic. In the app, choose Rooms &amp; effects, then Delay.</a:t>
            </a:r>
          </a:p>
        </p:txBody>
      </p:sp>
      <p:sp>
        <p:nvSpPr>
          <p:cNvPr id="4" name="Slide Number Placeholder 3"/>
          <p:cNvSpPr>
            <a:spLocks noGrp="1"/>
          </p:cNvSpPr>
          <p:nvPr>
            <p:ph type="sldNum" sz="quarter" idx="5"/>
          </p:nvPr>
        </p:nvSpPr>
        <p:spPr/>
        <p:txBody>
          <a:bodyPr/>
          <a:lstStyle/>
          <a:p>
            <a:fld id="{7C89E236-B6B3-4712-A06A-994BBBF0D2D2}" type="slidenum">
              <a:rPr lang="en-US" smtClean="0"/>
              <a:t>8</a:t>
            </a:fld>
            <a:endParaRPr lang="en-US"/>
          </a:p>
        </p:txBody>
      </p:sp>
    </p:spTree>
    <p:extLst>
      <p:ext uri="{BB962C8B-B14F-4D97-AF65-F5344CB8AC3E}">
        <p14:creationId xmlns:p14="http://schemas.microsoft.com/office/powerpoint/2010/main" val="2073166856"/>
      </p:ext>
    </p:extLst>
  </p:cSld>
  <p:clrMapOvr>
    <a:masterClrMapping/>
  </p:clrMapOvr>
</p:notes>
</file>

<file path=ppt/notesSlides/notesSlide9.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Echo uses the same delay offset but four repeats in audio_processing.py. Each repeat is multiplied by amount raised to its repeat number, so an amount below 1 gives a decaying tail. The 0.3-second spacing in the diagram is an example; it is set by the time slider. Distinguish this effect from the separate Echo Detector, which looks for repeated delays in an existing recording.</a:t>
            </a:r>
          </a:p>
        </p:txBody>
      </p:sp>
      <p:sp>
        <p:nvSpPr>
          <p:cNvPr id="4" name="Slide Number Placeholder 3"/>
          <p:cNvSpPr>
            <a:spLocks noGrp="1"/>
          </p:cNvSpPr>
          <p:nvPr>
            <p:ph type="sldNum" sz="quarter" idx="5"/>
          </p:nvPr>
        </p:nvSpPr>
        <p:spPr/>
        <p:txBody>
          <a:bodyPr/>
          <a:lstStyle/>
          <a:p>
            <a:fld id="{7C89E236-B6B3-4712-A06A-994BBBF0D2D2}" type="slidenum">
              <a:rPr lang="en-US" smtClean="0"/>
              <a:t>9</a:t>
            </a:fld>
            <a:endParaRPr lang="en-US"/>
          </a:p>
        </p:txBody>
      </p:sp>
    </p:spTree>
    <p:extLst>
      <p:ext uri="{BB962C8B-B14F-4D97-AF65-F5344CB8AC3E}">
        <p14:creationId xmlns:p14="http://schemas.microsoft.com/office/powerpoint/2010/main" val="2079823339"/>
      </p:ext>
    </p:extLst>
  </p:cSld>
  <p:clrMapOvr>
    <a:masterClrMapping/>
  </p:clrMapOvr>
</p:notes>
</file>

<file path=ppt/notesSlides/notesSlide10.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Tremolo is amplitude modulation. The original waveform is multiplied by a gain that follows a sine wave. audio_processing.py uses rate=max(0.2, delay_seconds*10); that shared slider becomes tremolo speed. The diagram is schematic, not the exact song waveform. Unlike delay or echo, tremolo does not place new copies later in time.</a:t>
            </a:r>
          </a:p>
        </p:txBody>
      </p:sp>
      <p:sp>
        <p:nvSpPr>
          <p:cNvPr id="4" name="Slide Number Placeholder 3"/>
          <p:cNvSpPr>
            <a:spLocks noGrp="1"/>
          </p:cNvSpPr>
          <p:nvPr>
            <p:ph type="sldNum" sz="quarter" idx="5"/>
          </p:nvPr>
        </p:nvSpPr>
        <p:spPr/>
        <p:txBody>
          <a:bodyPr/>
          <a:lstStyle/>
          <a:p>
            <a:fld id="{7C89E236-B6B3-4712-A06A-994BBBF0D2D2}" type="slidenum">
              <a:rPr lang="en-US" smtClean="0"/>
              <a:t>10</a:t>
            </a:fld>
            <a:endParaRPr lang="en-US"/>
          </a:p>
        </p:txBody>
      </p:sp>
    </p:spTree>
    <p:extLst>
      <p:ext uri="{BB962C8B-B14F-4D97-AF65-F5344CB8AC3E}">
        <p14:creationId xmlns:p14="http://schemas.microsoft.com/office/powerpoint/2010/main" val="792280624"/>
      </p:ext>
    </p:extLst>
  </p:cSld>
  <p:clrMapOvr>
    <a:masterClrMapping/>
  </p:clrMapOvr>
</p:notes>
</file>

<file path=ppt/notesSlides/notesSlide11.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app applies tanh soft saturation in audio_processing.py. As amount rises, drive rises from 1 toward 23.8 at the UI maximum of 0.95. The output is normalized by tanh(drive). The rounded peaks in the schematic demonstrate nonlinear compression. Nonlinearity changes frequency content, creating harmonics; it is not merely louder audio.</a:t>
            </a:r>
          </a:p>
        </p:txBody>
      </p:sp>
      <p:sp>
        <p:nvSpPr>
          <p:cNvPr id="4" name="Slide Number Placeholder 3"/>
          <p:cNvSpPr>
            <a:spLocks noGrp="1"/>
          </p:cNvSpPr>
          <p:nvPr>
            <p:ph type="sldNum" sz="quarter" idx="5"/>
          </p:nvPr>
        </p:nvSpPr>
        <p:spPr/>
        <p:txBody>
          <a:bodyPr/>
          <a:lstStyle/>
          <a:p>
            <a:fld id="{7C89E236-B6B3-4712-A06A-994BBBF0D2D2}" type="slidenum">
              <a:rPr lang="en-US" smtClean="0"/>
              <a:t>11</a:t>
            </a:fld>
            <a:endParaRPr lang="en-US"/>
          </a:p>
        </p:txBody>
      </p:sp>
    </p:spTree>
    <p:extLst>
      <p:ext uri="{BB962C8B-B14F-4D97-AF65-F5344CB8AC3E}">
        <p14:creationId xmlns:p14="http://schemas.microsoft.com/office/powerpoint/2010/main" val="2407804774"/>
      </p:ext>
    </p:extLst>
  </p:cSld>
  <p:clrMapOvr>
    <a:masterClrMapping/>
  </p:clrMapOvr>
</p:notes>
</file>

<file path=ppt/notesSlides/notesSlide12.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onset chart uses the 50–60 second excerpt of the user-supplied song. Candidate markers are from an illustrative spectral-flux calculation and should not be presented as the exact app output or a tempo grid. audio_processing.py detect_beats sums only positive changes in STFT magnitude and peak-picks. detect_pitch uses autocorrelation in a short frame; a polyphonic song can cause octave errors or no reliable result.</a:t>
            </a:r>
          </a:p>
        </p:txBody>
      </p:sp>
      <p:sp>
        <p:nvSpPr>
          <p:cNvPr id="4" name="Slide Number Placeholder 3"/>
          <p:cNvSpPr>
            <a:spLocks noGrp="1"/>
          </p:cNvSpPr>
          <p:nvPr>
            <p:ph type="sldNum" sz="quarter" idx="5"/>
          </p:nvPr>
        </p:nvSpPr>
        <p:spPr/>
        <p:txBody>
          <a:bodyPr/>
          <a:lstStyle/>
          <a:p>
            <a:fld id="{7C89E236-B6B3-4712-A06A-994BBBF0D2D2}" type="slidenum">
              <a:rPr lang="en-US" smtClean="0"/>
              <a:t>12</a:t>
            </a:fld>
            <a:endParaRPr lang="en-US"/>
          </a:p>
        </p:txBody>
      </p:sp>
    </p:spTree>
    <p:extLst>
      <p:ext uri="{BB962C8B-B14F-4D97-AF65-F5344CB8AC3E}">
        <p14:creationId xmlns:p14="http://schemas.microsoft.com/office/powerpoint/2010/main" val="2790349908"/>
      </p:ext>
    </p:extLst>
  </p:cSld>
  <p:clrMapOvr>
    <a:masterClrMapping/>
  </p:clrMapOvr>
</p:notes>
</file>

<file path=ppt/notesSlides/notesSlide13.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audio_processing.py aligns clips using envelopes and normalized correlation, then computes waveform correlation, RMS difference and level difference on the overlap. models/echo_detector.py uses FFT autocorrelation to find a delayed self-match and checks whether the delay repeats across windows. A repeating rhythm can create a false echo candidate.</a:t>
            </a:r>
          </a:p>
        </p:txBody>
      </p:sp>
      <p:sp>
        <p:nvSpPr>
          <p:cNvPr id="4" name="Slide Number Placeholder 3"/>
          <p:cNvSpPr>
            <a:spLocks noGrp="1"/>
          </p:cNvSpPr>
          <p:nvPr>
            <p:ph type="sldNum" sz="quarter" idx="5"/>
          </p:nvPr>
        </p:nvSpPr>
        <p:spPr/>
        <p:txBody>
          <a:bodyPr/>
          <a:lstStyle/>
          <a:p>
            <a:fld id="{7C89E236-B6B3-4712-A06A-994BBBF0D2D2}" type="slidenum">
              <a:rPr lang="en-US" smtClean="0"/>
              <a:t>13</a:t>
            </a:fld>
            <a:endParaRPr lang="en-US"/>
          </a:p>
        </p:txBody>
      </p:sp>
    </p:spTree>
    <p:extLst>
      <p:ext uri="{BB962C8B-B14F-4D97-AF65-F5344CB8AC3E}">
        <p14:creationId xmlns:p14="http://schemas.microsoft.com/office/powerpoint/2010/main" val="2751425278"/>
      </p:ext>
    </p:extLst>
  </p:cSld>
  <p:clrMapOvr>
    <a:masterClrMapping/>
  </p:clrMapOvr>
</p:notes>
</file>

<file path=ppt/notesSlides/notesSlide14.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active crypto page calls encrypt_audio_file_bytes in models/audio_crypto.py. It encrypts the original file bytes and filename with AES-GCM, using a key derived from the password by PBKDF2. The ciphertext is packed into int16 values and stored in a WAV container; its audio playback sounds noise-like. Decryption can recover the original file exactly if the password and carrier sample bytes are unchanged. Lossy conversion such as MP3 destroys the stored bytes.</a:t>
            </a:r>
          </a:p>
        </p:txBody>
      </p:sp>
      <p:sp>
        <p:nvSpPr>
          <p:cNvPr id="4" name="Slide Number Placeholder 3"/>
          <p:cNvSpPr>
            <a:spLocks noGrp="1"/>
          </p:cNvSpPr>
          <p:nvPr>
            <p:ph type="sldNum" sz="quarter" idx="5"/>
          </p:nvPr>
        </p:nvSpPr>
        <p:spPr/>
        <p:txBody>
          <a:bodyPr/>
          <a:lstStyle/>
          <a:p>
            <a:fld id="{7C89E236-B6B3-4712-A06A-994BBBF0D2D2}" type="slidenum">
              <a:rPr lang="en-US" smtClean="0"/>
              <a:t>14</a:t>
            </a:fld>
            <a:endParaRPr lang="en-US"/>
          </a:p>
        </p:txBody>
      </p:sp>
    </p:spTree>
    <p:extLst>
      <p:ext uri="{BB962C8B-B14F-4D97-AF65-F5344CB8AC3E}">
        <p14:creationId xmlns:p14="http://schemas.microsoft.com/office/powerpoint/2010/main" val="2998914573"/>
      </p:ext>
    </p:extLst>
  </p:cSld>
  <p:clrMapOvr>
    <a:masterClrMapping/>
  </p:clrMapOvr>
</p:notes>
</file>

<file path=ppt/notesSlides/notesSlide15.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models/steganography.py converts UTF-8 text to bits, prefixes a signature and message length, and repeats each bit three times. It splits audio into 4096-sample blocks, takes an FFT, and changes selected mid-frequency magnitudes so their quantization index is even or odd. It keeps the phase and uses an inverse FFT to return to audio. Extraction reads the parity and uses majority vote. The lowest and highest 20 bins are skipped. This hides data; it does not encrypt the message.</a:t>
            </a:r>
          </a:p>
        </p:txBody>
      </p:sp>
      <p:sp>
        <p:nvSpPr>
          <p:cNvPr id="4" name="Slide Number Placeholder 3"/>
          <p:cNvSpPr>
            <a:spLocks noGrp="1"/>
          </p:cNvSpPr>
          <p:nvPr>
            <p:ph type="sldNum" sz="quarter" idx="5"/>
          </p:nvPr>
        </p:nvSpPr>
        <p:spPr/>
        <p:txBody>
          <a:bodyPr/>
          <a:lstStyle/>
          <a:p>
            <a:fld id="{7C89E236-B6B3-4712-A06A-994BBBF0D2D2}" type="slidenum">
              <a:rPr lang="en-US" smtClean="0"/>
              <a:t>15</a:t>
            </a:fld>
            <a:endParaRPr lang="en-US"/>
          </a:p>
        </p:txBody>
      </p:sp>
    </p:spTree>
    <p:extLst>
      <p:ext uri="{BB962C8B-B14F-4D97-AF65-F5344CB8AC3E}">
        <p14:creationId xmlns:p14="http://schemas.microsoft.com/office/powerpoint/2010/main" val="1122339702"/>
      </p:ext>
    </p:extLst>
  </p:cSld>
  <p:clrMapOvr>
    <a:masterClrMapping/>
  </p:clrMapOvr>
</p:notes>
</file>

<file path=ppt/notesSlides/notesSlide16.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Use this closing slide to separate observation from inference. The heartbeat preview shows repeating peaks that support a rough cycle estimate, but the software does not diagnose a condition. The song views show different signal properties of the same 50 to 60 second excerpt. Beat and echo detections can include false positives. Encryption needs unchanged PCM bytes, while steganography does not provide confidentiality. Finish with a short live walkthrough.</a:t>
            </a:r>
          </a:p>
        </p:txBody>
      </p:sp>
      <p:sp>
        <p:nvSpPr>
          <p:cNvPr id="4" name="Slide Number Placeholder 3"/>
          <p:cNvSpPr>
            <a:spLocks noGrp="1"/>
          </p:cNvSpPr>
          <p:nvPr>
            <p:ph type="sldNum" sz="quarter" idx="5"/>
          </p:nvPr>
        </p:nvSpPr>
        <p:spPr/>
        <p:txBody>
          <a:bodyPr/>
          <a:lstStyle/>
          <a:p>
            <a:fld id="{7C89E236-B6B3-4712-A06A-994BBBF0D2D2}" type="slidenum">
              <a:rPr lang="en-US" smtClean="0"/>
              <a:t>16</a:t>
            </a:fld>
            <a:endParaRPr lang="en-US"/>
          </a:p>
        </p:txBody>
      </p:sp>
    </p:spTree>
    <p:extLst>
      <p:ext uri="{BB962C8B-B14F-4D97-AF65-F5344CB8AC3E}">
        <p14:creationId xmlns:p14="http://schemas.microsoft.com/office/powerpoint/2010/main" val="7291516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16="http://schemas.microsoft.com/office/drawing/2014/main" xmlns:p14="http://schemas.microsoft.com/office/powerpoint/2010/main"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4063A5-47EE-4BA1-89EB-A1AA2AC95FA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A30C466-BC78-4182-89E8-FF848F0B339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5550434-AE1A-4D42-A450-8D3F383A2E13}"/>
              </a:ext>
            </a:extLst>
          </p:cNvPr>
          <p:cNvSpPr>
            <a:spLocks noGrp="1"/>
          </p:cNvSpPr>
          <p:nvPr>
            <p:ph type="dt" sz="half" idx="10"/>
          </p:nvPr>
        </p:nvSpPr>
        <p:spPr/>
        <p:txBody>
          <a:bodyPr/>
          <a:lstStyle/>
          <a:p>
            <a:fld id="{A0DFA22C-08A3-48CD-AC47-CC235162700F}" type="datetimeFigureOut">
              <a:rPr lang="en-US" smtClean="0"/>
              <a:t>9/25/2026</a:t>
            </a:fld>
            <a:endParaRPr lang="en-US"/>
          </a:p>
        </p:txBody>
      </p:sp>
      <p:sp>
        <p:nvSpPr>
          <p:cNvPr id="5" name="Footer Placeholder 4">
            <a:extLst>
              <a:ext uri="{FF2B5EF4-FFF2-40B4-BE49-F238E27FC236}">
                <a16:creationId xmlns:a16="http://schemas.microsoft.com/office/drawing/2014/main" id="{84A91543-41AA-4D5C-B022-1ADF3AE021C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6694FAB-C8CE-4746-81D9-F8997DA74963}"/>
              </a:ext>
            </a:extLst>
          </p:cNvPr>
          <p:cNvSpPr>
            <a:spLocks noGrp="1"/>
          </p:cNvSpPr>
          <p:nvPr>
            <p:ph type="sldNum" sz="quarter" idx="12"/>
          </p:nvPr>
        </p:nvSpPr>
        <p:spPr/>
        <p:txBody>
          <a:bodyPr/>
          <a:lstStyle/>
          <a:p>
            <a:fld id="{880C1287-7990-4D28-B71C-4E4ACC27B277}" type="slidenum">
              <a:rPr lang="en-US" smtClean="0"/>
              <a:t>‹#›</a:t>
            </a:fld>
            <a:endParaRPr lang="en-US"/>
          </a:p>
        </p:txBody>
      </p:sp>
    </p:spTree>
    <p:extLst>
      <p:ext uri="{BB962C8B-B14F-4D97-AF65-F5344CB8AC3E}">
        <p14:creationId xmlns:p14="http://schemas.microsoft.com/office/powerpoint/2010/main" val="1515782218"/>
      </p:ext>
    </p:extLst>
  </p:cSld>
  <p:clrMapOvr>
    <a:masterClrMapping/>
  </p:clrMapOvr>
</p:sldLayout>
</file>

<file path=ppt/slideLayouts/slideLayout2.xml><?xml version="1.0" encoding="utf-8"?>
<p:sldLayout xmlns:a16="http://schemas.microsoft.com/office/drawing/2014/main" xmlns:p14="http://schemas.microsoft.com/office/powerpoint/2010/main"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5C07EA-7792-45BE-9262-B90DA4323F5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43D6358-B746-48E8-B6AA-4D1DABA59EC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1BF2D9-582B-48D8-A3C2-061F4E3B4061}"/>
              </a:ext>
            </a:extLst>
          </p:cNvPr>
          <p:cNvSpPr>
            <a:spLocks noGrp="1"/>
          </p:cNvSpPr>
          <p:nvPr>
            <p:ph type="dt" sz="half" idx="10"/>
          </p:nvPr>
        </p:nvSpPr>
        <p:spPr/>
        <p:txBody>
          <a:bodyPr/>
          <a:lstStyle/>
          <a:p>
            <a:fld id="{A0DFA22C-08A3-48CD-AC47-CC235162700F}" type="datetimeFigureOut">
              <a:rPr lang="en-US" smtClean="0"/>
              <a:t>9/25/2026</a:t>
            </a:fld>
            <a:endParaRPr lang="en-US"/>
          </a:p>
        </p:txBody>
      </p:sp>
      <p:sp>
        <p:nvSpPr>
          <p:cNvPr id="5" name="Footer Placeholder 4">
            <a:extLst>
              <a:ext uri="{FF2B5EF4-FFF2-40B4-BE49-F238E27FC236}">
                <a16:creationId xmlns:a16="http://schemas.microsoft.com/office/drawing/2014/main" id="{3E591D28-CD90-4351-AD3C-EDE62E828EB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29F0FAC-A10F-4829-A9C1-BD0F56973BAF}"/>
              </a:ext>
            </a:extLst>
          </p:cNvPr>
          <p:cNvSpPr>
            <a:spLocks noGrp="1"/>
          </p:cNvSpPr>
          <p:nvPr>
            <p:ph type="sldNum" sz="quarter" idx="12"/>
          </p:nvPr>
        </p:nvSpPr>
        <p:spPr/>
        <p:txBody>
          <a:bodyPr/>
          <a:lstStyle/>
          <a:p>
            <a:fld id="{880C1287-7990-4D28-B71C-4E4ACC27B277}" type="slidenum">
              <a:rPr lang="en-US" smtClean="0"/>
              <a:t>‹#›</a:t>
            </a:fld>
            <a:endParaRPr lang="en-US"/>
          </a:p>
        </p:txBody>
      </p:sp>
    </p:spTree>
    <p:extLst>
      <p:ext uri="{BB962C8B-B14F-4D97-AF65-F5344CB8AC3E}">
        <p14:creationId xmlns:p14="http://schemas.microsoft.com/office/powerpoint/2010/main" val="3717320133"/>
      </p:ext>
    </p:extLst>
  </p:cSld>
  <p:clrMapOvr>
    <a:masterClrMapping/>
  </p:clrMapOvr>
</p:sldLayout>
</file>

<file path=ppt/slideLayouts/slideLayout3.xml><?xml version="1.0" encoding="utf-8"?>
<p:sldLayout xmlns:a16="http://schemas.microsoft.com/office/drawing/2014/main" xmlns:p14="http://schemas.microsoft.com/office/powerpoint/2010/main"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334E9-8B49-48B3-94CB-E1D631A4568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CE7B3AB-EA8D-4367-A210-56C11FA3215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19240CD-364F-4F2D-8001-BE523C5211F8}"/>
              </a:ext>
            </a:extLst>
          </p:cNvPr>
          <p:cNvSpPr>
            <a:spLocks noGrp="1"/>
          </p:cNvSpPr>
          <p:nvPr>
            <p:ph type="dt" sz="half" idx="10"/>
          </p:nvPr>
        </p:nvSpPr>
        <p:spPr/>
        <p:txBody>
          <a:bodyPr/>
          <a:lstStyle/>
          <a:p>
            <a:fld id="{A0DFA22C-08A3-48CD-AC47-CC235162700F}" type="datetimeFigureOut">
              <a:rPr lang="en-US" smtClean="0"/>
              <a:t>9/25/2026</a:t>
            </a:fld>
            <a:endParaRPr lang="en-US"/>
          </a:p>
        </p:txBody>
      </p:sp>
      <p:sp>
        <p:nvSpPr>
          <p:cNvPr id="5" name="Footer Placeholder 4">
            <a:extLst>
              <a:ext uri="{FF2B5EF4-FFF2-40B4-BE49-F238E27FC236}">
                <a16:creationId xmlns:a16="http://schemas.microsoft.com/office/drawing/2014/main" id="{4032327B-E2A7-456C-A538-0C7CB87BD47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D4D2385-EB65-41FD-8E54-C913497E95FE}"/>
              </a:ext>
            </a:extLst>
          </p:cNvPr>
          <p:cNvSpPr>
            <a:spLocks noGrp="1"/>
          </p:cNvSpPr>
          <p:nvPr>
            <p:ph type="sldNum" sz="quarter" idx="12"/>
          </p:nvPr>
        </p:nvSpPr>
        <p:spPr/>
        <p:txBody>
          <a:bodyPr/>
          <a:lstStyle/>
          <a:p>
            <a:fld id="{880C1287-7990-4D28-B71C-4E4ACC27B277}" type="slidenum">
              <a:rPr lang="en-US" smtClean="0"/>
              <a:t>‹#›</a:t>
            </a:fld>
            <a:endParaRPr lang="en-US"/>
          </a:p>
        </p:txBody>
      </p:sp>
    </p:spTree>
    <p:extLst>
      <p:ext uri="{BB962C8B-B14F-4D97-AF65-F5344CB8AC3E}">
        <p14:creationId xmlns:p14="http://schemas.microsoft.com/office/powerpoint/2010/main" val="2430053842"/>
      </p:ext>
    </p:extLst>
  </p:cSld>
  <p:clrMapOvr>
    <a:masterClrMapping/>
  </p:clrMapOvr>
</p:sldLayout>
</file>

<file path=ppt/slideLayouts/slideLayout4.xml><?xml version="1.0" encoding="utf-8"?>
<p:sldLayout xmlns:a16="http://schemas.microsoft.com/office/drawing/2014/main" xmlns:p14="http://schemas.microsoft.com/office/powerpoint/2010/main"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3210E-5324-458E-8ABC-05EA253ACAC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E1BB34D-86BC-40D2-A2F8-5DA635B1D18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1660174-AFF4-465D-B08A-C5D95549BE8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90EDAEB-C9D2-4DAE-BECE-EA8341575AB1}"/>
              </a:ext>
            </a:extLst>
          </p:cNvPr>
          <p:cNvSpPr>
            <a:spLocks noGrp="1"/>
          </p:cNvSpPr>
          <p:nvPr>
            <p:ph type="dt" sz="half" idx="10"/>
          </p:nvPr>
        </p:nvSpPr>
        <p:spPr/>
        <p:txBody>
          <a:bodyPr/>
          <a:lstStyle/>
          <a:p>
            <a:fld id="{A0DFA22C-08A3-48CD-AC47-CC235162700F}" type="datetimeFigureOut">
              <a:rPr lang="en-US" smtClean="0"/>
              <a:t>9/25/2026</a:t>
            </a:fld>
            <a:endParaRPr lang="en-US"/>
          </a:p>
        </p:txBody>
      </p:sp>
      <p:sp>
        <p:nvSpPr>
          <p:cNvPr id="6" name="Footer Placeholder 5">
            <a:extLst>
              <a:ext uri="{FF2B5EF4-FFF2-40B4-BE49-F238E27FC236}">
                <a16:creationId xmlns:a16="http://schemas.microsoft.com/office/drawing/2014/main" id="{AE8B38C4-F89C-4EA3-97ED-6AFF8E94FB2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3F6F82A-7508-41DD-9F0A-5B796B8A38ED}"/>
              </a:ext>
            </a:extLst>
          </p:cNvPr>
          <p:cNvSpPr>
            <a:spLocks noGrp="1"/>
          </p:cNvSpPr>
          <p:nvPr>
            <p:ph type="sldNum" sz="quarter" idx="12"/>
          </p:nvPr>
        </p:nvSpPr>
        <p:spPr/>
        <p:txBody>
          <a:bodyPr/>
          <a:lstStyle/>
          <a:p>
            <a:fld id="{880C1287-7990-4D28-B71C-4E4ACC27B277}" type="slidenum">
              <a:rPr lang="en-US" smtClean="0"/>
              <a:t>‹#›</a:t>
            </a:fld>
            <a:endParaRPr lang="en-US"/>
          </a:p>
        </p:txBody>
      </p:sp>
    </p:spTree>
    <p:extLst>
      <p:ext uri="{BB962C8B-B14F-4D97-AF65-F5344CB8AC3E}">
        <p14:creationId xmlns:p14="http://schemas.microsoft.com/office/powerpoint/2010/main" val="4179402453"/>
      </p:ext>
    </p:extLst>
  </p:cSld>
  <p:clrMapOvr>
    <a:masterClrMapping/>
  </p:clrMapOvr>
</p:sldLayout>
</file>

<file path=ppt/slideLayouts/slideLayout5.xml><?xml version="1.0" encoding="utf-8"?>
<p:sldLayout xmlns:a16="http://schemas.microsoft.com/office/drawing/2014/main" xmlns:p14="http://schemas.microsoft.com/office/powerpoint/2010/main"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EFFDF1-6684-48DD-8185-EAD833DE7CA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BDF2908-D62B-4B5A-A275-94F0BA3F1B9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25F15DA-8358-4906-9C8C-154DA3DE1E0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8339939-A8B7-440D-96C1-741769242D9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7ECD921-32D5-414B-A60A-D8B511DC752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6CACA73-A5ED-4CD5-952B-0DFE350DFED0}"/>
              </a:ext>
            </a:extLst>
          </p:cNvPr>
          <p:cNvSpPr>
            <a:spLocks noGrp="1"/>
          </p:cNvSpPr>
          <p:nvPr>
            <p:ph type="dt" sz="half" idx="10"/>
          </p:nvPr>
        </p:nvSpPr>
        <p:spPr/>
        <p:txBody>
          <a:bodyPr/>
          <a:lstStyle/>
          <a:p>
            <a:fld id="{A0DFA22C-08A3-48CD-AC47-CC235162700F}" type="datetimeFigureOut">
              <a:rPr lang="en-US" smtClean="0"/>
              <a:t>9/25/2026</a:t>
            </a:fld>
            <a:endParaRPr lang="en-US"/>
          </a:p>
        </p:txBody>
      </p:sp>
      <p:sp>
        <p:nvSpPr>
          <p:cNvPr id="8" name="Footer Placeholder 7">
            <a:extLst>
              <a:ext uri="{FF2B5EF4-FFF2-40B4-BE49-F238E27FC236}">
                <a16:creationId xmlns:a16="http://schemas.microsoft.com/office/drawing/2014/main" id="{0F27C01D-CBB5-4C5A-B196-379C35F28F4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C6C10FF-62C1-4ED3-8C3E-8D05BE812511}"/>
              </a:ext>
            </a:extLst>
          </p:cNvPr>
          <p:cNvSpPr>
            <a:spLocks noGrp="1"/>
          </p:cNvSpPr>
          <p:nvPr>
            <p:ph type="sldNum" sz="quarter" idx="12"/>
          </p:nvPr>
        </p:nvSpPr>
        <p:spPr/>
        <p:txBody>
          <a:bodyPr/>
          <a:lstStyle/>
          <a:p>
            <a:fld id="{880C1287-7990-4D28-B71C-4E4ACC27B277}" type="slidenum">
              <a:rPr lang="en-US" smtClean="0"/>
              <a:t>‹#›</a:t>
            </a:fld>
            <a:endParaRPr lang="en-US"/>
          </a:p>
        </p:txBody>
      </p:sp>
    </p:spTree>
    <p:extLst>
      <p:ext uri="{BB962C8B-B14F-4D97-AF65-F5344CB8AC3E}">
        <p14:creationId xmlns:p14="http://schemas.microsoft.com/office/powerpoint/2010/main" val="1661851192"/>
      </p:ext>
    </p:extLst>
  </p:cSld>
  <p:clrMapOvr>
    <a:masterClrMapping/>
  </p:clrMapOvr>
</p:sldLayout>
</file>

<file path=ppt/slideLayouts/slideLayout6.xml><?xml version="1.0" encoding="utf-8"?>
<p:sldLayout xmlns:a16="http://schemas.microsoft.com/office/drawing/2014/main" xmlns:p14="http://schemas.microsoft.com/office/powerpoint/2010/main"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536CD1-4D68-43A6-B0DE-5E06577084C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D5F4498-F368-46D1-A487-DA183EF29A7B}"/>
              </a:ext>
            </a:extLst>
          </p:cNvPr>
          <p:cNvSpPr>
            <a:spLocks noGrp="1"/>
          </p:cNvSpPr>
          <p:nvPr>
            <p:ph type="dt" sz="half" idx="10"/>
          </p:nvPr>
        </p:nvSpPr>
        <p:spPr/>
        <p:txBody>
          <a:bodyPr/>
          <a:lstStyle/>
          <a:p>
            <a:fld id="{A0DFA22C-08A3-48CD-AC47-CC235162700F}" type="datetimeFigureOut">
              <a:rPr lang="en-US" smtClean="0"/>
              <a:t>9/25/2026</a:t>
            </a:fld>
            <a:endParaRPr lang="en-US"/>
          </a:p>
        </p:txBody>
      </p:sp>
      <p:sp>
        <p:nvSpPr>
          <p:cNvPr id="4" name="Footer Placeholder 3">
            <a:extLst>
              <a:ext uri="{FF2B5EF4-FFF2-40B4-BE49-F238E27FC236}">
                <a16:creationId xmlns:a16="http://schemas.microsoft.com/office/drawing/2014/main" id="{E98F7157-A9C8-49F1-994E-37FC2FD3A8C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F93A895-BB1B-40CE-9E47-FDA8B1F60755}"/>
              </a:ext>
            </a:extLst>
          </p:cNvPr>
          <p:cNvSpPr>
            <a:spLocks noGrp="1"/>
          </p:cNvSpPr>
          <p:nvPr>
            <p:ph type="sldNum" sz="quarter" idx="12"/>
          </p:nvPr>
        </p:nvSpPr>
        <p:spPr/>
        <p:txBody>
          <a:bodyPr/>
          <a:lstStyle/>
          <a:p>
            <a:fld id="{880C1287-7990-4D28-B71C-4E4ACC27B277}" type="slidenum">
              <a:rPr lang="en-US" smtClean="0"/>
              <a:t>‹#›</a:t>
            </a:fld>
            <a:endParaRPr lang="en-US"/>
          </a:p>
        </p:txBody>
      </p:sp>
    </p:spTree>
    <p:extLst>
      <p:ext uri="{BB962C8B-B14F-4D97-AF65-F5344CB8AC3E}">
        <p14:creationId xmlns:p14="http://schemas.microsoft.com/office/powerpoint/2010/main" val="1219067950"/>
      </p:ext>
    </p:extLst>
  </p:cSld>
  <p:clrMapOvr>
    <a:masterClrMapping/>
  </p:clrMapOvr>
</p:sldLayout>
</file>

<file path=ppt/slideLayouts/slideLayout7.xml><?xml version="1.0" encoding="utf-8"?>
<p:sldLayout xmlns:a16="http://schemas.microsoft.com/office/drawing/2014/main" xmlns:p14="http://schemas.microsoft.com/office/powerpoint/2010/main"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EECD51D-8360-44DD-849A-BF22F030041B}"/>
              </a:ext>
            </a:extLst>
          </p:cNvPr>
          <p:cNvSpPr>
            <a:spLocks noGrp="1"/>
          </p:cNvSpPr>
          <p:nvPr>
            <p:ph type="dt" sz="half" idx="10"/>
          </p:nvPr>
        </p:nvSpPr>
        <p:spPr/>
        <p:txBody>
          <a:bodyPr/>
          <a:lstStyle/>
          <a:p>
            <a:fld id="{A0DFA22C-08A3-48CD-AC47-CC235162700F}" type="datetimeFigureOut">
              <a:rPr lang="en-US" smtClean="0"/>
              <a:t>9/25/2026</a:t>
            </a:fld>
            <a:endParaRPr lang="en-US"/>
          </a:p>
        </p:txBody>
      </p:sp>
      <p:sp>
        <p:nvSpPr>
          <p:cNvPr id="3" name="Footer Placeholder 2">
            <a:extLst>
              <a:ext uri="{FF2B5EF4-FFF2-40B4-BE49-F238E27FC236}">
                <a16:creationId xmlns:a16="http://schemas.microsoft.com/office/drawing/2014/main" id="{F56D1D16-F6F1-43A4-A450-BF19EBE69DD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AAC2998-6015-4C96-9FC8-871F694CFFBE}"/>
              </a:ext>
            </a:extLst>
          </p:cNvPr>
          <p:cNvSpPr>
            <a:spLocks noGrp="1"/>
          </p:cNvSpPr>
          <p:nvPr>
            <p:ph type="sldNum" sz="quarter" idx="12"/>
          </p:nvPr>
        </p:nvSpPr>
        <p:spPr/>
        <p:txBody>
          <a:bodyPr/>
          <a:lstStyle/>
          <a:p>
            <a:fld id="{880C1287-7990-4D28-B71C-4E4ACC27B277}" type="slidenum">
              <a:rPr lang="en-US" smtClean="0"/>
              <a:t>‹#›</a:t>
            </a:fld>
            <a:endParaRPr lang="en-US"/>
          </a:p>
        </p:txBody>
      </p:sp>
    </p:spTree>
    <p:extLst>
      <p:ext uri="{BB962C8B-B14F-4D97-AF65-F5344CB8AC3E}">
        <p14:creationId xmlns:p14="http://schemas.microsoft.com/office/powerpoint/2010/main" val="616416779"/>
      </p:ext>
    </p:extLst>
  </p:cSld>
  <p:clrMapOvr>
    <a:masterClrMapping/>
  </p:clrMapOvr>
</p:sldLayout>
</file>

<file path=ppt/slideLayouts/slideLayout8.xml><?xml version="1.0" encoding="utf-8"?>
<p:sldLayout xmlns:a16="http://schemas.microsoft.com/office/drawing/2014/main" xmlns:p14="http://schemas.microsoft.com/office/powerpoint/2010/main"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760FF1-56EC-4AEE-A0A5-C7C303E18F6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9B5407F-51DA-4822-9AC5-6FD5BD7833A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520A4FD-52E4-484F-B06B-30394380174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D799E0D-AB38-49DA-9C94-E70296C4D3D8}"/>
              </a:ext>
            </a:extLst>
          </p:cNvPr>
          <p:cNvSpPr>
            <a:spLocks noGrp="1"/>
          </p:cNvSpPr>
          <p:nvPr>
            <p:ph type="dt" sz="half" idx="10"/>
          </p:nvPr>
        </p:nvSpPr>
        <p:spPr/>
        <p:txBody>
          <a:bodyPr/>
          <a:lstStyle/>
          <a:p>
            <a:fld id="{A0DFA22C-08A3-48CD-AC47-CC235162700F}" type="datetimeFigureOut">
              <a:rPr lang="en-US" smtClean="0"/>
              <a:t>9/25/2026</a:t>
            </a:fld>
            <a:endParaRPr lang="en-US"/>
          </a:p>
        </p:txBody>
      </p:sp>
      <p:sp>
        <p:nvSpPr>
          <p:cNvPr id="6" name="Footer Placeholder 5">
            <a:extLst>
              <a:ext uri="{FF2B5EF4-FFF2-40B4-BE49-F238E27FC236}">
                <a16:creationId xmlns:a16="http://schemas.microsoft.com/office/drawing/2014/main" id="{D5A984ED-55FB-4E67-B2F1-F6AA6716D7B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68A687C-68D4-46F4-9A2D-668B3C112493}"/>
              </a:ext>
            </a:extLst>
          </p:cNvPr>
          <p:cNvSpPr>
            <a:spLocks noGrp="1"/>
          </p:cNvSpPr>
          <p:nvPr>
            <p:ph type="sldNum" sz="quarter" idx="12"/>
          </p:nvPr>
        </p:nvSpPr>
        <p:spPr/>
        <p:txBody>
          <a:bodyPr/>
          <a:lstStyle/>
          <a:p>
            <a:fld id="{880C1287-7990-4D28-B71C-4E4ACC27B277}" type="slidenum">
              <a:rPr lang="en-US" smtClean="0"/>
              <a:t>‹#›</a:t>
            </a:fld>
            <a:endParaRPr lang="en-US"/>
          </a:p>
        </p:txBody>
      </p:sp>
    </p:spTree>
    <p:extLst>
      <p:ext uri="{BB962C8B-B14F-4D97-AF65-F5344CB8AC3E}">
        <p14:creationId xmlns:p14="http://schemas.microsoft.com/office/powerpoint/2010/main" val="2732514626"/>
      </p:ext>
    </p:extLst>
  </p:cSld>
  <p:clrMapOvr>
    <a:masterClrMapping/>
  </p:clrMapOvr>
</p:sldLayout>
</file>

<file path=ppt/slideLayouts/slideLayout9.xml><?xml version="1.0" encoding="utf-8"?>
<p:sldLayout xmlns:a16="http://schemas.microsoft.com/office/drawing/2014/main" xmlns:p14="http://schemas.microsoft.com/office/powerpoint/2010/main"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1E1E1B-AA8C-4A1E-8E83-9233C2CF860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9257863-789F-483B-A6B3-D94B5A4FA96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8F865C3-2C4B-40BD-BE9D-BD936E5B855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3D54BBC-18E2-496A-A405-2AB23DB949C8}"/>
              </a:ext>
            </a:extLst>
          </p:cNvPr>
          <p:cNvSpPr>
            <a:spLocks noGrp="1"/>
          </p:cNvSpPr>
          <p:nvPr>
            <p:ph type="dt" sz="half" idx="10"/>
          </p:nvPr>
        </p:nvSpPr>
        <p:spPr/>
        <p:txBody>
          <a:bodyPr/>
          <a:lstStyle/>
          <a:p>
            <a:fld id="{A0DFA22C-08A3-48CD-AC47-CC235162700F}" type="datetimeFigureOut">
              <a:rPr lang="en-US" smtClean="0"/>
              <a:t>9/25/2026</a:t>
            </a:fld>
            <a:endParaRPr lang="en-US"/>
          </a:p>
        </p:txBody>
      </p:sp>
      <p:sp>
        <p:nvSpPr>
          <p:cNvPr id="6" name="Footer Placeholder 5">
            <a:extLst>
              <a:ext uri="{FF2B5EF4-FFF2-40B4-BE49-F238E27FC236}">
                <a16:creationId xmlns:a16="http://schemas.microsoft.com/office/drawing/2014/main" id="{C200F5C7-3461-46D2-8A8C-CFB27344573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DC1FEE0-8E75-4C1D-9854-A5D6E401A05C}"/>
              </a:ext>
            </a:extLst>
          </p:cNvPr>
          <p:cNvSpPr>
            <a:spLocks noGrp="1"/>
          </p:cNvSpPr>
          <p:nvPr>
            <p:ph type="sldNum" sz="quarter" idx="12"/>
          </p:nvPr>
        </p:nvSpPr>
        <p:spPr/>
        <p:txBody>
          <a:bodyPr/>
          <a:lstStyle/>
          <a:p>
            <a:fld id="{880C1287-7990-4D28-B71C-4E4ACC27B277}" type="slidenum">
              <a:rPr lang="en-US" smtClean="0"/>
              <a:t>‹#›</a:t>
            </a:fld>
            <a:endParaRPr lang="en-US"/>
          </a:p>
        </p:txBody>
      </p:sp>
    </p:spTree>
    <p:extLst>
      <p:ext uri="{BB962C8B-B14F-4D97-AF65-F5344CB8AC3E}">
        <p14:creationId xmlns:p14="http://schemas.microsoft.com/office/powerpoint/2010/main" val="1122188687"/>
      </p:ext>
    </p:extLst>
  </p:cSld>
  <p:clrMapOvr>
    <a:masterClrMapping/>
  </p:clrMapOvr>
</p:sldLayout>
</file>

<file path=ppt/slideLayouts/slideLayout10.xml><?xml version="1.0" encoding="utf-8"?>
<p:sldLayout xmlns:a16="http://schemas.microsoft.com/office/drawing/2014/main" xmlns:p14="http://schemas.microsoft.com/office/powerpoint/2010/main"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262AF4-CC73-4F4F-9A82-5E060B2B846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6CB2E42-8EEB-4903-B0B9-F0C8C5ADF3B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6D5B17-4F46-41B1-9120-BF5E2024B478}"/>
              </a:ext>
            </a:extLst>
          </p:cNvPr>
          <p:cNvSpPr>
            <a:spLocks noGrp="1"/>
          </p:cNvSpPr>
          <p:nvPr>
            <p:ph type="dt" sz="half" idx="10"/>
          </p:nvPr>
        </p:nvSpPr>
        <p:spPr/>
        <p:txBody>
          <a:bodyPr/>
          <a:lstStyle/>
          <a:p>
            <a:fld id="{A0DFA22C-08A3-48CD-AC47-CC235162700F}" type="datetimeFigureOut">
              <a:rPr lang="en-US" smtClean="0"/>
              <a:t>9/25/2026</a:t>
            </a:fld>
            <a:endParaRPr lang="en-US"/>
          </a:p>
        </p:txBody>
      </p:sp>
      <p:sp>
        <p:nvSpPr>
          <p:cNvPr id="5" name="Footer Placeholder 4">
            <a:extLst>
              <a:ext uri="{FF2B5EF4-FFF2-40B4-BE49-F238E27FC236}">
                <a16:creationId xmlns:a16="http://schemas.microsoft.com/office/drawing/2014/main" id="{1F78828A-7B10-4271-B127-31DF5AD441E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5411BA-8F60-4D32-AD6A-6B63247D0BE3}"/>
              </a:ext>
            </a:extLst>
          </p:cNvPr>
          <p:cNvSpPr>
            <a:spLocks noGrp="1"/>
          </p:cNvSpPr>
          <p:nvPr>
            <p:ph type="sldNum" sz="quarter" idx="12"/>
          </p:nvPr>
        </p:nvSpPr>
        <p:spPr/>
        <p:txBody>
          <a:bodyPr/>
          <a:lstStyle/>
          <a:p>
            <a:fld id="{880C1287-7990-4D28-B71C-4E4ACC27B277}" type="slidenum">
              <a:rPr lang="en-US" smtClean="0"/>
              <a:t>‹#›</a:t>
            </a:fld>
            <a:endParaRPr lang="en-US"/>
          </a:p>
        </p:txBody>
      </p:sp>
    </p:spTree>
    <p:extLst>
      <p:ext uri="{BB962C8B-B14F-4D97-AF65-F5344CB8AC3E}">
        <p14:creationId xmlns:p14="http://schemas.microsoft.com/office/powerpoint/2010/main" val="3280716002"/>
      </p:ext>
    </p:extLst>
  </p:cSld>
  <p:clrMapOvr>
    <a:masterClrMapping/>
  </p:clrMapOvr>
</p:sldLayout>
</file>

<file path=ppt/slideLayouts/slideLayout11.xml><?xml version="1.0" encoding="utf-8"?>
<p:sldLayout xmlns:a16="http://schemas.microsoft.com/office/drawing/2014/main" xmlns:p14="http://schemas.microsoft.com/office/powerpoint/2010/main"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2048C78-420E-41AE-AC2A-ADC386C1FCC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4810477-AE54-4533-B031-F4A8346CBD9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C7EDF7-CEBC-4E56-8A07-49C7280A208E}"/>
              </a:ext>
            </a:extLst>
          </p:cNvPr>
          <p:cNvSpPr>
            <a:spLocks noGrp="1"/>
          </p:cNvSpPr>
          <p:nvPr>
            <p:ph type="dt" sz="half" idx="10"/>
          </p:nvPr>
        </p:nvSpPr>
        <p:spPr/>
        <p:txBody>
          <a:bodyPr/>
          <a:lstStyle/>
          <a:p>
            <a:fld id="{A0DFA22C-08A3-48CD-AC47-CC235162700F}" type="datetimeFigureOut">
              <a:rPr lang="en-US" smtClean="0"/>
              <a:t>9/25/2026</a:t>
            </a:fld>
            <a:endParaRPr lang="en-US"/>
          </a:p>
        </p:txBody>
      </p:sp>
      <p:sp>
        <p:nvSpPr>
          <p:cNvPr id="5" name="Footer Placeholder 4">
            <a:extLst>
              <a:ext uri="{FF2B5EF4-FFF2-40B4-BE49-F238E27FC236}">
                <a16:creationId xmlns:a16="http://schemas.microsoft.com/office/drawing/2014/main" id="{3C3AC67F-AAEA-4469-A950-7C37699623E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67724E1-5BBF-42B0-B3FF-E02ED3A70A5C}"/>
              </a:ext>
            </a:extLst>
          </p:cNvPr>
          <p:cNvSpPr>
            <a:spLocks noGrp="1"/>
          </p:cNvSpPr>
          <p:nvPr>
            <p:ph type="sldNum" sz="quarter" idx="12"/>
          </p:nvPr>
        </p:nvSpPr>
        <p:spPr/>
        <p:txBody>
          <a:bodyPr/>
          <a:lstStyle/>
          <a:p>
            <a:fld id="{880C1287-7990-4D28-B71C-4E4ACC27B277}" type="slidenum">
              <a:rPr lang="en-US" smtClean="0"/>
              <a:t>‹#›</a:t>
            </a:fld>
            <a:endParaRPr lang="en-US"/>
          </a:p>
        </p:txBody>
      </p:sp>
    </p:spTree>
    <p:extLst>
      <p:ext uri="{BB962C8B-B14F-4D97-AF65-F5344CB8AC3E}">
        <p14:creationId xmlns:p14="http://schemas.microsoft.com/office/powerpoint/2010/main" val="13561692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16="http://schemas.microsoft.com/office/drawing/2014/main" xmlns:p14="http://schemas.microsoft.com/office/powerpoint/2010/main"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E34A16D-DA33-48AB-9623-1491F1323C6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D889257-3E79-45A5-BBB8-13D68685388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B5D5C8-FD22-4E39-AF4E-F4299B452E8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0DFA22C-08A3-48CD-AC47-CC235162700F}" type="datetimeFigureOut">
              <a:rPr lang="en-US" smtClean="0"/>
              <a:t>9/25/2026</a:t>
            </a:fld>
            <a:endParaRPr lang="en-US"/>
          </a:p>
        </p:txBody>
      </p:sp>
      <p:sp>
        <p:nvSpPr>
          <p:cNvPr id="5" name="Footer Placeholder 4">
            <a:extLst>
              <a:ext uri="{FF2B5EF4-FFF2-40B4-BE49-F238E27FC236}">
                <a16:creationId xmlns:a16="http://schemas.microsoft.com/office/drawing/2014/main" id="{FD495810-8117-4012-978A-F19C78BE696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717146B-3A3F-4166-8FE4-C4416F7A516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80C1287-7990-4D28-B71C-4E4ACC27B277}" type="slidenum">
              <a:rPr lang="en-US" smtClean="0"/>
              <a:t>‹#›</a:t>
            </a:fld>
            <a:endParaRPr lang="en-US"/>
          </a:p>
        </p:txBody>
      </p:sp>
    </p:spTree>
    <p:extLst>
      <p:ext uri="{BB962C8B-B14F-4D97-AF65-F5344CB8AC3E}">
        <p14:creationId xmlns:p14="http://schemas.microsoft.com/office/powerpoint/2010/main" val="17869562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B7D19886-B0A8-47DC-9A1D-1A934F61CB4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9AEBAC7E-2364-46BC-AB17-86189AB66E9E}"/>
              </a:ext>
            </a:extLst>
          </p:cNvPr>
          <p:cNvSpPr txBox="1"/>
          <p:nvPr/>
        </p:nvSpPr>
        <p:spPr>
          <a:xfrm>
            <a:off x="825500" y="762000"/>
            <a:ext cx="9906000" cy="276999"/>
          </a:xfrm>
          <a:prstGeom prst="rect">
            <a:avLst/>
          </a:prstGeom>
          <a:noFill/>
        </p:spPr>
        <p:txBody>
          <a:bodyPr vert="horz" wrap="square" lIns="0" tIns="0" rIns="0" bIns="0" rtlCol="0">
            <a:spAutoFit/>
          </a:bodyPr>
          <a:lstStyle/>
          <a:p>
            <a:r>
              <a:rPr lang="en-US" b="1">
                <a:solidFill>
                  <a:srgbClr val="37D9E9"/>
                </a:solidFill>
                <a:latin typeface="Bahnschrift" panose="020B0502040204020203" pitchFamily="34" charset="0"/>
              </a:rPr>
              <a:t>SIGNAL STUDIO</a:t>
            </a:r>
          </a:p>
        </p:txBody>
      </p:sp>
      <p:sp>
        <p:nvSpPr>
          <p:cNvPr id="4" name="TextBox 3">
            <a:extLst>
              <a:ext uri="{FF2B5EF4-FFF2-40B4-BE49-F238E27FC236}">
                <a16:creationId xmlns:a16="http://schemas.microsoft.com/office/drawing/2014/main" id="{2263F133-9452-4BFB-8CD9-508017AC220F}"/>
              </a:ext>
            </a:extLst>
          </p:cNvPr>
          <p:cNvSpPr txBox="1"/>
          <p:nvPr/>
        </p:nvSpPr>
        <p:spPr>
          <a:xfrm>
            <a:off x="825500" y="1739900"/>
            <a:ext cx="10604500" cy="1415772"/>
          </a:xfrm>
          <a:prstGeom prst="rect">
            <a:avLst/>
          </a:prstGeom>
          <a:noFill/>
        </p:spPr>
        <p:txBody>
          <a:bodyPr vert="horz" wrap="square" lIns="0" tIns="0" rIns="0" bIns="0" rtlCol="0">
            <a:spAutoFit/>
          </a:bodyPr>
          <a:lstStyle/>
          <a:p>
            <a:r>
              <a:rPr lang="en-US" sz="4600" b="1">
                <a:solidFill>
                  <a:srgbClr val="EEF6FF"/>
                </a:solidFill>
                <a:latin typeface="Aptos"/>
              </a:rPr>
              <a:t>Understanding sound through signal properties</a:t>
            </a:r>
          </a:p>
        </p:txBody>
      </p:sp>
      <p:sp>
        <p:nvSpPr>
          <p:cNvPr id="5" name="TextBox 4">
            <a:extLst>
              <a:ext uri="{FF2B5EF4-FFF2-40B4-BE49-F238E27FC236}">
                <a16:creationId xmlns:a16="http://schemas.microsoft.com/office/drawing/2014/main" id="{09C8FB2D-5033-46B2-9530-198C40352426}"/>
              </a:ext>
            </a:extLst>
          </p:cNvPr>
          <p:cNvSpPr txBox="1"/>
          <p:nvPr/>
        </p:nvSpPr>
        <p:spPr>
          <a:xfrm>
            <a:off x="863600" y="4127500"/>
            <a:ext cx="10033000" cy="384721"/>
          </a:xfrm>
          <a:prstGeom prst="rect">
            <a:avLst/>
          </a:prstGeom>
          <a:noFill/>
        </p:spPr>
        <p:txBody>
          <a:bodyPr vert="horz" wrap="square" lIns="0" tIns="0" rIns="0" bIns="0" rtlCol="0">
            <a:spAutoFit/>
          </a:bodyPr>
          <a:lstStyle/>
          <a:p>
            <a:r>
              <a:rPr lang="en-US" sz="2500">
                <a:solidFill>
                  <a:srgbClr val="EEF6FF"/>
                </a:solidFill>
                <a:latin typeface="Aptos"/>
              </a:rPr>
              <a:t>A tour of the heart sound and audio analysis project</a:t>
            </a:r>
          </a:p>
        </p:txBody>
      </p:sp>
      <p:cxnSp>
        <p:nvCxnSpPr>
          <p:cNvPr id="6" name="Straight Connector 5">
            <a:extLst>
              <a:ext uri="{FF2B5EF4-FFF2-40B4-BE49-F238E27FC236}">
                <a16:creationId xmlns:a16="http://schemas.microsoft.com/office/drawing/2014/main" id="{CDD27BD1-76DD-4C43-B357-367A283F06E0}"/>
              </a:ext>
            </a:extLst>
          </p:cNvPr>
          <p:cNvCxnSpPr/>
          <p:nvPr/>
        </p:nvCxnSpPr>
        <p:spPr>
          <a:xfrm>
            <a:off x="863600" y="5397500"/>
            <a:ext cx="3454400" cy="0"/>
          </a:xfrm>
          <a:prstGeom prst="line">
            <a:avLst/>
          </a:prstGeom>
          <a:ln w="63500">
            <a:solidFill>
              <a:srgbClr val="FF64A5"/>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57AF98A0-2922-4AFC-BF00-16A69137E03C}"/>
              </a:ext>
            </a:extLst>
          </p:cNvPr>
          <p:cNvSpPr txBox="1"/>
          <p:nvPr/>
        </p:nvSpPr>
        <p:spPr>
          <a:xfrm>
            <a:off x="863600" y="5660000"/>
            <a:ext cx="10414000" cy="450000"/>
          </a:xfrm>
          <a:prstGeom prst="rect">
            <a:avLst/>
          </a:prstGeom>
          <a:noFill/>
        </p:spPr>
        <p:txBody>
          <a:bodyPr vert="horz" wrap="square" lIns="0" tIns="0" rIns="0" bIns="0" rtlCol="0">
            <a:spAutoFit/>
          </a:bodyPr>
          <a:lstStyle/>
          <a:p>
            <a:r>
              <a:rPr lang="en-US" sz="2600" b="1">
                <a:solidFill>
                  <a:srgbClr val="53DDCB"/>
                </a:solidFill>
                <a:latin typeface="Aptos"/>
              </a:rPr>
              <a:t>Student IDs: 2305018 and 2305019</a:t>
            </a:r>
          </a:p>
        </p:txBody>
      </p:sp>
    </p:spTree>
    <p:extLst>
      <p:ext uri="{BB962C8B-B14F-4D97-AF65-F5344CB8AC3E}">
        <p14:creationId xmlns:p14="http://schemas.microsoft.com/office/powerpoint/2010/main" val="12897664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52A92CD-641E-41F5-A55D-7BB215F8A905}"/>
              </a:ext>
            </a:extLst>
          </p:cNvPr>
          <p:cNvSpPr/>
          <p:nvPr/>
        </p:nvSpPr>
        <p:spPr>
          <a:xfrm>
            <a:off x="0" y="0"/>
            <a:ext cx="12192000" cy="6858000"/>
          </a:xfrm>
          <a:prstGeom prst="rect">
            <a:avLst/>
          </a:prstGeom>
          <a:solidFill>
            <a:srgbClr val="08122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B0C3773-D41C-42AA-AB19-E270D2E24EFB}"/>
              </a:ext>
            </a:extLst>
          </p:cNvPr>
          <p:cNvSpPr txBox="1"/>
          <p:nvPr/>
        </p:nvSpPr>
        <p:spPr>
          <a:xfrm>
            <a:off x="685800" y="368300"/>
            <a:ext cx="10795000" cy="492443"/>
          </a:xfrm>
          <a:prstGeom prst="rect">
            <a:avLst/>
          </a:prstGeom>
          <a:noFill/>
        </p:spPr>
        <p:txBody>
          <a:bodyPr vert="horz" wrap="square" lIns="0" tIns="0" rIns="0" bIns="0" rtlCol="0">
            <a:spAutoFit/>
          </a:bodyPr>
          <a:lstStyle/>
          <a:p>
            <a:r>
              <a:rPr lang="en-US" sz="3200" b="1">
                <a:solidFill>
                  <a:srgbClr val="EEF6FF"/>
                </a:solidFill>
                <a:latin typeface="Bahnschrift" panose="020B0502040204020203" pitchFamily="34" charset="0"/>
              </a:rPr>
              <a:t>Samples turn sound into numbers</a:t>
            </a:r>
          </a:p>
        </p:txBody>
      </p:sp>
      <p:cxnSp>
        <p:nvCxnSpPr>
          <p:cNvPr id="4" name="Straight Connector 3">
            <a:extLst>
              <a:ext uri="{FF2B5EF4-FFF2-40B4-BE49-F238E27FC236}">
                <a16:creationId xmlns:a16="http://schemas.microsoft.com/office/drawing/2014/main" id="{AB7DBF21-7E87-4377-8294-0A78CC033AA7}"/>
              </a:ext>
            </a:extLst>
          </p:cNvPr>
          <p:cNvCxnSpPr/>
          <p:nvPr/>
        </p:nvCxnSpPr>
        <p:spPr>
          <a:xfrm>
            <a:off x="685800" y="1168400"/>
            <a:ext cx="10820400" cy="0"/>
          </a:xfrm>
          <a:prstGeom prst="line">
            <a:avLst/>
          </a:prstGeom>
          <a:ln w="17780">
            <a:solidFill>
              <a:srgbClr val="37D9E9"/>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065D047D-FD6B-4C54-942B-4A709FB0B4B7}"/>
              </a:ext>
            </a:extLst>
          </p:cNvPr>
          <p:cNvSpPr txBox="1"/>
          <p:nvPr/>
        </p:nvSpPr>
        <p:spPr>
          <a:xfrm>
            <a:off x="685800" y="6502400"/>
            <a:ext cx="3810000" cy="153888"/>
          </a:xfrm>
          <a:prstGeom prst="rect">
            <a:avLst/>
          </a:prstGeom>
          <a:noFill/>
        </p:spPr>
        <p:txBody>
          <a:bodyPr vert="horz" wrap="square" lIns="0" tIns="0" rIns="0" bIns="0" rtlCol="0">
            <a:spAutoFit/>
          </a:bodyPr>
          <a:lstStyle/>
          <a:p>
            <a:r>
              <a:rPr lang="en-US" sz="1000" b="1">
                <a:solidFill>
                  <a:srgbClr val="85A0B8"/>
                </a:solidFill>
                <a:latin typeface="Aptos"/>
              </a:rPr>
              <a:t>SIGNAL STUDIO</a:t>
            </a:r>
          </a:p>
        </p:txBody>
      </p:sp>
      <p:sp>
        <p:nvSpPr>
          <p:cNvPr id="6" name="TextBox 5">
            <a:extLst>
              <a:ext uri="{FF2B5EF4-FFF2-40B4-BE49-F238E27FC236}">
                <a16:creationId xmlns:a16="http://schemas.microsoft.com/office/drawing/2014/main" id="{96DA16B2-2D20-4B30-8400-9E1965B54648}"/>
              </a:ext>
            </a:extLst>
          </p:cNvPr>
          <p:cNvSpPr txBox="1"/>
          <p:nvPr/>
        </p:nvSpPr>
        <p:spPr>
          <a:xfrm>
            <a:off x="11430000" y="6502400"/>
            <a:ext cx="444500" cy="153888"/>
          </a:xfrm>
          <a:prstGeom prst="rect">
            <a:avLst/>
          </a:prstGeom>
          <a:noFill/>
        </p:spPr>
        <p:txBody>
          <a:bodyPr vert="horz" wrap="square" lIns="0" tIns="0" rIns="0" bIns="0" rtlCol="0">
            <a:spAutoFit/>
          </a:bodyPr>
          <a:lstStyle/>
          <a:p>
            <a:pPr algn="r"/>
            <a:r>
              <a:rPr lang="en-US" sz="1000" b="1">
                <a:solidFill>
                  <a:srgbClr val="37D9E9"/>
                </a:solidFill>
                <a:latin typeface="Bahnschrift" panose="020B0502040204020203" pitchFamily="34" charset="0"/>
              </a:rPr>
              <a:t>2</a:t>
            </a:r>
          </a:p>
        </p:txBody>
      </p:sp>
      <p:sp>
        <p:nvSpPr>
          <p:cNvPr id="7" name="TextBox 6">
            <a:extLst>
              <a:ext uri="{FF2B5EF4-FFF2-40B4-BE49-F238E27FC236}">
                <a16:creationId xmlns:a16="http://schemas.microsoft.com/office/drawing/2014/main" id="{8DE02937-4E6C-41ED-B34A-44DD8BD1B16F}"/>
              </a:ext>
            </a:extLst>
          </p:cNvPr>
          <p:cNvSpPr txBox="1"/>
          <p:nvPr/>
        </p:nvSpPr>
        <p:spPr>
          <a:xfrm>
            <a:off x="711200" y="1600200"/>
            <a:ext cx="4000500" cy="738664"/>
          </a:xfrm>
          <a:prstGeom prst="rect">
            <a:avLst/>
          </a:prstGeom>
          <a:noFill/>
        </p:spPr>
        <p:txBody>
          <a:bodyPr vert="horz" wrap="square" lIns="0" tIns="0" rIns="0" bIns="0" rtlCol="0">
            <a:spAutoFit/>
          </a:bodyPr>
          <a:lstStyle/>
          <a:p>
            <a:r>
              <a:rPr lang="en-US" sz="2400" b="1">
                <a:solidFill>
                  <a:srgbClr val="37D9E9"/>
                </a:solidFill>
                <a:latin typeface="Bahnschrift" panose="020B0502040204020203" pitchFamily="34" charset="0"/>
              </a:rPr>
              <a:t>The sample rate gives every value a time.</a:t>
            </a:r>
          </a:p>
        </p:txBody>
      </p:sp>
      <p:sp>
        <p:nvSpPr>
          <p:cNvPr id="8" name="TextBox 7">
            <a:extLst>
              <a:ext uri="{FF2B5EF4-FFF2-40B4-BE49-F238E27FC236}">
                <a16:creationId xmlns:a16="http://schemas.microsoft.com/office/drawing/2014/main" id="{C1B6566C-45DC-494D-9DE8-1FB34E1336B6}"/>
              </a:ext>
            </a:extLst>
          </p:cNvPr>
          <p:cNvSpPr txBox="1"/>
          <p:nvPr/>
        </p:nvSpPr>
        <p:spPr>
          <a:xfrm>
            <a:off x="711200" y="2590800"/>
            <a:ext cx="4064000" cy="615553"/>
          </a:xfrm>
          <a:prstGeom prst="rect">
            <a:avLst/>
          </a:prstGeom>
          <a:noFill/>
        </p:spPr>
        <p:txBody>
          <a:bodyPr vert="horz" wrap="square" lIns="0" tIns="0" rIns="0" bIns="0" rtlCol="0">
            <a:spAutoFit/>
          </a:bodyPr>
          <a:lstStyle/>
          <a:p>
            <a:r>
              <a:rPr lang="en-US" sz="2000">
                <a:solidFill>
                  <a:srgbClr val="CCDDEC"/>
                </a:solidFill>
                <a:latin typeface="Aptos"/>
              </a:rPr>
              <a:t>a0001.wav has 2,000 samples each second.</a:t>
            </a:r>
          </a:p>
        </p:txBody>
      </p:sp>
      <p:sp>
        <p:nvSpPr>
          <p:cNvPr id="9" name="TextBox 8">
            <a:extLst>
              <a:ext uri="{FF2B5EF4-FFF2-40B4-BE49-F238E27FC236}">
                <a16:creationId xmlns:a16="http://schemas.microsoft.com/office/drawing/2014/main" id="{F82BF588-2A35-4FA5-B2B5-C4F221B3DE13}"/>
              </a:ext>
            </a:extLst>
          </p:cNvPr>
          <p:cNvSpPr txBox="1"/>
          <p:nvPr/>
        </p:nvSpPr>
        <p:spPr>
          <a:xfrm>
            <a:off x="711200" y="3479800"/>
            <a:ext cx="4064000" cy="615553"/>
          </a:xfrm>
          <a:prstGeom prst="rect">
            <a:avLst/>
          </a:prstGeom>
          <a:noFill/>
        </p:spPr>
        <p:txBody>
          <a:bodyPr vert="horz" wrap="square" lIns="0" tIns="0" rIns="0" bIns="0" rtlCol="0">
            <a:spAutoFit/>
          </a:bodyPr>
          <a:lstStyle/>
          <a:p>
            <a:r>
              <a:rPr lang="en-US" sz="2000">
                <a:solidFill>
                  <a:srgbClr val="CCDDEC"/>
                </a:solidFill>
                <a:latin typeface="Aptos"/>
              </a:rPr>
              <a:t>Sample 1,600 occurs at 1,600 / 2,000 = 0.80 s.</a:t>
            </a:r>
          </a:p>
        </p:txBody>
      </p:sp>
      <p:sp>
        <p:nvSpPr>
          <p:cNvPr id="10" name="TextBox 9">
            <a:extLst>
              <a:ext uri="{FF2B5EF4-FFF2-40B4-BE49-F238E27FC236}">
                <a16:creationId xmlns:a16="http://schemas.microsoft.com/office/drawing/2014/main" id="{010F6BAB-34BF-43F0-9F95-3423E2E636D6}"/>
              </a:ext>
            </a:extLst>
          </p:cNvPr>
          <p:cNvSpPr txBox="1"/>
          <p:nvPr/>
        </p:nvSpPr>
        <p:spPr>
          <a:xfrm>
            <a:off x="711200" y="4622800"/>
            <a:ext cx="4064000" cy="307777"/>
          </a:xfrm>
          <a:prstGeom prst="rect">
            <a:avLst/>
          </a:prstGeom>
          <a:noFill/>
        </p:spPr>
        <p:txBody>
          <a:bodyPr vert="horz" wrap="square" lIns="0" tIns="0" rIns="0" bIns="0" rtlCol="0">
            <a:spAutoFit/>
          </a:bodyPr>
          <a:lstStyle/>
          <a:p>
            <a:r>
              <a:rPr lang="en-US" sz="2000">
                <a:solidFill>
                  <a:srgbClr val="CCDDEC"/>
                </a:solidFill>
                <a:latin typeface="Aptos"/>
              </a:rPr>
              <a:t>Nyquist frequency: 1,000 Hz.</a:t>
            </a:r>
          </a:p>
        </p:txBody>
      </p:sp>
      <p:pic>
        <p:nvPicPr>
          <p:cNvPr id="12" name="Picture 11">
            <a:extLst>
              <a:ext uri="{FF2B5EF4-FFF2-40B4-BE49-F238E27FC236}">
                <a16:creationId xmlns:a16="http://schemas.microsoft.com/office/drawing/2014/main" id="{70A41AD7-FFAF-49A3-A385-2F439070B240}"/>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4953000" y="1803400"/>
            <a:ext cx="6604000" cy="3454400"/>
          </a:xfrm>
          <a:prstGeom prst="rect">
            <a:avLst/>
          </a:prstGeom>
        </p:spPr>
      </p:pic>
      <p:sp>
        <p:nvSpPr>
          <p:cNvPr id="11" name="Rectangle 10">
            <a:extLst>
              <a:ext uri="{FF2B5EF4-FFF2-40B4-BE49-F238E27FC236}">
                <a16:creationId xmlns:a16="http://schemas.microsoft.com/office/drawing/2014/main" id="{68C1FA1F-57D2-4BBD-9C92-0E7B12DA5CC0}"/>
              </a:ext>
            </a:extLst>
          </p:cNvPr>
          <p:cNvSpPr/>
          <p:nvPr/>
        </p:nvSpPr>
        <p:spPr>
          <a:xfrm>
            <a:off x="533400" y="381000"/>
            <a:ext cx="50800" cy="495300"/>
          </a:xfrm>
          <a:prstGeom prst="rect">
            <a:avLst/>
          </a:prstGeom>
          <a:solidFill>
            <a:srgbClr val="37D9E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34B620F0-1D67-40D5-9954-D281825FE969}"/>
              </a:ext>
            </a:extLst>
          </p:cNvPr>
          <p:cNvSpPr txBox="1"/>
          <p:nvPr/>
        </p:nvSpPr>
        <p:spPr>
          <a:xfrm>
            <a:off x="9779000" y="927100"/>
            <a:ext cx="1676400" cy="230832"/>
          </a:xfrm>
          <a:prstGeom prst="rect">
            <a:avLst/>
          </a:prstGeom>
          <a:noFill/>
        </p:spPr>
        <p:txBody>
          <a:bodyPr vert="horz" rtlCol="0">
            <a:spAutoFit/>
          </a:bodyPr>
          <a:lstStyle/>
          <a:p>
            <a:pPr algn="r"/>
            <a:r>
              <a:rPr lang="en-US" sz="900">
                <a:solidFill>
                  <a:srgbClr val="85A0B8"/>
                </a:solidFill>
                <a:latin typeface="Bahnschrift" panose="020B0502040204020203" pitchFamily="34" charset="0"/>
              </a:rPr>
              <a:t>ANALYSIS  /  02</a:t>
            </a:r>
          </a:p>
        </p:txBody>
      </p:sp>
    </p:spTree>
    <p:extLst>
      <p:ext uri="{BB962C8B-B14F-4D97-AF65-F5344CB8AC3E}">
        <p14:creationId xmlns:p14="http://schemas.microsoft.com/office/powerpoint/2010/main" val="17569541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67E78AE-C981-4FA0-A0BB-6D7F1FA6B9C4}"/>
              </a:ext>
            </a:extLst>
          </p:cNvPr>
          <p:cNvSpPr/>
          <p:nvPr/>
        </p:nvSpPr>
        <p:spPr>
          <a:xfrm>
            <a:off x="0" y="0"/>
            <a:ext cx="12192000" cy="6858000"/>
          </a:xfrm>
          <a:prstGeom prst="rect">
            <a:avLst/>
          </a:prstGeom>
          <a:solidFill>
            <a:srgbClr val="08122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CE508A62-251C-4CB2-9A6D-C67423F855FA}"/>
              </a:ext>
            </a:extLst>
          </p:cNvPr>
          <p:cNvSpPr txBox="1"/>
          <p:nvPr/>
        </p:nvSpPr>
        <p:spPr>
          <a:xfrm>
            <a:off x="685800" y="368300"/>
            <a:ext cx="10795000" cy="430887"/>
          </a:xfrm>
          <a:prstGeom prst="rect">
            <a:avLst/>
          </a:prstGeom>
          <a:noFill/>
        </p:spPr>
        <p:txBody>
          <a:bodyPr vert="horz" wrap="square" lIns="0" tIns="0" rIns="0" bIns="0" rtlCol="0">
            <a:spAutoFit/>
          </a:bodyPr>
          <a:lstStyle/>
          <a:p>
            <a:r>
              <a:rPr lang="en-US" sz="2800" b="1">
                <a:solidFill>
                  <a:srgbClr val="EEF6FF"/>
                </a:solidFill>
                <a:latin typeface="Bahnschrift" panose="020B0502040204020203" pitchFamily="34" charset="0"/>
              </a:rPr>
              <a:t>One project, five workspaces</a:t>
            </a:r>
          </a:p>
        </p:txBody>
      </p:sp>
      <p:cxnSp>
        <p:nvCxnSpPr>
          <p:cNvPr id="4" name="Straight Connector 3">
            <a:extLst>
              <a:ext uri="{FF2B5EF4-FFF2-40B4-BE49-F238E27FC236}">
                <a16:creationId xmlns:a16="http://schemas.microsoft.com/office/drawing/2014/main" id="{DA19CA8C-043A-46A3-AF93-1C0FB016CFA5}"/>
              </a:ext>
            </a:extLst>
          </p:cNvPr>
          <p:cNvCxnSpPr/>
          <p:nvPr/>
        </p:nvCxnSpPr>
        <p:spPr>
          <a:xfrm>
            <a:off x="685800" y="1168400"/>
            <a:ext cx="10820400" cy="0"/>
          </a:xfrm>
          <a:prstGeom prst="line">
            <a:avLst/>
          </a:prstGeom>
          <a:ln w="17780">
            <a:solidFill>
              <a:srgbClr val="37D9E9"/>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6E0C4CC3-1AA5-4E76-8487-81936A04296F}"/>
              </a:ext>
            </a:extLst>
          </p:cNvPr>
          <p:cNvSpPr txBox="1"/>
          <p:nvPr/>
        </p:nvSpPr>
        <p:spPr>
          <a:xfrm>
            <a:off x="685800" y="6502400"/>
            <a:ext cx="3810000" cy="153888"/>
          </a:xfrm>
          <a:prstGeom prst="rect">
            <a:avLst/>
          </a:prstGeom>
          <a:noFill/>
        </p:spPr>
        <p:txBody>
          <a:bodyPr vert="horz" wrap="square" lIns="0" tIns="0" rIns="0" bIns="0" rtlCol="0">
            <a:spAutoFit/>
          </a:bodyPr>
          <a:lstStyle/>
          <a:p>
            <a:r>
              <a:rPr lang="en-US" sz="1000" b="1">
                <a:solidFill>
                  <a:srgbClr val="85A0B8"/>
                </a:solidFill>
                <a:latin typeface="Aptos"/>
              </a:rPr>
              <a:t>SIGNAL STUDIO</a:t>
            </a:r>
          </a:p>
        </p:txBody>
      </p:sp>
      <p:sp>
        <p:nvSpPr>
          <p:cNvPr id="6" name="TextBox 5">
            <a:extLst>
              <a:ext uri="{FF2B5EF4-FFF2-40B4-BE49-F238E27FC236}">
                <a16:creationId xmlns:a16="http://schemas.microsoft.com/office/drawing/2014/main" id="{D08C7BEB-8BDA-4882-A06C-557C44A784CF}"/>
              </a:ext>
            </a:extLst>
          </p:cNvPr>
          <p:cNvSpPr txBox="1"/>
          <p:nvPr/>
        </p:nvSpPr>
        <p:spPr>
          <a:xfrm>
            <a:off x="11430000" y="6502400"/>
            <a:ext cx="444500" cy="153888"/>
          </a:xfrm>
          <a:prstGeom prst="rect">
            <a:avLst/>
          </a:prstGeom>
          <a:noFill/>
        </p:spPr>
        <p:txBody>
          <a:bodyPr vert="horz" wrap="square" lIns="0" tIns="0" rIns="0" bIns="0" rtlCol="0">
            <a:spAutoFit/>
          </a:bodyPr>
          <a:lstStyle/>
          <a:p>
            <a:pPr algn="r"/>
            <a:r>
              <a:rPr lang="en-US" sz="1000" b="1">
                <a:solidFill>
                  <a:srgbClr val="37D9E9"/>
                </a:solidFill>
                <a:latin typeface="Bahnschrift" panose="020B0502040204020203" pitchFamily="34" charset="0"/>
              </a:rPr>
              <a:t>3</a:t>
            </a:r>
          </a:p>
        </p:txBody>
      </p:sp>
      <p:sp>
        <p:nvSpPr>
          <p:cNvPr id="24" name="TextBox 23">
            <a:extLst>
              <a:ext uri="{FF2B5EF4-FFF2-40B4-BE49-F238E27FC236}">
                <a16:creationId xmlns:a16="http://schemas.microsoft.com/office/drawing/2014/main" id="{373BFB9D-8C0A-4F6D-A22B-876F6D5E27FC}"/>
              </a:ext>
            </a:extLst>
          </p:cNvPr>
          <p:cNvSpPr txBox="1"/>
          <p:nvPr/>
        </p:nvSpPr>
        <p:spPr>
          <a:xfrm>
            <a:off x="774700" y="1549400"/>
            <a:ext cx="838200" cy="461665"/>
          </a:xfrm>
          <a:prstGeom prst="rect">
            <a:avLst/>
          </a:prstGeom>
          <a:noFill/>
        </p:spPr>
        <p:txBody>
          <a:bodyPr vert="horz" wrap="square" lIns="0" tIns="0" rIns="0" bIns="0" rtlCol="0">
            <a:spAutoFit/>
          </a:bodyPr>
          <a:lstStyle/>
          <a:p>
            <a:r>
              <a:rPr lang="en-US" sz="3000" b="1">
                <a:solidFill>
                  <a:srgbClr val="37D9E9"/>
                </a:solidFill>
                <a:latin typeface="Bahnschrift" panose="020B0502040204020203" pitchFamily="34" charset="0"/>
              </a:rPr>
              <a:t>01</a:t>
            </a:r>
          </a:p>
        </p:txBody>
      </p:sp>
      <p:sp>
        <p:nvSpPr>
          <p:cNvPr id="25" name="TextBox 24">
            <a:extLst>
              <a:ext uri="{FF2B5EF4-FFF2-40B4-BE49-F238E27FC236}">
                <a16:creationId xmlns:a16="http://schemas.microsoft.com/office/drawing/2014/main" id="{00DDE914-411D-4E08-937E-7F1972945C09}"/>
              </a:ext>
            </a:extLst>
          </p:cNvPr>
          <p:cNvSpPr txBox="1"/>
          <p:nvPr/>
        </p:nvSpPr>
        <p:spPr>
          <a:xfrm>
            <a:off x="1955800" y="1574800"/>
            <a:ext cx="2794000" cy="323165"/>
          </a:xfrm>
          <a:prstGeom prst="rect">
            <a:avLst/>
          </a:prstGeom>
          <a:noFill/>
        </p:spPr>
        <p:txBody>
          <a:bodyPr vert="horz" wrap="square" lIns="0" tIns="0" rIns="0" bIns="0" rtlCol="0">
            <a:spAutoFit/>
          </a:bodyPr>
          <a:lstStyle/>
          <a:p>
            <a:r>
              <a:rPr lang="en-US" sz="2100" b="1">
                <a:solidFill>
                  <a:srgbClr val="EEF6FF"/>
                </a:solidFill>
                <a:latin typeface="Bahnschrift" panose="020B0502040204020203" pitchFamily="34" charset="0"/>
              </a:rPr>
              <a:t>Heart sounds</a:t>
            </a:r>
          </a:p>
        </p:txBody>
      </p:sp>
      <p:sp>
        <p:nvSpPr>
          <p:cNvPr id="26" name="TextBox 25">
            <a:extLst>
              <a:ext uri="{FF2B5EF4-FFF2-40B4-BE49-F238E27FC236}">
                <a16:creationId xmlns:a16="http://schemas.microsoft.com/office/drawing/2014/main" id="{26944E7D-237D-43F3-8D6E-904693F4ECA7}"/>
              </a:ext>
            </a:extLst>
          </p:cNvPr>
          <p:cNvSpPr txBox="1"/>
          <p:nvPr/>
        </p:nvSpPr>
        <p:spPr>
          <a:xfrm>
            <a:off x="4965700" y="1600200"/>
            <a:ext cx="6350000" cy="261610"/>
          </a:xfrm>
          <a:prstGeom prst="rect">
            <a:avLst/>
          </a:prstGeom>
          <a:noFill/>
        </p:spPr>
        <p:txBody>
          <a:bodyPr vert="horz" wrap="square" lIns="0" tIns="0" rIns="0" bIns="0" rtlCol="0">
            <a:spAutoFit/>
          </a:bodyPr>
          <a:lstStyle/>
          <a:p>
            <a:r>
              <a:rPr lang="en-US" sz="1700">
                <a:solidFill>
                  <a:srgbClr val="CCDDEC"/>
                </a:solidFill>
                <a:latin typeface="Aptos"/>
              </a:rPr>
              <a:t>filter  →  envelope  →  S1/S2 timing</a:t>
            </a:r>
          </a:p>
        </p:txBody>
      </p:sp>
      <p:cxnSp>
        <p:nvCxnSpPr>
          <p:cNvPr id="27" name="Straight Connector 26">
            <a:extLst>
              <a:ext uri="{FF2B5EF4-FFF2-40B4-BE49-F238E27FC236}">
                <a16:creationId xmlns:a16="http://schemas.microsoft.com/office/drawing/2014/main" id="{391AE7A6-A021-44FB-8C14-AAF40391C018}"/>
              </a:ext>
            </a:extLst>
          </p:cNvPr>
          <p:cNvCxnSpPr/>
          <p:nvPr/>
        </p:nvCxnSpPr>
        <p:spPr>
          <a:xfrm>
            <a:off x="1955800" y="2171700"/>
            <a:ext cx="9347200" cy="0"/>
          </a:xfrm>
          <a:prstGeom prst="line">
            <a:avLst/>
          </a:prstGeom>
          <a:ln w="12700">
            <a:solidFill>
              <a:srgbClr val="264B63"/>
            </a:solidFill>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B79C7AC9-4CDD-42CB-910E-6C5FE8756242}"/>
              </a:ext>
            </a:extLst>
          </p:cNvPr>
          <p:cNvSpPr txBox="1"/>
          <p:nvPr/>
        </p:nvSpPr>
        <p:spPr>
          <a:xfrm>
            <a:off x="774700" y="2463800"/>
            <a:ext cx="838200" cy="461665"/>
          </a:xfrm>
          <a:prstGeom prst="rect">
            <a:avLst/>
          </a:prstGeom>
          <a:noFill/>
        </p:spPr>
        <p:txBody>
          <a:bodyPr vert="horz" wrap="square" lIns="0" tIns="0" rIns="0" bIns="0" rtlCol="0">
            <a:spAutoFit/>
          </a:bodyPr>
          <a:lstStyle/>
          <a:p>
            <a:r>
              <a:rPr lang="en-US" sz="3000" b="1">
                <a:solidFill>
                  <a:srgbClr val="FF64A5"/>
                </a:solidFill>
                <a:latin typeface="Bahnschrift" panose="020B0502040204020203" pitchFamily="34" charset="0"/>
              </a:rPr>
              <a:t>02</a:t>
            </a:r>
          </a:p>
        </p:txBody>
      </p:sp>
      <p:sp>
        <p:nvSpPr>
          <p:cNvPr id="29" name="TextBox 28">
            <a:extLst>
              <a:ext uri="{FF2B5EF4-FFF2-40B4-BE49-F238E27FC236}">
                <a16:creationId xmlns:a16="http://schemas.microsoft.com/office/drawing/2014/main" id="{4A1C61A1-0FC8-44F8-B65F-D923CA179EC0}"/>
              </a:ext>
            </a:extLst>
          </p:cNvPr>
          <p:cNvSpPr txBox="1"/>
          <p:nvPr/>
        </p:nvSpPr>
        <p:spPr>
          <a:xfrm>
            <a:off x="1955800" y="2489200"/>
            <a:ext cx="2794000" cy="323165"/>
          </a:xfrm>
          <a:prstGeom prst="rect">
            <a:avLst/>
          </a:prstGeom>
          <a:noFill/>
        </p:spPr>
        <p:txBody>
          <a:bodyPr vert="horz" wrap="square" lIns="0" tIns="0" rIns="0" bIns="0" rtlCol="0">
            <a:spAutoFit/>
          </a:bodyPr>
          <a:lstStyle/>
          <a:p>
            <a:r>
              <a:rPr lang="en-US" sz="2100" b="1">
                <a:solidFill>
                  <a:srgbClr val="EEF6FF"/>
                </a:solidFill>
                <a:latin typeface="Bahnschrift" panose="020B0502040204020203" pitchFamily="34" charset="0"/>
              </a:rPr>
              <a:t>Audio analyzer</a:t>
            </a:r>
          </a:p>
        </p:txBody>
      </p:sp>
      <p:sp>
        <p:nvSpPr>
          <p:cNvPr id="30" name="TextBox 29">
            <a:extLst>
              <a:ext uri="{FF2B5EF4-FFF2-40B4-BE49-F238E27FC236}">
                <a16:creationId xmlns:a16="http://schemas.microsoft.com/office/drawing/2014/main" id="{6E76A11F-68EB-4C66-8707-904363F4495D}"/>
              </a:ext>
            </a:extLst>
          </p:cNvPr>
          <p:cNvSpPr txBox="1"/>
          <p:nvPr/>
        </p:nvSpPr>
        <p:spPr>
          <a:xfrm>
            <a:off x="4965700" y="2514600"/>
            <a:ext cx="6350000" cy="261610"/>
          </a:xfrm>
          <a:prstGeom prst="rect">
            <a:avLst/>
          </a:prstGeom>
          <a:noFill/>
        </p:spPr>
        <p:txBody>
          <a:bodyPr vert="horz" wrap="square" lIns="0" tIns="0" rIns="0" bIns="0" rtlCol="0">
            <a:spAutoFit/>
          </a:bodyPr>
          <a:lstStyle/>
          <a:p>
            <a:r>
              <a:rPr lang="en-US" sz="1700">
                <a:solidFill>
                  <a:srgbClr val="CCDDEC"/>
                </a:solidFill>
                <a:latin typeface="Aptos"/>
              </a:rPr>
              <a:t>waveform  →  spectrum  →  effects</a:t>
            </a:r>
          </a:p>
        </p:txBody>
      </p:sp>
      <p:cxnSp>
        <p:nvCxnSpPr>
          <p:cNvPr id="31" name="Straight Connector 30">
            <a:extLst>
              <a:ext uri="{FF2B5EF4-FFF2-40B4-BE49-F238E27FC236}">
                <a16:creationId xmlns:a16="http://schemas.microsoft.com/office/drawing/2014/main" id="{BB57734A-E123-413B-9B69-5CA77AEE30FB}"/>
              </a:ext>
            </a:extLst>
          </p:cNvPr>
          <p:cNvCxnSpPr/>
          <p:nvPr/>
        </p:nvCxnSpPr>
        <p:spPr>
          <a:xfrm>
            <a:off x="1955800" y="3086100"/>
            <a:ext cx="9347200" cy="0"/>
          </a:xfrm>
          <a:prstGeom prst="line">
            <a:avLst/>
          </a:prstGeom>
          <a:ln w="12700">
            <a:solidFill>
              <a:srgbClr val="264B63"/>
            </a:solidFill>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63503F49-5BA1-485D-8690-D523692FDBF8}"/>
              </a:ext>
            </a:extLst>
          </p:cNvPr>
          <p:cNvSpPr txBox="1"/>
          <p:nvPr/>
        </p:nvSpPr>
        <p:spPr>
          <a:xfrm>
            <a:off x="774700" y="3378200"/>
            <a:ext cx="838200" cy="461665"/>
          </a:xfrm>
          <a:prstGeom prst="rect">
            <a:avLst/>
          </a:prstGeom>
          <a:noFill/>
        </p:spPr>
        <p:txBody>
          <a:bodyPr vert="horz" wrap="square" lIns="0" tIns="0" rIns="0" bIns="0" rtlCol="0">
            <a:spAutoFit/>
          </a:bodyPr>
          <a:lstStyle/>
          <a:p>
            <a:r>
              <a:rPr lang="en-US" sz="3000" b="1">
                <a:solidFill>
                  <a:srgbClr val="37D9E9"/>
                </a:solidFill>
                <a:latin typeface="Bahnschrift" panose="020B0502040204020203" pitchFamily="34" charset="0"/>
              </a:rPr>
              <a:t>03</a:t>
            </a:r>
          </a:p>
        </p:txBody>
      </p:sp>
      <p:sp>
        <p:nvSpPr>
          <p:cNvPr id="33" name="TextBox 32">
            <a:extLst>
              <a:ext uri="{FF2B5EF4-FFF2-40B4-BE49-F238E27FC236}">
                <a16:creationId xmlns:a16="http://schemas.microsoft.com/office/drawing/2014/main" id="{7F4BD497-6EA9-4B3E-A396-2224C2DC9CCA}"/>
              </a:ext>
            </a:extLst>
          </p:cNvPr>
          <p:cNvSpPr txBox="1"/>
          <p:nvPr/>
        </p:nvSpPr>
        <p:spPr>
          <a:xfrm>
            <a:off x="1955800" y="3403600"/>
            <a:ext cx="2794000" cy="323165"/>
          </a:xfrm>
          <a:prstGeom prst="rect">
            <a:avLst/>
          </a:prstGeom>
          <a:noFill/>
        </p:spPr>
        <p:txBody>
          <a:bodyPr vert="horz" wrap="square" lIns="0" tIns="0" rIns="0" bIns="0" rtlCol="0">
            <a:spAutoFit/>
          </a:bodyPr>
          <a:lstStyle/>
          <a:p>
            <a:r>
              <a:rPr lang="en-US" sz="2100" b="1">
                <a:solidFill>
                  <a:srgbClr val="EEF6FF"/>
                </a:solidFill>
                <a:latin typeface="Bahnschrift" panose="020B0502040204020203" pitchFamily="34" charset="0"/>
              </a:rPr>
              <a:t>Audio encryption</a:t>
            </a:r>
          </a:p>
        </p:txBody>
      </p:sp>
      <p:sp>
        <p:nvSpPr>
          <p:cNvPr id="34" name="TextBox 33">
            <a:extLst>
              <a:ext uri="{FF2B5EF4-FFF2-40B4-BE49-F238E27FC236}">
                <a16:creationId xmlns:a16="http://schemas.microsoft.com/office/drawing/2014/main" id="{5FEAE869-60F8-47F7-B9D9-3A2DBFA78D3A}"/>
              </a:ext>
            </a:extLst>
          </p:cNvPr>
          <p:cNvSpPr txBox="1"/>
          <p:nvPr/>
        </p:nvSpPr>
        <p:spPr>
          <a:xfrm>
            <a:off x="4965700" y="3429000"/>
            <a:ext cx="6350000" cy="261610"/>
          </a:xfrm>
          <a:prstGeom prst="rect">
            <a:avLst/>
          </a:prstGeom>
          <a:noFill/>
        </p:spPr>
        <p:txBody>
          <a:bodyPr vert="horz" wrap="square" lIns="0" tIns="0" rIns="0" bIns="0" rtlCol="0">
            <a:spAutoFit/>
          </a:bodyPr>
          <a:lstStyle/>
          <a:p>
            <a:r>
              <a:rPr lang="en-US" sz="1700">
                <a:solidFill>
                  <a:srgbClr val="CCDDEC"/>
                </a:solidFill>
                <a:latin typeface="Aptos"/>
              </a:rPr>
              <a:t>file bytes  →  AES-GCM  →  WAV carrier</a:t>
            </a:r>
          </a:p>
        </p:txBody>
      </p:sp>
      <p:cxnSp>
        <p:nvCxnSpPr>
          <p:cNvPr id="35" name="Straight Connector 34">
            <a:extLst>
              <a:ext uri="{FF2B5EF4-FFF2-40B4-BE49-F238E27FC236}">
                <a16:creationId xmlns:a16="http://schemas.microsoft.com/office/drawing/2014/main" id="{D7B9CC57-E063-4696-BED8-0B14C20018C3}"/>
              </a:ext>
            </a:extLst>
          </p:cNvPr>
          <p:cNvCxnSpPr/>
          <p:nvPr/>
        </p:nvCxnSpPr>
        <p:spPr>
          <a:xfrm>
            <a:off x="1955800" y="4000500"/>
            <a:ext cx="9347200" cy="0"/>
          </a:xfrm>
          <a:prstGeom prst="line">
            <a:avLst/>
          </a:prstGeom>
          <a:ln w="12700">
            <a:solidFill>
              <a:srgbClr val="264B63"/>
            </a:solidFill>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C645F6BA-BC94-4FA4-9556-8832F66088C5}"/>
              </a:ext>
            </a:extLst>
          </p:cNvPr>
          <p:cNvSpPr txBox="1"/>
          <p:nvPr/>
        </p:nvSpPr>
        <p:spPr>
          <a:xfrm>
            <a:off x="774700" y="4292600"/>
            <a:ext cx="838200" cy="461665"/>
          </a:xfrm>
          <a:prstGeom prst="rect">
            <a:avLst/>
          </a:prstGeom>
          <a:noFill/>
        </p:spPr>
        <p:txBody>
          <a:bodyPr vert="horz" wrap="square" lIns="0" tIns="0" rIns="0" bIns="0" rtlCol="0">
            <a:spAutoFit/>
          </a:bodyPr>
          <a:lstStyle/>
          <a:p>
            <a:r>
              <a:rPr lang="en-US" sz="3000" b="1">
                <a:solidFill>
                  <a:srgbClr val="FF64A5"/>
                </a:solidFill>
                <a:latin typeface="Bahnschrift" panose="020B0502040204020203" pitchFamily="34" charset="0"/>
              </a:rPr>
              <a:t>04</a:t>
            </a:r>
          </a:p>
        </p:txBody>
      </p:sp>
      <p:sp>
        <p:nvSpPr>
          <p:cNvPr id="37" name="TextBox 36">
            <a:extLst>
              <a:ext uri="{FF2B5EF4-FFF2-40B4-BE49-F238E27FC236}">
                <a16:creationId xmlns:a16="http://schemas.microsoft.com/office/drawing/2014/main" id="{EF20F596-FF54-4ABE-8A46-36170E7C1AA7}"/>
              </a:ext>
            </a:extLst>
          </p:cNvPr>
          <p:cNvSpPr txBox="1"/>
          <p:nvPr/>
        </p:nvSpPr>
        <p:spPr>
          <a:xfrm>
            <a:off x="1955800" y="4318000"/>
            <a:ext cx="2794000" cy="323165"/>
          </a:xfrm>
          <a:prstGeom prst="rect">
            <a:avLst/>
          </a:prstGeom>
          <a:noFill/>
        </p:spPr>
        <p:txBody>
          <a:bodyPr vert="horz" wrap="square" lIns="0" tIns="0" rIns="0" bIns="0" rtlCol="0">
            <a:spAutoFit/>
          </a:bodyPr>
          <a:lstStyle/>
          <a:p>
            <a:r>
              <a:rPr lang="en-US" sz="2100" b="1">
                <a:solidFill>
                  <a:srgbClr val="EEF6FF"/>
                </a:solidFill>
                <a:latin typeface="Bahnschrift" panose="020B0502040204020203" pitchFamily="34" charset="0"/>
              </a:rPr>
              <a:t>Steganography</a:t>
            </a:r>
          </a:p>
        </p:txBody>
      </p:sp>
      <p:sp>
        <p:nvSpPr>
          <p:cNvPr id="38" name="TextBox 37">
            <a:extLst>
              <a:ext uri="{FF2B5EF4-FFF2-40B4-BE49-F238E27FC236}">
                <a16:creationId xmlns:a16="http://schemas.microsoft.com/office/drawing/2014/main" id="{4778C897-EF6E-4F99-BE5B-8926441D2269}"/>
              </a:ext>
            </a:extLst>
          </p:cNvPr>
          <p:cNvSpPr txBox="1"/>
          <p:nvPr/>
        </p:nvSpPr>
        <p:spPr>
          <a:xfrm>
            <a:off x="4965700" y="4343400"/>
            <a:ext cx="6350000" cy="261610"/>
          </a:xfrm>
          <a:prstGeom prst="rect">
            <a:avLst/>
          </a:prstGeom>
          <a:noFill/>
        </p:spPr>
        <p:txBody>
          <a:bodyPr vert="horz" wrap="square" lIns="0" tIns="0" rIns="0" bIns="0" rtlCol="0">
            <a:spAutoFit/>
          </a:bodyPr>
          <a:lstStyle/>
          <a:p>
            <a:r>
              <a:rPr lang="en-US" sz="1700">
                <a:solidFill>
                  <a:srgbClr val="CCDDEC"/>
                </a:solidFill>
                <a:latin typeface="Aptos"/>
              </a:rPr>
              <a:t>text bits  →  FFT bins  →  playable WAV</a:t>
            </a:r>
          </a:p>
        </p:txBody>
      </p:sp>
      <p:cxnSp>
        <p:nvCxnSpPr>
          <p:cNvPr id="39" name="Straight Connector 38">
            <a:extLst>
              <a:ext uri="{FF2B5EF4-FFF2-40B4-BE49-F238E27FC236}">
                <a16:creationId xmlns:a16="http://schemas.microsoft.com/office/drawing/2014/main" id="{18A739D7-E165-41C3-92A9-AA8C9EEC9DD5}"/>
              </a:ext>
            </a:extLst>
          </p:cNvPr>
          <p:cNvCxnSpPr/>
          <p:nvPr/>
        </p:nvCxnSpPr>
        <p:spPr>
          <a:xfrm>
            <a:off x="1955800" y="4914900"/>
            <a:ext cx="9347200" cy="0"/>
          </a:xfrm>
          <a:prstGeom prst="line">
            <a:avLst/>
          </a:prstGeom>
          <a:ln w="12700">
            <a:solidFill>
              <a:srgbClr val="264B63"/>
            </a:solidFill>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74993142-45F4-4F7B-BB68-92476599E1BA}"/>
              </a:ext>
            </a:extLst>
          </p:cNvPr>
          <p:cNvSpPr txBox="1"/>
          <p:nvPr/>
        </p:nvSpPr>
        <p:spPr>
          <a:xfrm>
            <a:off x="774700" y="5207000"/>
            <a:ext cx="838200" cy="461665"/>
          </a:xfrm>
          <a:prstGeom prst="rect">
            <a:avLst/>
          </a:prstGeom>
          <a:noFill/>
        </p:spPr>
        <p:txBody>
          <a:bodyPr vert="horz" wrap="square" lIns="0" tIns="0" rIns="0" bIns="0" rtlCol="0">
            <a:spAutoFit/>
          </a:bodyPr>
          <a:lstStyle/>
          <a:p>
            <a:r>
              <a:rPr lang="en-US" sz="3000" b="1">
                <a:solidFill>
                  <a:srgbClr val="37D9E9"/>
                </a:solidFill>
                <a:latin typeface="Bahnschrift" panose="020B0502040204020203" pitchFamily="34" charset="0"/>
              </a:rPr>
              <a:t>05</a:t>
            </a:r>
          </a:p>
        </p:txBody>
      </p:sp>
      <p:sp>
        <p:nvSpPr>
          <p:cNvPr id="41" name="TextBox 40">
            <a:extLst>
              <a:ext uri="{FF2B5EF4-FFF2-40B4-BE49-F238E27FC236}">
                <a16:creationId xmlns:a16="http://schemas.microsoft.com/office/drawing/2014/main" id="{1AC7B8DA-6CD5-40E7-8019-6EDF5889AEBF}"/>
              </a:ext>
            </a:extLst>
          </p:cNvPr>
          <p:cNvSpPr txBox="1"/>
          <p:nvPr/>
        </p:nvSpPr>
        <p:spPr>
          <a:xfrm>
            <a:off x="1955800" y="5232400"/>
            <a:ext cx="2794000" cy="323165"/>
          </a:xfrm>
          <a:prstGeom prst="rect">
            <a:avLst/>
          </a:prstGeom>
          <a:noFill/>
        </p:spPr>
        <p:txBody>
          <a:bodyPr vert="horz" wrap="square" lIns="0" tIns="0" rIns="0" bIns="0" rtlCol="0">
            <a:spAutoFit/>
          </a:bodyPr>
          <a:lstStyle/>
          <a:p>
            <a:r>
              <a:rPr lang="en-US" sz="2100" b="1">
                <a:solidFill>
                  <a:srgbClr val="EEF6FF"/>
                </a:solidFill>
                <a:latin typeface="Bahnschrift" panose="020B0502040204020203" pitchFamily="34" charset="0"/>
              </a:rPr>
              <a:t>Echo Detector</a:t>
            </a:r>
          </a:p>
        </p:txBody>
      </p:sp>
      <p:sp>
        <p:nvSpPr>
          <p:cNvPr id="42" name="TextBox 41">
            <a:extLst>
              <a:ext uri="{FF2B5EF4-FFF2-40B4-BE49-F238E27FC236}">
                <a16:creationId xmlns:a16="http://schemas.microsoft.com/office/drawing/2014/main" id="{592199BF-5A14-475A-B9D2-55E8CA897102}"/>
              </a:ext>
            </a:extLst>
          </p:cNvPr>
          <p:cNvSpPr txBox="1"/>
          <p:nvPr/>
        </p:nvSpPr>
        <p:spPr>
          <a:xfrm>
            <a:off x="4965700" y="5257800"/>
            <a:ext cx="6350000" cy="261610"/>
          </a:xfrm>
          <a:prstGeom prst="rect">
            <a:avLst/>
          </a:prstGeom>
          <a:noFill/>
        </p:spPr>
        <p:txBody>
          <a:bodyPr vert="horz" wrap="square" lIns="0" tIns="0" rIns="0" bIns="0" rtlCol="0">
            <a:spAutoFit/>
          </a:bodyPr>
          <a:lstStyle/>
          <a:p>
            <a:r>
              <a:rPr lang="en-US" sz="1700">
                <a:solidFill>
                  <a:srgbClr val="CCDDEC"/>
                </a:solidFill>
                <a:latin typeface="Aptos"/>
              </a:rPr>
              <a:t>autocorrelation  →  repeated-delay candidate</a:t>
            </a:r>
          </a:p>
        </p:txBody>
      </p:sp>
      <p:sp>
        <p:nvSpPr>
          <p:cNvPr id="43" name="Rectangle 42">
            <a:extLst>
              <a:ext uri="{FF2B5EF4-FFF2-40B4-BE49-F238E27FC236}">
                <a16:creationId xmlns:a16="http://schemas.microsoft.com/office/drawing/2014/main" id="{683341D8-BB5E-460B-A27D-D98770FE93EE}"/>
              </a:ext>
            </a:extLst>
          </p:cNvPr>
          <p:cNvSpPr/>
          <p:nvPr/>
        </p:nvSpPr>
        <p:spPr>
          <a:xfrm>
            <a:off x="533400" y="381000"/>
            <a:ext cx="50800" cy="495300"/>
          </a:xfrm>
          <a:prstGeom prst="rect">
            <a:avLst/>
          </a:prstGeom>
          <a:solidFill>
            <a:srgbClr val="37D9E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TextBox 43">
            <a:extLst>
              <a:ext uri="{FF2B5EF4-FFF2-40B4-BE49-F238E27FC236}">
                <a16:creationId xmlns:a16="http://schemas.microsoft.com/office/drawing/2014/main" id="{8DC8CDFF-7E10-49F1-9B0D-BC58BD1E6498}"/>
              </a:ext>
            </a:extLst>
          </p:cNvPr>
          <p:cNvSpPr txBox="1"/>
          <p:nvPr/>
        </p:nvSpPr>
        <p:spPr>
          <a:xfrm>
            <a:off x="9779000" y="927100"/>
            <a:ext cx="1676400" cy="138499"/>
          </a:xfrm>
          <a:prstGeom prst="rect">
            <a:avLst/>
          </a:prstGeom>
          <a:noFill/>
        </p:spPr>
        <p:txBody>
          <a:bodyPr vert="horz" wrap="square" lIns="0" tIns="0" rIns="0" bIns="0" rtlCol="0">
            <a:spAutoFit/>
          </a:bodyPr>
          <a:lstStyle/>
          <a:p>
            <a:pPr algn="r"/>
            <a:r>
              <a:rPr lang="en-US" sz="900">
                <a:solidFill>
                  <a:srgbClr val="85A0B8"/>
                </a:solidFill>
                <a:latin typeface="Bahnschrift" panose="020B0502040204020203" pitchFamily="34" charset="0"/>
              </a:rPr>
              <a:t>ANALYSIS  /  03</a:t>
            </a:r>
          </a:p>
        </p:txBody>
      </p:sp>
    </p:spTree>
    <p:extLst>
      <p:ext uri="{BB962C8B-B14F-4D97-AF65-F5344CB8AC3E}">
        <p14:creationId xmlns:p14="http://schemas.microsoft.com/office/powerpoint/2010/main" val="36341203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7B571B0-5B41-4E92-ADC0-9F03870EA790}"/>
              </a:ext>
            </a:extLst>
          </p:cNvPr>
          <p:cNvSpPr/>
          <p:nvPr/>
        </p:nvSpPr>
        <p:spPr>
          <a:xfrm>
            <a:off x="0" y="0"/>
            <a:ext cx="12192000" cy="6858000"/>
          </a:xfrm>
          <a:prstGeom prst="rect">
            <a:avLst/>
          </a:prstGeom>
          <a:solidFill>
            <a:srgbClr val="08122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DFE09956-6B66-48BF-9A62-1ECA2767BA8A}"/>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17500" y="63500"/>
            <a:ext cx="11557000" cy="6273800"/>
          </a:xfrm>
          <a:prstGeom prst="rect">
            <a:avLst/>
          </a:prstGeom>
        </p:spPr>
      </p:pic>
      <p:sp>
        <p:nvSpPr>
          <p:cNvPr id="5" name="TextBox 4">
            <a:extLst>
              <a:ext uri="{FF2B5EF4-FFF2-40B4-BE49-F238E27FC236}">
                <a16:creationId xmlns:a16="http://schemas.microsoft.com/office/drawing/2014/main" id="{CAD7D8D1-A91D-4F40-A99D-6799812E34C3}"/>
              </a:ext>
            </a:extLst>
          </p:cNvPr>
          <p:cNvSpPr txBox="1"/>
          <p:nvPr/>
        </p:nvSpPr>
        <p:spPr>
          <a:xfrm>
            <a:off x="660400" y="6451600"/>
            <a:ext cx="10947400" cy="215444"/>
          </a:xfrm>
          <a:prstGeom prst="rect">
            <a:avLst/>
          </a:prstGeom>
          <a:noFill/>
        </p:spPr>
        <p:txBody>
          <a:bodyPr vert="horz" wrap="square" lIns="0" tIns="0" rIns="0" bIns="0" rtlCol="0">
            <a:spAutoFit/>
          </a:bodyPr>
          <a:lstStyle/>
          <a:p>
            <a:r>
              <a:rPr lang="en-US" sz="1400">
                <a:solidFill>
                  <a:srgbClr val="85A0B8"/>
                </a:solidFill>
                <a:latin typeface="Aptos"/>
              </a:rPr>
              <a:t>Code path: dashboard.py, models/transforms.py, models/filters.py, models/peak_detection.py</a:t>
            </a:r>
          </a:p>
        </p:txBody>
      </p:sp>
    </p:spTree>
    <p:extLst>
      <p:ext uri="{BB962C8B-B14F-4D97-AF65-F5344CB8AC3E}">
        <p14:creationId xmlns:p14="http://schemas.microsoft.com/office/powerpoint/2010/main" val="39259430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5A3B607-476D-45F7-B894-6BC09AE2C0CA}"/>
              </a:ext>
            </a:extLst>
          </p:cNvPr>
          <p:cNvSpPr/>
          <p:nvPr/>
        </p:nvSpPr>
        <p:spPr>
          <a:xfrm>
            <a:off x="0" y="0"/>
            <a:ext cx="12192000" cy="6858000"/>
          </a:xfrm>
          <a:prstGeom prst="rect">
            <a:avLst/>
          </a:prstGeom>
          <a:solidFill>
            <a:srgbClr val="08122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65CF7FEF-6F16-47BA-B35A-323B1EB2DB64}"/>
              </a:ext>
            </a:extLst>
          </p:cNvPr>
          <p:cNvSpPr txBox="1"/>
          <p:nvPr/>
        </p:nvSpPr>
        <p:spPr>
          <a:xfrm>
            <a:off x="685800" y="368300"/>
            <a:ext cx="10795000" cy="492443"/>
          </a:xfrm>
          <a:prstGeom prst="rect">
            <a:avLst/>
          </a:prstGeom>
          <a:noFill/>
        </p:spPr>
        <p:txBody>
          <a:bodyPr vert="horz" wrap="square" lIns="0" tIns="0" rIns="0" bIns="0" rtlCol="0">
            <a:spAutoFit/>
          </a:bodyPr>
          <a:lstStyle/>
          <a:p>
            <a:r>
              <a:rPr lang="en-US" sz="3200" b="1">
                <a:solidFill>
                  <a:srgbClr val="EEF6FF"/>
                </a:solidFill>
                <a:latin typeface="Bahnschrift" panose="020B0502040204020203" pitchFamily="34" charset="0"/>
              </a:rPr>
              <a:t>Heart timing: from peaks to BPM</a:t>
            </a:r>
          </a:p>
        </p:txBody>
      </p:sp>
      <p:cxnSp>
        <p:nvCxnSpPr>
          <p:cNvPr id="4" name="Straight Connector 3">
            <a:extLst>
              <a:ext uri="{FF2B5EF4-FFF2-40B4-BE49-F238E27FC236}">
                <a16:creationId xmlns:a16="http://schemas.microsoft.com/office/drawing/2014/main" id="{3CF996BA-1831-4521-96C2-621EECB7C18F}"/>
              </a:ext>
            </a:extLst>
          </p:cNvPr>
          <p:cNvCxnSpPr/>
          <p:nvPr/>
        </p:nvCxnSpPr>
        <p:spPr>
          <a:xfrm>
            <a:off x="685800" y="1168400"/>
            <a:ext cx="10820400" cy="0"/>
          </a:xfrm>
          <a:prstGeom prst="line">
            <a:avLst/>
          </a:prstGeom>
          <a:ln w="17780">
            <a:solidFill>
              <a:srgbClr val="37D9E9"/>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BE290013-1AFC-4539-BB93-B5BEAAA065CA}"/>
              </a:ext>
            </a:extLst>
          </p:cNvPr>
          <p:cNvSpPr txBox="1"/>
          <p:nvPr/>
        </p:nvSpPr>
        <p:spPr>
          <a:xfrm>
            <a:off x="685800" y="6502400"/>
            <a:ext cx="3810000" cy="153888"/>
          </a:xfrm>
          <a:prstGeom prst="rect">
            <a:avLst/>
          </a:prstGeom>
          <a:noFill/>
        </p:spPr>
        <p:txBody>
          <a:bodyPr vert="horz" wrap="square" lIns="0" tIns="0" rIns="0" bIns="0" rtlCol="0">
            <a:spAutoFit/>
          </a:bodyPr>
          <a:lstStyle/>
          <a:p>
            <a:r>
              <a:rPr lang="en-US" sz="1000" b="1">
                <a:solidFill>
                  <a:srgbClr val="85A0B8"/>
                </a:solidFill>
                <a:latin typeface="Aptos"/>
              </a:rPr>
              <a:t>SIGNAL STUDIO</a:t>
            </a:r>
          </a:p>
        </p:txBody>
      </p:sp>
      <p:sp>
        <p:nvSpPr>
          <p:cNvPr id="6" name="TextBox 5">
            <a:extLst>
              <a:ext uri="{FF2B5EF4-FFF2-40B4-BE49-F238E27FC236}">
                <a16:creationId xmlns:a16="http://schemas.microsoft.com/office/drawing/2014/main" id="{A0C07CD8-FB29-490D-A123-62E7B1C185B8}"/>
              </a:ext>
            </a:extLst>
          </p:cNvPr>
          <p:cNvSpPr txBox="1"/>
          <p:nvPr/>
        </p:nvSpPr>
        <p:spPr>
          <a:xfrm>
            <a:off x="11430000" y="6502400"/>
            <a:ext cx="444500" cy="153888"/>
          </a:xfrm>
          <a:prstGeom prst="rect">
            <a:avLst/>
          </a:prstGeom>
          <a:noFill/>
        </p:spPr>
        <p:txBody>
          <a:bodyPr vert="horz" wrap="square" lIns="0" tIns="0" rIns="0" bIns="0" rtlCol="0">
            <a:spAutoFit/>
          </a:bodyPr>
          <a:lstStyle/>
          <a:p>
            <a:pPr algn="r"/>
            <a:r>
              <a:rPr lang="en-US" sz="1000" b="1">
                <a:solidFill>
                  <a:srgbClr val="37D9E9"/>
                </a:solidFill>
                <a:latin typeface="Bahnschrift" panose="020B0502040204020203" pitchFamily="34" charset="0"/>
              </a:rPr>
              <a:t>5</a:t>
            </a:r>
          </a:p>
        </p:txBody>
      </p:sp>
      <p:pic>
        <p:nvPicPr>
          <p:cNvPr id="8" name="Picture 7">
            <a:extLst>
              <a:ext uri="{FF2B5EF4-FFF2-40B4-BE49-F238E27FC236}">
                <a16:creationId xmlns:a16="http://schemas.microsoft.com/office/drawing/2014/main" id="{E82A8706-DDE1-4100-B93C-98716C30634A}"/>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71500" y="1295400"/>
            <a:ext cx="11049000" cy="4572000"/>
          </a:xfrm>
          <a:prstGeom prst="rect">
            <a:avLst/>
          </a:prstGeom>
        </p:spPr>
      </p:pic>
      <p:sp>
        <p:nvSpPr>
          <p:cNvPr id="9" name="TextBox 8">
            <a:extLst>
              <a:ext uri="{FF2B5EF4-FFF2-40B4-BE49-F238E27FC236}">
                <a16:creationId xmlns:a16="http://schemas.microsoft.com/office/drawing/2014/main" id="{70F80050-E74D-40B8-8605-F549729FA8CE}"/>
              </a:ext>
            </a:extLst>
          </p:cNvPr>
          <p:cNvSpPr txBox="1"/>
          <p:nvPr/>
        </p:nvSpPr>
        <p:spPr>
          <a:xfrm>
            <a:off x="838200" y="5727700"/>
            <a:ext cx="8255000" cy="369332"/>
          </a:xfrm>
          <a:prstGeom prst="rect">
            <a:avLst/>
          </a:prstGeom>
          <a:noFill/>
        </p:spPr>
        <p:txBody>
          <a:bodyPr vert="horz" wrap="square" lIns="0" tIns="0" rIns="0" bIns="0" rtlCol="0">
            <a:spAutoFit/>
          </a:bodyPr>
          <a:lstStyle/>
          <a:p>
            <a:r>
              <a:rPr lang="en-US" sz="2400" b="1">
                <a:solidFill>
                  <a:srgbClr val="37D9E9"/>
                </a:solidFill>
                <a:latin typeface="Bahnschrift" panose="020B0502040204020203" pitchFamily="34" charset="0"/>
              </a:rPr>
              <a:t>BPM = 60 / median(S1-to-S1 intervals)</a:t>
            </a:r>
          </a:p>
        </p:txBody>
      </p:sp>
      <p:sp>
        <p:nvSpPr>
          <p:cNvPr id="10" name="TextBox 9">
            <a:extLst>
              <a:ext uri="{FF2B5EF4-FFF2-40B4-BE49-F238E27FC236}">
                <a16:creationId xmlns:a16="http://schemas.microsoft.com/office/drawing/2014/main" id="{1D217099-D4AF-437F-B0EA-50CDC7D04882}"/>
              </a:ext>
            </a:extLst>
          </p:cNvPr>
          <p:cNvSpPr txBox="1"/>
          <p:nvPr/>
        </p:nvSpPr>
        <p:spPr>
          <a:xfrm>
            <a:off x="838200" y="6172200"/>
            <a:ext cx="10414000" cy="230832"/>
          </a:xfrm>
          <a:prstGeom prst="rect">
            <a:avLst/>
          </a:prstGeom>
          <a:noFill/>
        </p:spPr>
        <p:txBody>
          <a:bodyPr vert="horz" wrap="square" lIns="0" tIns="0" rIns="0" bIns="0" rtlCol="0">
            <a:spAutoFit/>
          </a:bodyPr>
          <a:lstStyle/>
          <a:p>
            <a:r>
              <a:rPr lang="en-US" sz="1500">
                <a:solidFill>
                  <a:srgbClr val="85A0B8"/>
                </a:solidFill>
                <a:latin typeface="Aptos"/>
              </a:rPr>
              <a:t>About 60 BPM from the preview peaks; the app computes its own estimate.</a:t>
            </a:r>
          </a:p>
        </p:txBody>
      </p:sp>
      <p:sp>
        <p:nvSpPr>
          <p:cNvPr id="7" name="Rectangle 6">
            <a:extLst>
              <a:ext uri="{FF2B5EF4-FFF2-40B4-BE49-F238E27FC236}">
                <a16:creationId xmlns:a16="http://schemas.microsoft.com/office/drawing/2014/main" id="{AAE4D793-768D-40AC-8825-0AD899DD8F91}"/>
              </a:ext>
            </a:extLst>
          </p:cNvPr>
          <p:cNvSpPr/>
          <p:nvPr/>
        </p:nvSpPr>
        <p:spPr>
          <a:xfrm>
            <a:off x="533400" y="381000"/>
            <a:ext cx="50800" cy="495300"/>
          </a:xfrm>
          <a:prstGeom prst="rect">
            <a:avLst/>
          </a:prstGeom>
          <a:solidFill>
            <a:srgbClr val="37D9E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7649664C-ED5D-40D1-BCD8-2E271389D168}"/>
              </a:ext>
            </a:extLst>
          </p:cNvPr>
          <p:cNvSpPr txBox="1"/>
          <p:nvPr/>
        </p:nvSpPr>
        <p:spPr>
          <a:xfrm>
            <a:off x="9779000" y="927100"/>
            <a:ext cx="1676400" cy="230832"/>
          </a:xfrm>
          <a:prstGeom prst="rect">
            <a:avLst/>
          </a:prstGeom>
          <a:noFill/>
        </p:spPr>
        <p:txBody>
          <a:bodyPr vert="horz" rtlCol="0">
            <a:spAutoFit/>
          </a:bodyPr>
          <a:lstStyle/>
          <a:p>
            <a:pPr algn="r"/>
            <a:r>
              <a:rPr lang="en-US" sz="900">
                <a:solidFill>
                  <a:srgbClr val="85A0B8"/>
                </a:solidFill>
                <a:latin typeface="Bahnschrift" panose="020B0502040204020203" pitchFamily="34" charset="0"/>
              </a:rPr>
              <a:t>ANALYSIS  /  05</a:t>
            </a:r>
          </a:p>
        </p:txBody>
      </p:sp>
    </p:spTree>
    <p:extLst>
      <p:ext uri="{BB962C8B-B14F-4D97-AF65-F5344CB8AC3E}">
        <p14:creationId xmlns:p14="http://schemas.microsoft.com/office/powerpoint/2010/main" val="28345183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9288762-8882-4B46-9E53-D1A2AD19A5E8}"/>
              </a:ext>
            </a:extLst>
          </p:cNvPr>
          <p:cNvSpPr/>
          <p:nvPr/>
        </p:nvSpPr>
        <p:spPr>
          <a:xfrm>
            <a:off x="0" y="0"/>
            <a:ext cx="12192000" cy="6858000"/>
          </a:xfrm>
          <a:prstGeom prst="rect">
            <a:avLst/>
          </a:prstGeom>
          <a:solidFill>
            <a:srgbClr val="08122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B05BDA47-C063-49CB-A51E-D1DD71781ED9}"/>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254000" y="0"/>
            <a:ext cx="11684000" cy="6845300"/>
          </a:xfrm>
          <a:prstGeom prst="rect">
            <a:avLst/>
          </a:prstGeom>
        </p:spPr>
      </p:pic>
    </p:spTree>
    <p:extLst>
      <p:ext uri="{BB962C8B-B14F-4D97-AF65-F5344CB8AC3E}">
        <p14:creationId xmlns:p14="http://schemas.microsoft.com/office/powerpoint/2010/main" val="27365965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AB34B23-5642-4A56-9FD8-5B3BA387E132}"/>
              </a:ext>
            </a:extLst>
          </p:cNvPr>
          <p:cNvSpPr/>
          <p:nvPr/>
        </p:nvSpPr>
        <p:spPr>
          <a:xfrm>
            <a:off x="0" y="0"/>
            <a:ext cx="12192000" cy="6858000"/>
          </a:xfrm>
          <a:prstGeom prst="rect">
            <a:avLst/>
          </a:prstGeom>
          <a:solidFill>
            <a:srgbClr val="08122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11775ECF-82CD-4A71-8AD4-727023BEEA9D}"/>
              </a:ext>
            </a:extLst>
          </p:cNvPr>
          <p:cNvSpPr txBox="1"/>
          <p:nvPr/>
        </p:nvSpPr>
        <p:spPr>
          <a:xfrm>
            <a:off x="685800" y="368300"/>
            <a:ext cx="10795000" cy="492443"/>
          </a:xfrm>
          <a:prstGeom prst="rect">
            <a:avLst/>
          </a:prstGeom>
          <a:noFill/>
        </p:spPr>
        <p:txBody>
          <a:bodyPr vert="horz" wrap="square" lIns="0" tIns="0" rIns="0" bIns="0" rtlCol="0">
            <a:spAutoFit/>
          </a:bodyPr>
          <a:lstStyle/>
          <a:p>
            <a:r>
              <a:rPr lang="en-US" sz="3200" b="1">
                <a:solidFill>
                  <a:srgbClr val="EEF6FF"/>
                </a:solidFill>
                <a:latin typeface="Bahnschrift" panose="020B0502040204020203" pitchFamily="34" charset="0"/>
              </a:rPr>
              <a:t>Filtering changes frequency balance</a:t>
            </a:r>
          </a:p>
        </p:txBody>
      </p:sp>
      <p:cxnSp>
        <p:nvCxnSpPr>
          <p:cNvPr id="4" name="Straight Connector 3">
            <a:extLst>
              <a:ext uri="{FF2B5EF4-FFF2-40B4-BE49-F238E27FC236}">
                <a16:creationId xmlns:a16="http://schemas.microsoft.com/office/drawing/2014/main" id="{E3E84DFE-57CB-4CE4-8B22-228DF97F8273}"/>
              </a:ext>
            </a:extLst>
          </p:cNvPr>
          <p:cNvCxnSpPr/>
          <p:nvPr/>
        </p:nvCxnSpPr>
        <p:spPr>
          <a:xfrm>
            <a:off x="685800" y="1168400"/>
            <a:ext cx="10820400" cy="0"/>
          </a:xfrm>
          <a:prstGeom prst="line">
            <a:avLst/>
          </a:prstGeom>
          <a:ln w="17780">
            <a:solidFill>
              <a:srgbClr val="37D9E9"/>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6D053F3E-16B1-4073-952C-83FBEFB0689E}"/>
              </a:ext>
            </a:extLst>
          </p:cNvPr>
          <p:cNvSpPr txBox="1"/>
          <p:nvPr/>
        </p:nvSpPr>
        <p:spPr>
          <a:xfrm>
            <a:off x="685800" y="6502400"/>
            <a:ext cx="3810000" cy="153888"/>
          </a:xfrm>
          <a:prstGeom prst="rect">
            <a:avLst/>
          </a:prstGeom>
          <a:noFill/>
        </p:spPr>
        <p:txBody>
          <a:bodyPr vert="horz" wrap="square" lIns="0" tIns="0" rIns="0" bIns="0" rtlCol="0">
            <a:spAutoFit/>
          </a:bodyPr>
          <a:lstStyle/>
          <a:p>
            <a:r>
              <a:rPr lang="en-US" sz="1000" b="1">
                <a:solidFill>
                  <a:srgbClr val="85A0B8"/>
                </a:solidFill>
                <a:latin typeface="Aptos"/>
              </a:rPr>
              <a:t>SIGNAL STUDIO</a:t>
            </a:r>
          </a:p>
        </p:txBody>
      </p:sp>
      <p:sp>
        <p:nvSpPr>
          <p:cNvPr id="6" name="TextBox 5">
            <a:extLst>
              <a:ext uri="{FF2B5EF4-FFF2-40B4-BE49-F238E27FC236}">
                <a16:creationId xmlns:a16="http://schemas.microsoft.com/office/drawing/2014/main" id="{377E5A36-11A5-49D9-B99C-ACEAE15E77E7}"/>
              </a:ext>
            </a:extLst>
          </p:cNvPr>
          <p:cNvSpPr txBox="1"/>
          <p:nvPr/>
        </p:nvSpPr>
        <p:spPr>
          <a:xfrm>
            <a:off x="11430000" y="6502400"/>
            <a:ext cx="444500" cy="153888"/>
          </a:xfrm>
          <a:prstGeom prst="rect">
            <a:avLst/>
          </a:prstGeom>
          <a:noFill/>
        </p:spPr>
        <p:txBody>
          <a:bodyPr vert="horz" wrap="square" lIns="0" tIns="0" rIns="0" bIns="0" rtlCol="0">
            <a:spAutoFit/>
          </a:bodyPr>
          <a:lstStyle/>
          <a:p>
            <a:pPr algn="r"/>
            <a:r>
              <a:rPr lang="en-US" sz="1000" b="1">
                <a:solidFill>
                  <a:srgbClr val="37D9E9"/>
                </a:solidFill>
                <a:latin typeface="Bahnschrift" panose="020B0502040204020203" pitchFamily="34" charset="0"/>
              </a:rPr>
              <a:t>7</a:t>
            </a:r>
          </a:p>
        </p:txBody>
      </p:sp>
      <p:pic>
        <p:nvPicPr>
          <p:cNvPr id="8" name="Picture 7">
            <a:extLst>
              <a:ext uri="{FF2B5EF4-FFF2-40B4-BE49-F238E27FC236}">
                <a16:creationId xmlns:a16="http://schemas.microsoft.com/office/drawing/2014/main" id="{A5576112-8C9A-42DB-9C64-4D554B507466}"/>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33400" y="1358900"/>
            <a:ext cx="11125200" cy="4368800"/>
          </a:xfrm>
          <a:prstGeom prst="rect">
            <a:avLst/>
          </a:prstGeom>
        </p:spPr>
      </p:pic>
      <p:sp>
        <p:nvSpPr>
          <p:cNvPr id="9" name="TextBox 8">
            <a:extLst>
              <a:ext uri="{FF2B5EF4-FFF2-40B4-BE49-F238E27FC236}">
                <a16:creationId xmlns:a16="http://schemas.microsoft.com/office/drawing/2014/main" id="{035B2A2B-B414-4F43-9E87-D342BEDBE186}"/>
              </a:ext>
            </a:extLst>
          </p:cNvPr>
          <p:cNvSpPr txBox="1"/>
          <p:nvPr/>
        </p:nvSpPr>
        <p:spPr>
          <a:xfrm>
            <a:off x="774700" y="5816600"/>
            <a:ext cx="10655300" cy="276999"/>
          </a:xfrm>
          <a:prstGeom prst="rect">
            <a:avLst/>
          </a:prstGeom>
          <a:noFill/>
        </p:spPr>
        <p:txBody>
          <a:bodyPr vert="horz" wrap="square" lIns="0" tIns="0" rIns="0" bIns="0" rtlCol="0">
            <a:spAutoFit/>
          </a:bodyPr>
          <a:lstStyle/>
          <a:p>
            <a:r>
              <a:rPr lang="en-US">
                <a:solidFill>
                  <a:srgbClr val="CCDDEC"/>
                </a:solidFill>
                <a:latin typeface="Aptos"/>
              </a:rPr>
              <a:t>The song spectrum is measured. The second curve illustrates a 1 kHz Butterworth low-pass response.</a:t>
            </a:r>
          </a:p>
        </p:txBody>
      </p:sp>
      <p:sp>
        <p:nvSpPr>
          <p:cNvPr id="7" name="Rectangle 6">
            <a:extLst>
              <a:ext uri="{FF2B5EF4-FFF2-40B4-BE49-F238E27FC236}">
                <a16:creationId xmlns:a16="http://schemas.microsoft.com/office/drawing/2014/main" id="{4503B192-2378-498A-9A1B-4B027F1C8C14}"/>
              </a:ext>
            </a:extLst>
          </p:cNvPr>
          <p:cNvSpPr/>
          <p:nvPr/>
        </p:nvSpPr>
        <p:spPr>
          <a:xfrm>
            <a:off x="533400" y="381000"/>
            <a:ext cx="50800" cy="495300"/>
          </a:xfrm>
          <a:prstGeom prst="rect">
            <a:avLst/>
          </a:prstGeom>
          <a:solidFill>
            <a:srgbClr val="37D9E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50A63025-11F3-41A4-8F1D-6811DD7839AB}"/>
              </a:ext>
            </a:extLst>
          </p:cNvPr>
          <p:cNvSpPr txBox="1"/>
          <p:nvPr/>
        </p:nvSpPr>
        <p:spPr>
          <a:xfrm>
            <a:off x="9779000" y="927100"/>
            <a:ext cx="1676400" cy="230832"/>
          </a:xfrm>
          <a:prstGeom prst="rect">
            <a:avLst/>
          </a:prstGeom>
          <a:noFill/>
        </p:spPr>
        <p:txBody>
          <a:bodyPr vert="horz" rtlCol="0">
            <a:spAutoFit/>
          </a:bodyPr>
          <a:lstStyle/>
          <a:p>
            <a:pPr algn="r"/>
            <a:r>
              <a:rPr lang="en-US" sz="900">
                <a:solidFill>
                  <a:srgbClr val="85A0B8"/>
                </a:solidFill>
                <a:latin typeface="Bahnschrift" panose="020B0502040204020203" pitchFamily="34" charset="0"/>
              </a:rPr>
              <a:t>ANALYSIS  /  07</a:t>
            </a:r>
          </a:p>
        </p:txBody>
      </p:sp>
    </p:spTree>
    <p:extLst>
      <p:ext uri="{BB962C8B-B14F-4D97-AF65-F5344CB8AC3E}">
        <p14:creationId xmlns:p14="http://schemas.microsoft.com/office/powerpoint/2010/main" val="14182908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2894C9-84A0-4A21-A118-F4418C43E11B}"/>
              </a:ext>
            </a:extLst>
          </p:cNvPr>
          <p:cNvSpPr/>
          <p:nvPr/>
        </p:nvSpPr>
        <p:spPr>
          <a:xfrm>
            <a:off x="0" y="0"/>
            <a:ext cx="12192000" cy="6858000"/>
          </a:xfrm>
          <a:prstGeom prst="rect">
            <a:avLst/>
          </a:prstGeom>
          <a:solidFill>
            <a:srgbClr val="08122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A3ADC73B-33B4-4813-AF43-64CABC3C2503}"/>
              </a:ext>
            </a:extLst>
          </p:cNvPr>
          <p:cNvSpPr txBox="1"/>
          <p:nvPr/>
        </p:nvSpPr>
        <p:spPr>
          <a:xfrm>
            <a:off x="685800" y="368300"/>
            <a:ext cx="10795000" cy="430887"/>
          </a:xfrm>
          <a:prstGeom prst="rect">
            <a:avLst/>
          </a:prstGeom>
          <a:noFill/>
        </p:spPr>
        <p:txBody>
          <a:bodyPr vert="horz" wrap="square" lIns="0" tIns="0" rIns="0" bIns="0" rtlCol="0">
            <a:spAutoFit/>
          </a:bodyPr>
          <a:lstStyle/>
          <a:p>
            <a:r>
              <a:rPr lang="en-US" sz="2800" b="1">
                <a:solidFill>
                  <a:srgbClr val="EEF6FF"/>
                </a:solidFill>
                <a:latin typeface="Bahnschrift" panose="020B0502040204020203" pitchFamily="34" charset="0"/>
              </a:rPr>
              <a:t>Delay: copies in time</a:t>
            </a:r>
          </a:p>
        </p:txBody>
      </p:sp>
      <p:cxnSp>
        <p:nvCxnSpPr>
          <p:cNvPr id="4" name="Straight Connector 3">
            <a:extLst>
              <a:ext uri="{FF2B5EF4-FFF2-40B4-BE49-F238E27FC236}">
                <a16:creationId xmlns:a16="http://schemas.microsoft.com/office/drawing/2014/main" id="{98218E7A-BDB0-43DE-B17A-BD0BED9F5092}"/>
              </a:ext>
            </a:extLst>
          </p:cNvPr>
          <p:cNvCxnSpPr/>
          <p:nvPr/>
        </p:nvCxnSpPr>
        <p:spPr>
          <a:xfrm>
            <a:off x="685800" y="1168400"/>
            <a:ext cx="10820400" cy="0"/>
          </a:xfrm>
          <a:prstGeom prst="line">
            <a:avLst/>
          </a:prstGeom>
          <a:ln w="17780">
            <a:solidFill>
              <a:srgbClr val="37D9E9"/>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1BA0986B-7D24-4BF2-9A46-E7A3A799E4B1}"/>
              </a:ext>
            </a:extLst>
          </p:cNvPr>
          <p:cNvSpPr txBox="1"/>
          <p:nvPr/>
        </p:nvSpPr>
        <p:spPr>
          <a:xfrm>
            <a:off x="685800" y="6502400"/>
            <a:ext cx="3810000" cy="153888"/>
          </a:xfrm>
          <a:prstGeom prst="rect">
            <a:avLst/>
          </a:prstGeom>
          <a:noFill/>
        </p:spPr>
        <p:txBody>
          <a:bodyPr vert="horz" wrap="square" lIns="0" tIns="0" rIns="0" bIns="0" rtlCol="0">
            <a:spAutoFit/>
          </a:bodyPr>
          <a:lstStyle/>
          <a:p>
            <a:r>
              <a:rPr lang="en-US" sz="1000" b="1">
                <a:solidFill>
                  <a:srgbClr val="85A0B8"/>
                </a:solidFill>
                <a:latin typeface="Aptos"/>
              </a:rPr>
              <a:t>SIGNAL STUDIO</a:t>
            </a:r>
          </a:p>
        </p:txBody>
      </p:sp>
      <p:sp>
        <p:nvSpPr>
          <p:cNvPr id="6" name="TextBox 5">
            <a:extLst>
              <a:ext uri="{FF2B5EF4-FFF2-40B4-BE49-F238E27FC236}">
                <a16:creationId xmlns:a16="http://schemas.microsoft.com/office/drawing/2014/main" id="{437D206C-41B9-4B28-966C-09180326BEA2}"/>
              </a:ext>
            </a:extLst>
          </p:cNvPr>
          <p:cNvSpPr txBox="1"/>
          <p:nvPr/>
        </p:nvSpPr>
        <p:spPr>
          <a:xfrm>
            <a:off x="11430000" y="6502400"/>
            <a:ext cx="444500" cy="153888"/>
          </a:xfrm>
          <a:prstGeom prst="rect">
            <a:avLst/>
          </a:prstGeom>
          <a:noFill/>
        </p:spPr>
        <p:txBody>
          <a:bodyPr vert="horz" wrap="square" lIns="0" tIns="0" rIns="0" bIns="0" rtlCol="0">
            <a:spAutoFit/>
          </a:bodyPr>
          <a:lstStyle/>
          <a:p>
            <a:pPr algn="r"/>
            <a:r>
              <a:rPr lang="en-US" sz="1000" b="1">
                <a:solidFill>
                  <a:srgbClr val="37D9E9"/>
                </a:solidFill>
                <a:latin typeface="Bahnschrift" panose="020B0502040204020203" pitchFamily="34" charset="0"/>
              </a:rPr>
              <a:t>8</a:t>
            </a:r>
          </a:p>
        </p:txBody>
      </p:sp>
      <p:sp>
        <p:nvSpPr>
          <p:cNvPr id="22" name="TextBox 21">
            <a:extLst>
              <a:ext uri="{FF2B5EF4-FFF2-40B4-BE49-F238E27FC236}">
                <a16:creationId xmlns:a16="http://schemas.microsoft.com/office/drawing/2014/main" id="{15CEFB40-D1C1-41F0-B7ED-83053F68901F}"/>
              </a:ext>
            </a:extLst>
          </p:cNvPr>
          <p:cNvSpPr txBox="1"/>
          <p:nvPr/>
        </p:nvSpPr>
        <p:spPr>
          <a:xfrm>
            <a:off x="889000" y="1549400"/>
            <a:ext cx="7620000" cy="230832"/>
          </a:xfrm>
          <a:prstGeom prst="rect">
            <a:avLst/>
          </a:prstGeom>
          <a:noFill/>
        </p:spPr>
        <p:txBody>
          <a:bodyPr vert="horz" wrap="square" lIns="0" tIns="0" rIns="0" bIns="0" rtlCol="0">
            <a:spAutoFit/>
          </a:bodyPr>
          <a:lstStyle/>
          <a:p>
            <a:r>
              <a:rPr lang="en-US" sz="1500" b="1">
                <a:solidFill>
                  <a:srgbClr val="37D9E9"/>
                </a:solidFill>
                <a:latin typeface="Bahnschrift" panose="020B0502040204020203" pitchFamily="34" charset="0"/>
              </a:rPr>
              <a:t>FOLLOW ONE SOUND EVENT</a:t>
            </a:r>
          </a:p>
        </p:txBody>
      </p:sp>
      <p:sp>
        <p:nvSpPr>
          <p:cNvPr id="23" name="Rectangle 22">
            <a:extLst>
              <a:ext uri="{FF2B5EF4-FFF2-40B4-BE49-F238E27FC236}">
                <a16:creationId xmlns:a16="http://schemas.microsoft.com/office/drawing/2014/main" id="{16E9FE4F-E65A-4591-97CD-F055E05A65A2}"/>
              </a:ext>
            </a:extLst>
          </p:cNvPr>
          <p:cNvSpPr/>
          <p:nvPr/>
        </p:nvSpPr>
        <p:spPr>
          <a:xfrm>
            <a:off x="863600" y="2006600"/>
            <a:ext cx="10464800" cy="2260600"/>
          </a:xfrm>
          <a:prstGeom prst="rect">
            <a:avLst/>
          </a:prstGeom>
          <a:solidFill>
            <a:srgbClr val="0F2235"/>
          </a:solidFill>
          <a:ln w="10160">
            <a:solidFill>
              <a:srgbClr val="264B6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15763894-244D-4E6F-9389-505EF1E391E6}"/>
              </a:ext>
            </a:extLst>
          </p:cNvPr>
          <p:cNvSpPr txBox="1"/>
          <p:nvPr/>
        </p:nvSpPr>
        <p:spPr>
          <a:xfrm>
            <a:off x="1079500" y="2451100"/>
            <a:ext cx="952500" cy="215444"/>
          </a:xfrm>
          <a:prstGeom prst="rect">
            <a:avLst/>
          </a:prstGeom>
          <a:noFill/>
        </p:spPr>
        <p:txBody>
          <a:bodyPr vert="horz" wrap="square" lIns="0" tIns="0" rIns="0" bIns="0" rtlCol="0">
            <a:spAutoFit/>
          </a:bodyPr>
          <a:lstStyle/>
          <a:p>
            <a:r>
              <a:rPr lang="en-US" sz="1400">
                <a:solidFill>
                  <a:srgbClr val="85A0B8"/>
                </a:solidFill>
                <a:latin typeface="Aptos"/>
              </a:rPr>
              <a:t>input</a:t>
            </a:r>
          </a:p>
        </p:txBody>
      </p:sp>
      <p:sp>
        <p:nvSpPr>
          <p:cNvPr id="25" name="TextBox 24">
            <a:extLst>
              <a:ext uri="{FF2B5EF4-FFF2-40B4-BE49-F238E27FC236}">
                <a16:creationId xmlns:a16="http://schemas.microsoft.com/office/drawing/2014/main" id="{AA091E7E-9D07-4C9B-88B2-18828F98910D}"/>
              </a:ext>
            </a:extLst>
          </p:cNvPr>
          <p:cNvSpPr txBox="1"/>
          <p:nvPr/>
        </p:nvSpPr>
        <p:spPr>
          <a:xfrm>
            <a:off x="1079500" y="3403600"/>
            <a:ext cx="952500" cy="215444"/>
          </a:xfrm>
          <a:prstGeom prst="rect">
            <a:avLst/>
          </a:prstGeom>
          <a:noFill/>
        </p:spPr>
        <p:txBody>
          <a:bodyPr vert="horz" wrap="square" lIns="0" tIns="0" rIns="0" bIns="0" rtlCol="0">
            <a:spAutoFit/>
          </a:bodyPr>
          <a:lstStyle/>
          <a:p>
            <a:r>
              <a:rPr lang="en-US" sz="1400">
                <a:solidFill>
                  <a:srgbClr val="85A0B8"/>
                </a:solidFill>
                <a:latin typeface="Aptos"/>
              </a:rPr>
              <a:t>output</a:t>
            </a:r>
          </a:p>
        </p:txBody>
      </p:sp>
      <p:cxnSp>
        <p:nvCxnSpPr>
          <p:cNvPr id="26" name="Straight Connector 25">
            <a:extLst>
              <a:ext uri="{FF2B5EF4-FFF2-40B4-BE49-F238E27FC236}">
                <a16:creationId xmlns:a16="http://schemas.microsoft.com/office/drawing/2014/main" id="{0F4951A3-6EE2-4079-8C84-291FB67F14A0}"/>
              </a:ext>
            </a:extLst>
          </p:cNvPr>
          <p:cNvCxnSpPr/>
          <p:nvPr/>
        </p:nvCxnSpPr>
        <p:spPr>
          <a:xfrm>
            <a:off x="2159000" y="2895600"/>
            <a:ext cx="8610600" cy="0"/>
          </a:xfrm>
          <a:prstGeom prst="line">
            <a:avLst/>
          </a:prstGeom>
          <a:ln w="17780">
            <a:solidFill>
              <a:srgbClr val="264B63"/>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AB25D4DE-C153-4EA8-B38A-CB679B953D72}"/>
              </a:ext>
            </a:extLst>
          </p:cNvPr>
          <p:cNvCxnSpPr/>
          <p:nvPr/>
        </p:nvCxnSpPr>
        <p:spPr>
          <a:xfrm>
            <a:off x="2159000" y="3848100"/>
            <a:ext cx="8610600" cy="0"/>
          </a:xfrm>
          <a:prstGeom prst="line">
            <a:avLst/>
          </a:prstGeom>
          <a:ln w="17780">
            <a:solidFill>
              <a:srgbClr val="264B63"/>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1D8DE879-E512-46DF-88BC-45CA005C4459}"/>
              </a:ext>
            </a:extLst>
          </p:cNvPr>
          <p:cNvCxnSpPr/>
          <p:nvPr/>
        </p:nvCxnSpPr>
        <p:spPr>
          <a:xfrm flipV="1">
            <a:off x="2476500" y="2387600"/>
            <a:ext cx="0" cy="508000"/>
          </a:xfrm>
          <a:prstGeom prst="line">
            <a:avLst/>
          </a:prstGeom>
          <a:ln w="57150">
            <a:solidFill>
              <a:srgbClr val="37D9E9"/>
            </a:solidFill>
          </a:ln>
        </p:spPr>
        <p:style>
          <a:lnRef idx="1">
            <a:schemeClr val="accent1"/>
          </a:lnRef>
          <a:fillRef idx="0">
            <a:schemeClr val="accent1"/>
          </a:fillRef>
          <a:effectRef idx="0">
            <a:schemeClr val="accent1"/>
          </a:effectRef>
          <a:fontRef idx="minor">
            <a:schemeClr val="tx1"/>
          </a:fontRef>
        </p:style>
      </p:cxnSp>
      <p:sp>
        <p:nvSpPr>
          <p:cNvPr id="29" name="Oval 28">
            <a:extLst>
              <a:ext uri="{FF2B5EF4-FFF2-40B4-BE49-F238E27FC236}">
                <a16:creationId xmlns:a16="http://schemas.microsoft.com/office/drawing/2014/main" id="{99F6C418-C517-45AB-B1F0-DC964BEB0985}"/>
              </a:ext>
            </a:extLst>
          </p:cNvPr>
          <p:cNvSpPr/>
          <p:nvPr/>
        </p:nvSpPr>
        <p:spPr>
          <a:xfrm>
            <a:off x="2425700" y="2336800"/>
            <a:ext cx="101600" cy="101600"/>
          </a:xfrm>
          <a:prstGeom prst="ellipse">
            <a:avLst/>
          </a:prstGeom>
          <a:solidFill>
            <a:srgbClr val="37D9E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0" name="Straight Connector 29">
            <a:extLst>
              <a:ext uri="{FF2B5EF4-FFF2-40B4-BE49-F238E27FC236}">
                <a16:creationId xmlns:a16="http://schemas.microsoft.com/office/drawing/2014/main" id="{28BA4D77-79A9-4075-BAD4-6BB7DC1966A4}"/>
              </a:ext>
            </a:extLst>
          </p:cNvPr>
          <p:cNvCxnSpPr/>
          <p:nvPr/>
        </p:nvCxnSpPr>
        <p:spPr>
          <a:xfrm flipV="1">
            <a:off x="2476500" y="3340100"/>
            <a:ext cx="0" cy="508000"/>
          </a:xfrm>
          <a:prstGeom prst="line">
            <a:avLst/>
          </a:prstGeom>
          <a:ln w="57150">
            <a:solidFill>
              <a:srgbClr val="37D9E9"/>
            </a:solidFill>
          </a:ln>
        </p:spPr>
        <p:style>
          <a:lnRef idx="1">
            <a:schemeClr val="accent1"/>
          </a:lnRef>
          <a:fillRef idx="0">
            <a:schemeClr val="accent1"/>
          </a:fillRef>
          <a:effectRef idx="0">
            <a:schemeClr val="accent1"/>
          </a:effectRef>
          <a:fontRef idx="minor">
            <a:schemeClr val="tx1"/>
          </a:fontRef>
        </p:style>
      </p:cxnSp>
      <p:sp>
        <p:nvSpPr>
          <p:cNvPr id="31" name="Oval 30">
            <a:extLst>
              <a:ext uri="{FF2B5EF4-FFF2-40B4-BE49-F238E27FC236}">
                <a16:creationId xmlns:a16="http://schemas.microsoft.com/office/drawing/2014/main" id="{5AC10972-FDCB-45AE-BE8E-60B6AF12728B}"/>
              </a:ext>
            </a:extLst>
          </p:cNvPr>
          <p:cNvSpPr/>
          <p:nvPr/>
        </p:nvSpPr>
        <p:spPr>
          <a:xfrm>
            <a:off x="2425700" y="3289300"/>
            <a:ext cx="101600" cy="101600"/>
          </a:xfrm>
          <a:prstGeom prst="ellipse">
            <a:avLst/>
          </a:prstGeom>
          <a:solidFill>
            <a:srgbClr val="37D9E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2" name="Straight Connector 31">
            <a:extLst>
              <a:ext uri="{FF2B5EF4-FFF2-40B4-BE49-F238E27FC236}">
                <a16:creationId xmlns:a16="http://schemas.microsoft.com/office/drawing/2014/main" id="{1CD8B3A5-0595-4AE1-B781-4E5E33847015}"/>
              </a:ext>
            </a:extLst>
          </p:cNvPr>
          <p:cNvCxnSpPr/>
          <p:nvPr/>
        </p:nvCxnSpPr>
        <p:spPr>
          <a:xfrm>
            <a:off x="2476500" y="3911600"/>
            <a:ext cx="0" cy="88900"/>
          </a:xfrm>
          <a:prstGeom prst="line">
            <a:avLst/>
          </a:prstGeom>
          <a:ln w="12700">
            <a:solidFill>
              <a:srgbClr val="264B63"/>
            </a:solidFill>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32BAF329-DAD5-4187-9304-14BD08FD9705}"/>
              </a:ext>
            </a:extLst>
          </p:cNvPr>
          <p:cNvSpPr txBox="1"/>
          <p:nvPr/>
        </p:nvSpPr>
        <p:spPr>
          <a:xfrm>
            <a:off x="2120900" y="4013200"/>
            <a:ext cx="723900" cy="169277"/>
          </a:xfrm>
          <a:prstGeom prst="rect">
            <a:avLst/>
          </a:prstGeom>
          <a:noFill/>
        </p:spPr>
        <p:txBody>
          <a:bodyPr vert="horz" wrap="square" lIns="0" tIns="0" rIns="0" bIns="0" rtlCol="0">
            <a:spAutoFit/>
          </a:bodyPr>
          <a:lstStyle/>
          <a:p>
            <a:r>
              <a:rPr lang="en-US" sz="1100">
                <a:solidFill>
                  <a:srgbClr val="85A0B8"/>
                </a:solidFill>
                <a:latin typeface="Aptos"/>
              </a:rPr>
              <a:t>0</a:t>
            </a:r>
          </a:p>
        </p:txBody>
      </p:sp>
      <p:cxnSp>
        <p:nvCxnSpPr>
          <p:cNvPr id="34" name="Straight Connector 33">
            <a:extLst>
              <a:ext uri="{FF2B5EF4-FFF2-40B4-BE49-F238E27FC236}">
                <a16:creationId xmlns:a16="http://schemas.microsoft.com/office/drawing/2014/main" id="{0CD74EBE-F2E8-489B-9CC1-238B756D27A3}"/>
              </a:ext>
            </a:extLst>
          </p:cNvPr>
          <p:cNvCxnSpPr/>
          <p:nvPr/>
        </p:nvCxnSpPr>
        <p:spPr>
          <a:xfrm>
            <a:off x="4318000" y="3911600"/>
            <a:ext cx="0" cy="88900"/>
          </a:xfrm>
          <a:prstGeom prst="line">
            <a:avLst/>
          </a:prstGeom>
          <a:ln w="12700">
            <a:solidFill>
              <a:srgbClr val="264B63"/>
            </a:solidFill>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592E0DB8-35FC-4290-B021-AB7F6DA2BDB3}"/>
              </a:ext>
            </a:extLst>
          </p:cNvPr>
          <p:cNvSpPr txBox="1"/>
          <p:nvPr/>
        </p:nvSpPr>
        <p:spPr>
          <a:xfrm>
            <a:off x="3962400" y="4013200"/>
            <a:ext cx="723900" cy="169277"/>
          </a:xfrm>
          <a:prstGeom prst="rect">
            <a:avLst/>
          </a:prstGeom>
          <a:noFill/>
        </p:spPr>
        <p:txBody>
          <a:bodyPr vert="horz" wrap="square" lIns="0" tIns="0" rIns="0" bIns="0" rtlCol="0">
            <a:spAutoFit/>
          </a:bodyPr>
          <a:lstStyle/>
          <a:p>
            <a:r>
              <a:rPr lang="en-US" sz="1100">
                <a:solidFill>
                  <a:srgbClr val="85A0B8"/>
                </a:solidFill>
                <a:latin typeface="Aptos"/>
              </a:rPr>
              <a:t>0.3 s</a:t>
            </a:r>
          </a:p>
        </p:txBody>
      </p:sp>
      <p:cxnSp>
        <p:nvCxnSpPr>
          <p:cNvPr id="36" name="Straight Connector 35">
            <a:extLst>
              <a:ext uri="{FF2B5EF4-FFF2-40B4-BE49-F238E27FC236}">
                <a16:creationId xmlns:a16="http://schemas.microsoft.com/office/drawing/2014/main" id="{AD803AD6-7013-47C2-80A7-1146B6F6283F}"/>
              </a:ext>
            </a:extLst>
          </p:cNvPr>
          <p:cNvCxnSpPr/>
          <p:nvPr/>
        </p:nvCxnSpPr>
        <p:spPr>
          <a:xfrm>
            <a:off x="6159500" y="3911600"/>
            <a:ext cx="0" cy="88900"/>
          </a:xfrm>
          <a:prstGeom prst="line">
            <a:avLst/>
          </a:prstGeom>
          <a:ln w="12700">
            <a:solidFill>
              <a:srgbClr val="264B63"/>
            </a:solidFill>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0C52AED3-236E-4DE8-9AD6-6F2435A21880}"/>
              </a:ext>
            </a:extLst>
          </p:cNvPr>
          <p:cNvSpPr txBox="1"/>
          <p:nvPr/>
        </p:nvSpPr>
        <p:spPr>
          <a:xfrm>
            <a:off x="5803900" y="4013200"/>
            <a:ext cx="723900" cy="169277"/>
          </a:xfrm>
          <a:prstGeom prst="rect">
            <a:avLst/>
          </a:prstGeom>
          <a:noFill/>
        </p:spPr>
        <p:txBody>
          <a:bodyPr vert="horz" wrap="square" lIns="0" tIns="0" rIns="0" bIns="0" rtlCol="0">
            <a:spAutoFit/>
          </a:bodyPr>
          <a:lstStyle/>
          <a:p>
            <a:r>
              <a:rPr lang="en-US" sz="1100">
                <a:solidFill>
                  <a:srgbClr val="85A0B8"/>
                </a:solidFill>
                <a:latin typeface="Aptos"/>
              </a:rPr>
              <a:t>0.6 s</a:t>
            </a:r>
          </a:p>
        </p:txBody>
      </p:sp>
      <p:cxnSp>
        <p:nvCxnSpPr>
          <p:cNvPr id="38" name="Straight Connector 37">
            <a:extLst>
              <a:ext uri="{FF2B5EF4-FFF2-40B4-BE49-F238E27FC236}">
                <a16:creationId xmlns:a16="http://schemas.microsoft.com/office/drawing/2014/main" id="{B3DCD51C-733B-4DD0-A27F-82D0EF904C2B}"/>
              </a:ext>
            </a:extLst>
          </p:cNvPr>
          <p:cNvCxnSpPr/>
          <p:nvPr/>
        </p:nvCxnSpPr>
        <p:spPr>
          <a:xfrm>
            <a:off x="8001000" y="3911600"/>
            <a:ext cx="0" cy="88900"/>
          </a:xfrm>
          <a:prstGeom prst="line">
            <a:avLst/>
          </a:prstGeom>
          <a:ln w="12700">
            <a:solidFill>
              <a:srgbClr val="264B63"/>
            </a:solidFill>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1CC030EC-6E33-400C-8337-71AEDD3C19A5}"/>
              </a:ext>
            </a:extLst>
          </p:cNvPr>
          <p:cNvSpPr txBox="1"/>
          <p:nvPr/>
        </p:nvSpPr>
        <p:spPr>
          <a:xfrm>
            <a:off x="7645400" y="4013200"/>
            <a:ext cx="723900" cy="169277"/>
          </a:xfrm>
          <a:prstGeom prst="rect">
            <a:avLst/>
          </a:prstGeom>
          <a:noFill/>
        </p:spPr>
        <p:txBody>
          <a:bodyPr vert="horz" wrap="square" lIns="0" tIns="0" rIns="0" bIns="0" rtlCol="0">
            <a:spAutoFit/>
          </a:bodyPr>
          <a:lstStyle/>
          <a:p>
            <a:r>
              <a:rPr lang="en-US" sz="1100">
                <a:solidFill>
                  <a:srgbClr val="85A0B8"/>
                </a:solidFill>
                <a:latin typeface="Aptos"/>
              </a:rPr>
              <a:t>0.9 s</a:t>
            </a:r>
          </a:p>
        </p:txBody>
      </p:sp>
      <p:cxnSp>
        <p:nvCxnSpPr>
          <p:cNvPr id="40" name="Straight Connector 39">
            <a:extLst>
              <a:ext uri="{FF2B5EF4-FFF2-40B4-BE49-F238E27FC236}">
                <a16:creationId xmlns:a16="http://schemas.microsoft.com/office/drawing/2014/main" id="{D2463214-B627-485D-BFA1-8B98752A422E}"/>
              </a:ext>
            </a:extLst>
          </p:cNvPr>
          <p:cNvCxnSpPr/>
          <p:nvPr/>
        </p:nvCxnSpPr>
        <p:spPr>
          <a:xfrm>
            <a:off x="9842500" y="3911600"/>
            <a:ext cx="0" cy="88900"/>
          </a:xfrm>
          <a:prstGeom prst="line">
            <a:avLst/>
          </a:prstGeom>
          <a:ln w="12700">
            <a:solidFill>
              <a:srgbClr val="264B63"/>
            </a:solidFill>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BC570FDB-3657-4469-AE66-19536CFA91EE}"/>
              </a:ext>
            </a:extLst>
          </p:cNvPr>
          <p:cNvSpPr txBox="1"/>
          <p:nvPr/>
        </p:nvSpPr>
        <p:spPr>
          <a:xfrm>
            <a:off x="9486900" y="4013200"/>
            <a:ext cx="723900" cy="169277"/>
          </a:xfrm>
          <a:prstGeom prst="rect">
            <a:avLst/>
          </a:prstGeom>
          <a:noFill/>
        </p:spPr>
        <p:txBody>
          <a:bodyPr vert="horz" wrap="square" lIns="0" tIns="0" rIns="0" bIns="0" rtlCol="0">
            <a:spAutoFit/>
          </a:bodyPr>
          <a:lstStyle/>
          <a:p>
            <a:r>
              <a:rPr lang="en-US" sz="1100">
                <a:solidFill>
                  <a:srgbClr val="85A0B8"/>
                </a:solidFill>
                <a:latin typeface="Aptos"/>
              </a:rPr>
              <a:t>1.2 s</a:t>
            </a:r>
          </a:p>
        </p:txBody>
      </p:sp>
      <p:cxnSp>
        <p:nvCxnSpPr>
          <p:cNvPr id="42" name="Straight Connector 41">
            <a:extLst>
              <a:ext uri="{FF2B5EF4-FFF2-40B4-BE49-F238E27FC236}">
                <a16:creationId xmlns:a16="http://schemas.microsoft.com/office/drawing/2014/main" id="{2840B040-8416-4BFB-8593-63A3D043FCFA}"/>
              </a:ext>
            </a:extLst>
          </p:cNvPr>
          <p:cNvCxnSpPr/>
          <p:nvPr/>
        </p:nvCxnSpPr>
        <p:spPr>
          <a:xfrm flipV="1">
            <a:off x="4318000" y="3454400"/>
            <a:ext cx="0" cy="393700"/>
          </a:xfrm>
          <a:prstGeom prst="line">
            <a:avLst/>
          </a:prstGeom>
          <a:ln w="57150">
            <a:solidFill>
              <a:srgbClr val="FF64A5"/>
            </a:solidFill>
          </a:ln>
        </p:spPr>
        <p:style>
          <a:lnRef idx="1">
            <a:schemeClr val="accent1"/>
          </a:lnRef>
          <a:fillRef idx="0">
            <a:schemeClr val="accent1"/>
          </a:fillRef>
          <a:effectRef idx="0">
            <a:schemeClr val="accent1"/>
          </a:effectRef>
          <a:fontRef idx="minor">
            <a:schemeClr val="tx1"/>
          </a:fontRef>
        </p:style>
      </p:cxnSp>
      <p:sp>
        <p:nvSpPr>
          <p:cNvPr id="43" name="Oval 42">
            <a:extLst>
              <a:ext uri="{FF2B5EF4-FFF2-40B4-BE49-F238E27FC236}">
                <a16:creationId xmlns:a16="http://schemas.microsoft.com/office/drawing/2014/main" id="{A8EA7A67-59B5-4A82-A8AF-B07A00F70B24}"/>
              </a:ext>
            </a:extLst>
          </p:cNvPr>
          <p:cNvSpPr/>
          <p:nvPr/>
        </p:nvSpPr>
        <p:spPr>
          <a:xfrm>
            <a:off x="4267200" y="3403600"/>
            <a:ext cx="101600" cy="101600"/>
          </a:xfrm>
          <a:prstGeom prst="ellipse">
            <a:avLst/>
          </a:prstGeom>
          <a:solidFill>
            <a:srgbClr val="FF64A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TextBox 43">
            <a:extLst>
              <a:ext uri="{FF2B5EF4-FFF2-40B4-BE49-F238E27FC236}">
                <a16:creationId xmlns:a16="http://schemas.microsoft.com/office/drawing/2014/main" id="{49B97299-BAC7-4E63-AA9F-617117593B4A}"/>
              </a:ext>
            </a:extLst>
          </p:cNvPr>
          <p:cNvSpPr txBox="1"/>
          <p:nvPr/>
        </p:nvSpPr>
        <p:spPr>
          <a:xfrm>
            <a:off x="4089400" y="3111500"/>
            <a:ext cx="2286000" cy="230832"/>
          </a:xfrm>
          <a:prstGeom prst="rect">
            <a:avLst/>
          </a:prstGeom>
          <a:noFill/>
        </p:spPr>
        <p:txBody>
          <a:bodyPr vert="horz" wrap="square" lIns="0" tIns="0" rIns="0" bIns="0" rtlCol="0">
            <a:spAutoFit/>
          </a:bodyPr>
          <a:lstStyle/>
          <a:p>
            <a:r>
              <a:rPr lang="en-US" sz="1500" b="1">
                <a:solidFill>
                  <a:srgbClr val="FF64A5"/>
                </a:solidFill>
                <a:latin typeface="Bahnschrift" panose="020B0502040204020203" pitchFamily="34" charset="0"/>
              </a:rPr>
              <a:t>one quieter copy</a:t>
            </a:r>
          </a:p>
        </p:txBody>
      </p:sp>
      <p:sp>
        <p:nvSpPr>
          <p:cNvPr id="45" name="TextBox 44">
            <a:extLst>
              <a:ext uri="{FF2B5EF4-FFF2-40B4-BE49-F238E27FC236}">
                <a16:creationId xmlns:a16="http://schemas.microsoft.com/office/drawing/2014/main" id="{7BF99D99-278E-464C-AE07-F3F11C1AA643}"/>
              </a:ext>
            </a:extLst>
          </p:cNvPr>
          <p:cNvSpPr txBox="1"/>
          <p:nvPr/>
        </p:nvSpPr>
        <p:spPr>
          <a:xfrm>
            <a:off x="889000" y="4419600"/>
            <a:ext cx="10414000" cy="292388"/>
          </a:xfrm>
          <a:prstGeom prst="rect">
            <a:avLst/>
          </a:prstGeom>
          <a:noFill/>
        </p:spPr>
        <p:txBody>
          <a:bodyPr vert="horz" wrap="square" lIns="0" tIns="0" rIns="0" bIns="0" rtlCol="0">
            <a:spAutoFit/>
          </a:bodyPr>
          <a:lstStyle/>
          <a:p>
            <a:r>
              <a:rPr lang="en-US" sz="1900">
                <a:solidFill>
                  <a:srgbClr val="CCDDEC"/>
                </a:solidFill>
                <a:latin typeface="Aptos"/>
              </a:rPr>
              <a:t>Delay moves one copy later by a chosen number of samples; the original stays in place.</a:t>
            </a:r>
          </a:p>
        </p:txBody>
      </p:sp>
      <p:sp>
        <p:nvSpPr>
          <p:cNvPr id="46" name="Rectangle 45">
            <a:extLst>
              <a:ext uri="{FF2B5EF4-FFF2-40B4-BE49-F238E27FC236}">
                <a16:creationId xmlns:a16="http://schemas.microsoft.com/office/drawing/2014/main" id="{5B898027-E02F-4846-AAC5-7970C21811CE}"/>
              </a:ext>
            </a:extLst>
          </p:cNvPr>
          <p:cNvSpPr/>
          <p:nvPr/>
        </p:nvSpPr>
        <p:spPr>
          <a:xfrm>
            <a:off x="863600" y="5156200"/>
            <a:ext cx="10464800" cy="558800"/>
          </a:xfrm>
          <a:prstGeom prst="rect">
            <a:avLst/>
          </a:prstGeom>
          <a:solidFill>
            <a:srgbClr val="0F2235"/>
          </a:solidFill>
          <a:ln w="10160">
            <a:solidFill>
              <a:srgbClr val="264B6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TextBox 46">
            <a:extLst>
              <a:ext uri="{FF2B5EF4-FFF2-40B4-BE49-F238E27FC236}">
                <a16:creationId xmlns:a16="http://schemas.microsoft.com/office/drawing/2014/main" id="{E1ECECEC-6736-4CAE-8E5F-55E9F52F7B5F}"/>
              </a:ext>
            </a:extLst>
          </p:cNvPr>
          <p:cNvSpPr txBox="1"/>
          <p:nvPr/>
        </p:nvSpPr>
        <p:spPr>
          <a:xfrm>
            <a:off x="1066800" y="5283200"/>
            <a:ext cx="10058400" cy="204671"/>
          </a:xfrm>
          <a:prstGeom prst="rect">
            <a:avLst/>
          </a:prstGeom>
          <a:noFill/>
        </p:spPr>
        <p:txBody>
          <a:bodyPr vert="horz" wrap="square" lIns="0" tIns="0" rIns="0" bIns="0" rtlCol="0">
            <a:spAutoFit/>
          </a:bodyPr>
          <a:lstStyle/>
          <a:p>
            <a:r>
              <a:rPr lang="en-US" sz="1330">
                <a:solidFill>
                  <a:srgbClr val="37D9E9"/>
                </a:solidFill>
                <a:latin typeface="Consolas" panose="020B0609020204030204" pitchFamily="49" charset="0"/>
              </a:rPr>
              <a:t>offset = int(delay_seconds * sample_rate); output[offset:offset + len(audio)] += audio * amount</a:t>
            </a:r>
          </a:p>
        </p:txBody>
      </p:sp>
      <p:sp>
        <p:nvSpPr>
          <p:cNvPr id="48" name="TextBox 47">
            <a:extLst>
              <a:ext uri="{FF2B5EF4-FFF2-40B4-BE49-F238E27FC236}">
                <a16:creationId xmlns:a16="http://schemas.microsoft.com/office/drawing/2014/main" id="{62C79266-67FE-4A1E-B0F6-DCC43EB1A9FA}"/>
              </a:ext>
            </a:extLst>
          </p:cNvPr>
          <p:cNvSpPr txBox="1"/>
          <p:nvPr/>
        </p:nvSpPr>
        <p:spPr>
          <a:xfrm>
            <a:off x="889000" y="5918200"/>
            <a:ext cx="1841500" cy="169277"/>
          </a:xfrm>
          <a:prstGeom prst="rect">
            <a:avLst/>
          </a:prstGeom>
          <a:noFill/>
        </p:spPr>
        <p:txBody>
          <a:bodyPr vert="horz" wrap="square" lIns="0" tIns="0" rIns="0" bIns="0" rtlCol="0">
            <a:spAutoFit/>
          </a:bodyPr>
          <a:lstStyle/>
          <a:p>
            <a:r>
              <a:rPr lang="en-US" sz="1100" b="1">
                <a:solidFill>
                  <a:srgbClr val="FF64A5"/>
                </a:solidFill>
                <a:latin typeface="Bahnschrift" panose="020B0502040204020203" pitchFamily="34" charset="0"/>
              </a:rPr>
              <a:t>TRY IN THE APP</a:t>
            </a:r>
          </a:p>
        </p:txBody>
      </p:sp>
      <p:sp>
        <p:nvSpPr>
          <p:cNvPr id="49" name="TextBox 48">
            <a:extLst>
              <a:ext uri="{FF2B5EF4-FFF2-40B4-BE49-F238E27FC236}">
                <a16:creationId xmlns:a16="http://schemas.microsoft.com/office/drawing/2014/main" id="{815B16BA-425B-4FF5-AD10-63D0738897DE}"/>
              </a:ext>
            </a:extLst>
          </p:cNvPr>
          <p:cNvSpPr txBox="1"/>
          <p:nvPr/>
        </p:nvSpPr>
        <p:spPr>
          <a:xfrm>
            <a:off x="2794000" y="5880100"/>
            <a:ext cx="8483600" cy="230832"/>
          </a:xfrm>
          <a:prstGeom prst="rect">
            <a:avLst/>
          </a:prstGeom>
          <a:noFill/>
        </p:spPr>
        <p:txBody>
          <a:bodyPr vert="horz" wrap="square" lIns="0" tIns="0" rIns="0" bIns="0" rtlCol="0">
            <a:spAutoFit/>
          </a:bodyPr>
          <a:lstStyle/>
          <a:p>
            <a:r>
              <a:rPr lang="en-US" sz="1500">
                <a:solidFill>
                  <a:srgbClr val="CCDDEC"/>
                </a:solidFill>
                <a:latin typeface="Aptos"/>
              </a:rPr>
              <a:t>Choose Delay, then move the time and amount sliders.</a:t>
            </a:r>
          </a:p>
        </p:txBody>
      </p:sp>
      <p:sp>
        <p:nvSpPr>
          <p:cNvPr id="50" name="Rectangle 49">
            <a:extLst>
              <a:ext uri="{FF2B5EF4-FFF2-40B4-BE49-F238E27FC236}">
                <a16:creationId xmlns:a16="http://schemas.microsoft.com/office/drawing/2014/main" id="{929EF7DD-8113-4A0B-9826-698EEF9ED33D}"/>
              </a:ext>
            </a:extLst>
          </p:cNvPr>
          <p:cNvSpPr/>
          <p:nvPr/>
        </p:nvSpPr>
        <p:spPr>
          <a:xfrm>
            <a:off x="533400" y="381000"/>
            <a:ext cx="50800" cy="495300"/>
          </a:xfrm>
          <a:prstGeom prst="rect">
            <a:avLst/>
          </a:prstGeom>
          <a:solidFill>
            <a:srgbClr val="37D9E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TextBox 50">
            <a:extLst>
              <a:ext uri="{FF2B5EF4-FFF2-40B4-BE49-F238E27FC236}">
                <a16:creationId xmlns:a16="http://schemas.microsoft.com/office/drawing/2014/main" id="{AE900E3A-63DC-4C25-958D-A026361084EC}"/>
              </a:ext>
            </a:extLst>
          </p:cNvPr>
          <p:cNvSpPr txBox="1"/>
          <p:nvPr/>
        </p:nvSpPr>
        <p:spPr>
          <a:xfrm>
            <a:off x="9779000" y="927100"/>
            <a:ext cx="1676400" cy="138499"/>
          </a:xfrm>
          <a:prstGeom prst="rect">
            <a:avLst/>
          </a:prstGeom>
          <a:noFill/>
        </p:spPr>
        <p:txBody>
          <a:bodyPr vert="horz" wrap="square" lIns="0" tIns="0" rIns="0" bIns="0" rtlCol="0">
            <a:spAutoFit/>
          </a:bodyPr>
          <a:lstStyle/>
          <a:p>
            <a:pPr algn="r"/>
            <a:r>
              <a:rPr lang="en-US" sz="900">
                <a:solidFill>
                  <a:srgbClr val="85A0B8"/>
                </a:solidFill>
                <a:latin typeface="Bahnschrift" panose="020B0502040204020203" pitchFamily="34" charset="0"/>
              </a:rPr>
              <a:t>ANALYSIS  /  08</a:t>
            </a:r>
          </a:p>
        </p:txBody>
      </p:sp>
      <p:sp>
        <p:nvSpPr>
          <p:cNvPr id="52" name="TextBox 51">
            <a:extLst>
              <a:ext uri="{FF2B5EF4-FFF2-40B4-BE49-F238E27FC236}">
                <a16:creationId xmlns:a16="http://schemas.microsoft.com/office/drawing/2014/main" id="{A2E69AAA-4557-46BC-948E-3CD2438EBEFD}"/>
              </a:ext>
            </a:extLst>
          </p:cNvPr>
          <p:cNvSpPr txBox="1"/>
          <p:nvPr/>
        </p:nvSpPr>
        <p:spPr>
          <a:xfrm>
            <a:off x="9994900" y="2108200"/>
            <a:ext cx="1117600" cy="138499"/>
          </a:xfrm>
          <a:prstGeom prst="rect">
            <a:avLst/>
          </a:prstGeom>
          <a:noFill/>
        </p:spPr>
        <p:txBody>
          <a:bodyPr vert="horz" wrap="square" lIns="0" tIns="0" rIns="0" bIns="0" rtlCol="0">
            <a:spAutoFit/>
          </a:bodyPr>
          <a:lstStyle/>
          <a:p>
            <a:r>
              <a:rPr lang="en-US" sz="900" b="1">
                <a:solidFill>
                  <a:srgbClr val="85A0B8"/>
                </a:solidFill>
                <a:latin typeface="Bahnschrift" panose="020B0502040204020203" pitchFamily="34" charset="0"/>
              </a:rPr>
              <a:t>SCHEMATIC</a:t>
            </a:r>
          </a:p>
        </p:txBody>
      </p:sp>
    </p:spTree>
    <p:extLst>
      <p:ext uri="{BB962C8B-B14F-4D97-AF65-F5344CB8AC3E}">
        <p14:creationId xmlns:p14="http://schemas.microsoft.com/office/powerpoint/2010/main" val="5729562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2894C9-84A0-4A21-A118-F4418C43E11B}"/>
              </a:ext>
            </a:extLst>
          </p:cNvPr>
          <p:cNvSpPr/>
          <p:nvPr/>
        </p:nvSpPr>
        <p:spPr>
          <a:xfrm>
            <a:off x="0" y="0"/>
            <a:ext cx="12192000" cy="6858000"/>
          </a:xfrm>
          <a:prstGeom prst="rect">
            <a:avLst/>
          </a:prstGeom>
          <a:solidFill>
            <a:srgbClr val="08122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A3ADC73B-33B4-4813-AF43-64CABC3C2503}"/>
              </a:ext>
            </a:extLst>
          </p:cNvPr>
          <p:cNvSpPr txBox="1"/>
          <p:nvPr/>
        </p:nvSpPr>
        <p:spPr>
          <a:xfrm>
            <a:off x="685800" y="368300"/>
            <a:ext cx="10795000" cy="430887"/>
          </a:xfrm>
          <a:prstGeom prst="rect">
            <a:avLst/>
          </a:prstGeom>
          <a:noFill/>
        </p:spPr>
        <p:txBody>
          <a:bodyPr vert="horz" wrap="square" lIns="0" tIns="0" rIns="0" bIns="0" rtlCol="0">
            <a:spAutoFit/>
          </a:bodyPr>
          <a:lstStyle/>
          <a:p>
            <a:r>
              <a:rPr lang="en-US" sz="2800" b="1">
                <a:solidFill>
                  <a:srgbClr val="EEF6FF"/>
                </a:solidFill>
                <a:latin typeface="Bahnschrift" panose="020B0502040204020203" pitchFamily="34" charset="0"/>
              </a:rPr>
              <a:t>Echo: copies in time</a:t>
            </a:r>
          </a:p>
        </p:txBody>
      </p:sp>
      <p:cxnSp>
        <p:nvCxnSpPr>
          <p:cNvPr id="4" name="Straight Connector 3">
            <a:extLst>
              <a:ext uri="{FF2B5EF4-FFF2-40B4-BE49-F238E27FC236}">
                <a16:creationId xmlns:a16="http://schemas.microsoft.com/office/drawing/2014/main" id="{98218E7A-BDB0-43DE-B17A-BD0BED9F5092}"/>
              </a:ext>
            </a:extLst>
          </p:cNvPr>
          <p:cNvCxnSpPr/>
          <p:nvPr/>
        </p:nvCxnSpPr>
        <p:spPr>
          <a:xfrm>
            <a:off x="685800" y="1168400"/>
            <a:ext cx="10820400" cy="0"/>
          </a:xfrm>
          <a:prstGeom prst="line">
            <a:avLst/>
          </a:prstGeom>
          <a:ln w="17780">
            <a:solidFill>
              <a:srgbClr val="37D9E9"/>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1BA0986B-7D24-4BF2-9A46-E7A3A799E4B1}"/>
              </a:ext>
            </a:extLst>
          </p:cNvPr>
          <p:cNvSpPr txBox="1"/>
          <p:nvPr/>
        </p:nvSpPr>
        <p:spPr>
          <a:xfrm>
            <a:off x="685800" y="6502400"/>
            <a:ext cx="3810000" cy="153888"/>
          </a:xfrm>
          <a:prstGeom prst="rect">
            <a:avLst/>
          </a:prstGeom>
          <a:noFill/>
        </p:spPr>
        <p:txBody>
          <a:bodyPr vert="horz" wrap="square" lIns="0" tIns="0" rIns="0" bIns="0" rtlCol="0">
            <a:spAutoFit/>
          </a:bodyPr>
          <a:lstStyle/>
          <a:p>
            <a:r>
              <a:rPr lang="en-US" sz="1000" b="1">
                <a:solidFill>
                  <a:srgbClr val="85A0B8"/>
                </a:solidFill>
                <a:latin typeface="Aptos"/>
              </a:rPr>
              <a:t>SIGNAL STUDIO</a:t>
            </a:r>
          </a:p>
        </p:txBody>
      </p:sp>
      <p:sp>
        <p:nvSpPr>
          <p:cNvPr id="6" name="TextBox 5">
            <a:extLst>
              <a:ext uri="{FF2B5EF4-FFF2-40B4-BE49-F238E27FC236}">
                <a16:creationId xmlns:a16="http://schemas.microsoft.com/office/drawing/2014/main" id="{437D206C-41B9-4B28-966C-09180326BEA2}"/>
              </a:ext>
            </a:extLst>
          </p:cNvPr>
          <p:cNvSpPr txBox="1"/>
          <p:nvPr/>
        </p:nvSpPr>
        <p:spPr>
          <a:xfrm>
            <a:off x="11430000" y="6502400"/>
            <a:ext cx="444500" cy="153888"/>
          </a:xfrm>
          <a:prstGeom prst="rect">
            <a:avLst/>
          </a:prstGeom>
          <a:noFill/>
        </p:spPr>
        <p:txBody>
          <a:bodyPr vert="horz" wrap="square" lIns="0" tIns="0" rIns="0" bIns="0" rtlCol="0">
            <a:spAutoFit/>
          </a:bodyPr>
          <a:lstStyle/>
          <a:p>
            <a:pPr algn="r"/>
            <a:r>
              <a:rPr lang="en-US" sz="1000" b="1">
                <a:solidFill>
                  <a:srgbClr val="37D9E9"/>
                </a:solidFill>
                <a:latin typeface="Bahnschrift" panose="020B0502040204020203" pitchFamily="34" charset="0"/>
              </a:rPr>
              <a:t>9</a:t>
            </a:r>
          </a:p>
        </p:txBody>
      </p:sp>
      <p:sp>
        <p:nvSpPr>
          <p:cNvPr id="22" name="TextBox 21">
            <a:extLst>
              <a:ext uri="{FF2B5EF4-FFF2-40B4-BE49-F238E27FC236}">
                <a16:creationId xmlns:a16="http://schemas.microsoft.com/office/drawing/2014/main" id="{89A4B8C8-47D7-44EC-9CC1-C68396368BDB}"/>
              </a:ext>
            </a:extLst>
          </p:cNvPr>
          <p:cNvSpPr txBox="1"/>
          <p:nvPr/>
        </p:nvSpPr>
        <p:spPr>
          <a:xfrm>
            <a:off x="889000" y="1549400"/>
            <a:ext cx="7620000" cy="230832"/>
          </a:xfrm>
          <a:prstGeom prst="rect">
            <a:avLst/>
          </a:prstGeom>
          <a:noFill/>
        </p:spPr>
        <p:txBody>
          <a:bodyPr vert="horz" wrap="square" lIns="0" tIns="0" rIns="0" bIns="0" rtlCol="0">
            <a:spAutoFit/>
          </a:bodyPr>
          <a:lstStyle/>
          <a:p>
            <a:r>
              <a:rPr lang="en-US" sz="1500" b="1">
                <a:solidFill>
                  <a:srgbClr val="37D9E9"/>
                </a:solidFill>
                <a:latin typeface="Bahnschrift" panose="020B0502040204020203" pitchFamily="34" charset="0"/>
              </a:rPr>
              <a:t>FOLLOW ONE SOUND EVENT</a:t>
            </a:r>
          </a:p>
        </p:txBody>
      </p:sp>
      <p:sp>
        <p:nvSpPr>
          <p:cNvPr id="23" name="Rectangle 22">
            <a:extLst>
              <a:ext uri="{FF2B5EF4-FFF2-40B4-BE49-F238E27FC236}">
                <a16:creationId xmlns:a16="http://schemas.microsoft.com/office/drawing/2014/main" id="{CCA3AEA2-66F8-4D97-90E2-FD89B67CA15B}"/>
              </a:ext>
            </a:extLst>
          </p:cNvPr>
          <p:cNvSpPr/>
          <p:nvPr/>
        </p:nvSpPr>
        <p:spPr>
          <a:xfrm>
            <a:off x="863600" y="2006600"/>
            <a:ext cx="10464800" cy="2260600"/>
          </a:xfrm>
          <a:prstGeom prst="rect">
            <a:avLst/>
          </a:prstGeom>
          <a:solidFill>
            <a:srgbClr val="0F2235"/>
          </a:solidFill>
          <a:ln w="10160">
            <a:solidFill>
              <a:srgbClr val="264B6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4677CF81-7322-46C3-AE48-CB6E4EF5AB80}"/>
              </a:ext>
            </a:extLst>
          </p:cNvPr>
          <p:cNvSpPr txBox="1"/>
          <p:nvPr/>
        </p:nvSpPr>
        <p:spPr>
          <a:xfrm>
            <a:off x="1079500" y="2451100"/>
            <a:ext cx="952500" cy="215444"/>
          </a:xfrm>
          <a:prstGeom prst="rect">
            <a:avLst/>
          </a:prstGeom>
          <a:noFill/>
        </p:spPr>
        <p:txBody>
          <a:bodyPr vert="horz" wrap="square" lIns="0" tIns="0" rIns="0" bIns="0" rtlCol="0">
            <a:spAutoFit/>
          </a:bodyPr>
          <a:lstStyle/>
          <a:p>
            <a:r>
              <a:rPr lang="en-US" sz="1400">
                <a:solidFill>
                  <a:srgbClr val="85A0B8"/>
                </a:solidFill>
                <a:latin typeface="Aptos"/>
              </a:rPr>
              <a:t>input</a:t>
            </a:r>
          </a:p>
        </p:txBody>
      </p:sp>
      <p:sp>
        <p:nvSpPr>
          <p:cNvPr id="25" name="TextBox 24">
            <a:extLst>
              <a:ext uri="{FF2B5EF4-FFF2-40B4-BE49-F238E27FC236}">
                <a16:creationId xmlns:a16="http://schemas.microsoft.com/office/drawing/2014/main" id="{0AE41B1D-304B-4A9A-A15D-A57D992662B1}"/>
              </a:ext>
            </a:extLst>
          </p:cNvPr>
          <p:cNvSpPr txBox="1"/>
          <p:nvPr/>
        </p:nvSpPr>
        <p:spPr>
          <a:xfrm>
            <a:off x="1079500" y="3403600"/>
            <a:ext cx="952500" cy="215444"/>
          </a:xfrm>
          <a:prstGeom prst="rect">
            <a:avLst/>
          </a:prstGeom>
          <a:noFill/>
        </p:spPr>
        <p:txBody>
          <a:bodyPr vert="horz" wrap="square" lIns="0" tIns="0" rIns="0" bIns="0" rtlCol="0">
            <a:spAutoFit/>
          </a:bodyPr>
          <a:lstStyle/>
          <a:p>
            <a:r>
              <a:rPr lang="en-US" sz="1400">
                <a:solidFill>
                  <a:srgbClr val="85A0B8"/>
                </a:solidFill>
                <a:latin typeface="Aptos"/>
              </a:rPr>
              <a:t>output</a:t>
            </a:r>
          </a:p>
        </p:txBody>
      </p:sp>
      <p:cxnSp>
        <p:nvCxnSpPr>
          <p:cNvPr id="26" name="Straight Connector 25">
            <a:extLst>
              <a:ext uri="{FF2B5EF4-FFF2-40B4-BE49-F238E27FC236}">
                <a16:creationId xmlns:a16="http://schemas.microsoft.com/office/drawing/2014/main" id="{27F3C134-3B97-4891-92EE-1E3CDE162794}"/>
              </a:ext>
            </a:extLst>
          </p:cNvPr>
          <p:cNvCxnSpPr/>
          <p:nvPr/>
        </p:nvCxnSpPr>
        <p:spPr>
          <a:xfrm>
            <a:off x="2159000" y="2895600"/>
            <a:ext cx="8610600" cy="0"/>
          </a:xfrm>
          <a:prstGeom prst="line">
            <a:avLst/>
          </a:prstGeom>
          <a:ln w="17780">
            <a:solidFill>
              <a:srgbClr val="264B63"/>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44591BFE-1006-4FFC-9CAB-F9B06EDF9D34}"/>
              </a:ext>
            </a:extLst>
          </p:cNvPr>
          <p:cNvCxnSpPr/>
          <p:nvPr/>
        </p:nvCxnSpPr>
        <p:spPr>
          <a:xfrm>
            <a:off x="2159000" y="3848100"/>
            <a:ext cx="8610600" cy="0"/>
          </a:xfrm>
          <a:prstGeom prst="line">
            <a:avLst/>
          </a:prstGeom>
          <a:ln w="17780">
            <a:solidFill>
              <a:srgbClr val="264B63"/>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969584CE-E96C-4179-B71F-2267796AF125}"/>
              </a:ext>
            </a:extLst>
          </p:cNvPr>
          <p:cNvCxnSpPr/>
          <p:nvPr/>
        </p:nvCxnSpPr>
        <p:spPr>
          <a:xfrm flipV="1">
            <a:off x="2476500" y="2387600"/>
            <a:ext cx="0" cy="508000"/>
          </a:xfrm>
          <a:prstGeom prst="line">
            <a:avLst/>
          </a:prstGeom>
          <a:ln w="57150">
            <a:solidFill>
              <a:srgbClr val="37D9E9"/>
            </a:solidFill>
          </a:ln>
        </p:spPr>
        <p:style>
          <a:lnRef idx="1">
            <a:schemeClr val="accent1"/>
          </a:lnRef>
          <a:fillRef idx="0">
            <a:schemeClr val="accent1"/>
          </a:fillRef>
          <a:effectRef idx="0">
            <a:schemeClr val="accent1"/>
          </a:effectRef>
          <a:fontRef idx="minor">
            <a:schemeClr val="tx1"/>
          </a:fontRef>
        </p:style>
      </p:cxnSp>
      <p:sp>
        <p:nvSpPr>
          <p:cNvPr id="29" name="Oval 28">
            <a:extLst>
              <a:ext uri="{FF2B5EF4-FFF2-40B4-BE49-F238E27FC236}">
                <a16:creationId xmlns:a16="http://schemas.microsoft.com/office/drawing/2014/main" id="{C7BD61F0-216C-4D66-BB44-5211644D2654}"/>
              </a:ext>
            </a:extLst>
          </p:cNvPr>
          <p:cNvSpPr/>
          <p:nvPr/>
        </p:nvSpPr>
        <p:spPr>
          <a:xfrm>
            <a:off x="2425700" y="2336800"/>
            <a:ext cx="101600" cy="101600"/>
          </a:xfrm>
          <a:prstGeom prst="ellipse">
            <a:avLst/>
          </a:prstGeom>
          <a:solidFill>
            <a:srgbClr val="37D9E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0" name="Straight Connector 29">
            <a:extLst>
              <a:ext uri="{FF2B5EF4-FFF2-40B4-BE49-F238E27FC236}">
                <a16:creationId xmlns:a16="http://schemas.microsoft.com/office/drawing/2014/main" id="{AC856396-22A9-4639-B8F2-37FD64456A5B}"/>
              </a:ext>
            </a:extLst>
          </p:cNvPr>
          <p:cNvCxnSpPr/>
          <p:nvPr/>
        </p:nvCxnSpPr>
        <p:spPr>
          <a:xfrm flipV="1">
            <a:off x="2476500" y="3340100"/>
            <a:ext cx="0" cy="508000"/>
          </a:xfrm>
          <a:prstGeom prst="line">
            <a:avLst/>
          </a:prstGeom>
          <a:ln w="57150">
            <a:solidFill>
              <a:srgbClr val="37D9E9"/>
            </a:solidFill>
          </a:ln>
        </p:spPr>
        <p:style>
          <a:lnRef idx="1">
            <a:schemeClr val="accent1"/>
          </a:lnRef>
          <a:fillRef idx="0">
            <a:schemeClr val="accent1"/>
          </a:fillRef>
          <a:effectRef idx="0">
            <a:schemeClr val="accent1"/>
          </a:effectRef>
          <a:fontRef idx="minor">
            <a:schemeClr val="tx1"/>
          </a:fontRef>
        </p:style>
      </p:cxnSp>
      <p:sp>
        <p:nvSpPr>
          <p:cNvPr id="31" name="Oval 30">
            <a:extLst>
              <a:ext uri="{FF2B5EF4-FFF2-40B4-BE49-F238E27FC236}">
                <a16:creationId xmlns:a16="http://schemas.microsoft.com/office/drawing/2014/main" id="{74DA237C-6795-426A-A9AA-0189C647ACBF}"/>
              </a:ext>
            </a:extLst>
          </p:cNvPr>
          <p:cNvSpPr/>
          <p:nvPr/>
        </p:nvSpPr>
        <p:spPr>
          <a:xfrm>
            <a:off x="2425700" y="3289300"/>
            <a:ext cx="101600" cy="101600"/>
          </a:xfrm>
          <a:prstGeom prst="ellipse">
            <a:avLst/>
          </a:prstGeom>
          <a:solidFill>
            <a:srgbClr val="37D9E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2" name="Straight Connector 31">
            <a:extLst>
              <a:ext uri="{FF2B5EF4-FFF2-40B4-BE49-F238E27FC236}">
                <a16:creationId xmlns:a16="http://schemas.microsoft.com/office/drawing/2014/main" id="{CC6F19FD-BAFE-42BB-944A-FA7443E86370}"/>
              </a:ext>
            </a:extLst>
          </p:cNvPr>
          <p:cNvCxnSpPr/>
          <p:nvPr/>
        </p:nvCxnSpPr>
        <p:spPr>
          <a:xfrm>
            <a:off x="2476500" y="3911600"/>
            <a:ext cx="0" cy="88900"/>
          </a:xfrm>
          <a:prstGeom prst="line">
            <a:avLst/>
          </a:prstGeom>
          <a:ln w="12700">
            <a:solidFill>
              <a:srgbClr val="264B63"/>
            </a:solidFill>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EF50629F-F036-4398-AF91-F7E40040C7C9}"/>
              </a:ext>
            </a:extLst>
          </p:cNvPr>
          <p:cNvSpPr txBox="1"/>
          <p:nvPr/>
        </p:nvSpPr>
        <p:spPr>
          <a:xfrm>
            <a:off x="2120900" y="4013200"/>
            <a:ext cx="723900" cy="169277"/>
          </a:xfrm>
          <a:prstGeom prst="rect">
            <a:avLst/>
          </a:prstGeom>
          <a:noFill/>
        </p:spPr>
        <p:txBody>
          <a:bodyPr vert="horz" wrap="square" lIns="0" tIns="0" rIns="0" bIns="0" rtlCol="0">
            <a:spAutoFit/>
          </a:bodyPr>
          <a:lstStyle/>
          <a:p>
            <a:r>
              <a:rPr lang="en-US" sz="1100">
                <a:solidFill>
                  <a:srgbClr val="85A0B8"/>
                </a:solidFill>
                <a:latin typeface="Aptos"/>
              </a:rPr>
              <a:t>0</a:t>
            </a:r>
          </a:p>
        </p:txBody>
      </p:sp>
      <p:cxnSp>
        <p:nvCxnSpPr>
          <p:cNvPr id="34" name="Straight Connector 33">
            <a:extLst>
              <a:ext uri="{FF2B5EF4-FFF2-40B4-BE49-F238E27FC236}">
                <a16:creationId xmlns:a16="http://schemas.microsoft.com/office/drawing/2014/main" id="{69BC6DD4-95AF-4585-AA33-EDF99ACAE8C8}"/>
              </a:ext>
            </a:extLst>
          </p:cNvPr>
          <p:cNvCxnSpPr/>
          <p:nvPr/>
        </p:nvCxnSpPr>
        <p:spPr>
          <a:xfrm>
            <a:off x="4318000" y="3911600"/>
            <a:ext cx="0" cy="88900"/>
          </a:xfrm>
          <a:prstGeom prst="line">
            <a:avLst/>
          </a:prstGeom>
          <a:ln w="12700">
            <a:solidFill>
              <a:srgbClr val="264B63"/>
            </a:solidFill>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00453166-5F9E-47EF-9B09-ADBEE42B75F4}"/>
              </a:ext>
            </a:extLst>
          </p:cNvPr>
          <p:cNvSpPr txBox="1"/>
          <p:nvPr/>
        </p:nvSpPr>
        <p:spPr>
          <a:xfrm>
            <a:off x="3962400" y="4013200"/>
            <a:ext cx="723900" cy="169277"/>
          </a:xfrm>
          <a:prstGeom prst="rect">
            <a:avLst/>
          </a:prstGeom>
          <a:noFill/>
        </p:spPr>
        <p:txBody>
          <a:bodyPr vert="horz" wrap="square" lIns="0" tIns="0" rIns="0" bIns="0" rtlCol="0">
            <a:spAutoFit/>
          </a:bodyPr>
          <a:lstStyle/>
          <a:p>
            <a:r>
              <a:rPr lang="en-US" sz="1100">
                <a:solidFill>
                  <a:srgbClr val="85A0B8"/>
                </a:solidFill>
                <a:latin typeface="Aptos"/>
              </a:rPr>
              <a:t>0.3 s</a:t>
            </a:r>
          </a:p>
        </p:txBody>
      </p:sp>
      <p:cxnSp>
        <p:nvCxnSpPr>
          <p:cNvPr id="36" name="Straight Connector 35">
            <a:extLst>
              <a:ext uri="{FF2B5EF4-FFF2-40B4-BE49-F238E27FC236}">
                <a16:creationId xmlns:a16="http://schemas.microsoft.com/office/drawing/2014/main" id="{1042A815-E643-4240-BE65-8DE322820FB8}"/>
              </a:ext>
            </a:extLst>
          </p:cNvPr>
          <p:cNvCxnSpPr/>
          <p:nvPr/>
        </p:nvCxnSpPr>
        <p:spPr>
          <a:xfrm>
            <a:off x="6159500" y="3911600"/>
            <a:ext cx="0" cy="88900"/>
          </a:xfrm>
          <a:prstGeom prst="line">
            <a:avLst/>
          </a:prstGeom>
          <a:ln w="12700">
            <a:solidFill>
              <a:srgbClr val="264B63"/>
            </a:solidFill>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3D6037DB-975B-4F89-ADD0-8CE68FED69E7}"/>
              </a:ext>
            </a:extLst>
          </p:cNvPr>
          <p:cNvSpPr txBox="1"/>
          <p:nvPr/>
        </p:nvSpPr>
        <p:spPr>
          <a:xfrm>
            <a:off x="5803900" y="4013200"/>
            <a:ext cx="723900" cy="169277"/>
          </a:xfrm>
          <a:prstGeom prst="rect">
            <a:avLst/>
          </a:prstGeom>
          <a:noFill/>
        </p:spPr>
        <p:txBody>
          <a:bodyPr vert="horz" wrap="square" lIns="0" tIns="0" rIns="0" bIns="0" rtlCol="0">
            <a:spAutoFit/>
          </a:bodyPr>
          <a:lstStyle/>
          <a:p>
            <a:r>
              <a:rPr lang="en-US" sz="1100">
                <a:solidFill>
                  <a:srgbClr val="85A0B8"/>
                </a:solidFill>
                <a:latin typeface="Aptos"/>
              </a:rPr>
              <a:t>0.6 s</a:t>
            </a:r>
          </a:p>
        </p:txBody>
      </p:sp>
      <p:cxnSp>
        <p:nvCxnSpPr>
          <p:cNvPr id="38" name="Straight Connector 37">
            <a:extLst>
              <a:ext uri="{FF2B5EF4-FFF2-40B4-BE49-F238E27FC236}">
                <a16:creationId xmlns:a16="http://schemas.microsoft.com/office/drawing/2014/main" id="{BA0B9F4B-0113-4D2C-9CB5-64098CCD0477}"/>
              </a:ext>
            </a:extLst>
          </p:cNvPr>
          <p:cNvCxnSpPr/>
          <p:nvPr/>
        </p:nvCxnSpPr>
        <p:spPr>
          <a:xfrm>
            <a:off x="8001000" y="3911600"/>
            <a:ext cx="0" cy="88900"/>
          </a:xfrm>
          <a:prstGeom prst="line">
            <a:avLst/>
          </a:prstGeom>
          <a:ln w="12700">
            <a:solidFill>
              <a:srgbClr val="264B63"/>
            </a:solidFill>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0CC18423-8C5D-445D-83BC-6A12D0A13B3A}"/>
              </a:ext>
            </a:extLst>
          </p:cNvPr>
          <p:cNvSpPr txBox="1"/>
          <p:nvPr/>
        </p:nvSpPr>
        <p:spPr>
          <a:xfrm>
            <a:off x="7645400" y="4013200"/>
            <a:ext cx="723900" cy="169277"/>
          </a:xfrm>
          <a:prstGeom prst="rect">
            <a:avLst/>
          </a:prstGeom>
          <a:noFill/>
        </p:spPr>
        <p:txBody>
          <a:bodyPr vert="horz" wrap="square" lIns="0" tIns="0" rIns="0" bIns="0" rtlCol="0">
            <a:spAutoFit/>
          </a:bodyPr>
          <a:lstStyle/>
          <a:p>
            <a:r>
              <a:rPr lang="en-US" sz="1100">
                <a:solidFill>
                  <a:srgbClr val="85A0B8"/>
                </a:solidFill>
                <a:latin typeface="Aptos"/>
              </a:rPr>
              <a:t>0.9 s</a:t>
            </a:r>
          </a:p>
        </p:txBody>
      </p:sp>
      <p:cxnSp>
        <p:nvCxnSpPr>
          <p:cNvPr id="40" name="Straight Connector 39">
            <a:extLst>
              <a:ext uri="{FF2B5EF4-FFF2-40B4-BE49-F238E27FC236}">
                <a16:creationId xmlns:a16="http://schemas.microsoft.com/office/drawing/2014/main" id="{D5383A68-3708-41DE-B414-4004277D1803}"/>
              </a:ext>
            </a:extLst>
          </p:cNvPr>
          <p:cNvCxnSpPr/>
          <p:nvPr/>
        </p:nvCxnSpPr>
        <p:spPr>
          <a:xfrm>
            <a:off x="9842500" y="3911600"/>
            <a:ext cx="0" cy="88900"/>
          </a:xfrm>
          <a:prstGeom prst="line">
            <a:avLst/>
          </a:prstGeom>
          <a:ln w="12700">
            <a:solidFill>
              <a:srgbClr val="264B63"/>
            </a:solidFill>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94EFDE50-8845-4736-AB45-0D9BBCB5DC33}"/>
              </a:ext>
            </a:extLst>
          </p:cNvPr>
          <p:cNvSpPr txBox="1"/>
          <p:nvPr/>
        </p:nvSpPr>
        <p:spPr>
          <a:xfrm>
            <a:off x="9486900" y="4013200"/>
            <a:ext cx="723900" cy="169277"/>
          </a:xfrm>
          <a:prstGeom prst="rect">
            <a:avLst/>
          </a:prstGeom>
          <a:noFill/>
        </p:spPr>
        <p:txBody>
          <a:bodyPr vert="horz" wrap="square" lIns="0" tIns="0" rIns="0" bIns="0" rtlCol="0">
            <a:spAutoFit/>
          </a:bodyPr>
          <a:lstStyle/>
          <a:p>
            <a:r>
              <a:rPr lang="en-US" sz="1100">
                <a:solidFill>
                  <a:srgbClr val="85A0B8"/>
                </a:solidFill>
                <a:latin typeface="Aptos"/>
              </a:rPr>
              <a:t>1.2 s</a:t>
            </a:r>
          </a:p>
        </p:txBody>
      </p:sp>
      <p:cxnSp>
        <p:nvCxnSpPr>
          <p:cNvPr id="42" name="Straight Connector 41">
            <a:extLst>
              <a:ext uri="{FF2B5EF4-FFF2-40B4-BE49-F238E27FC236}">
                <a16:creationId xmlns:a16="http://schemas.microsoft.com/office/drawing/2014/main" id="{BAB9311D-269A-46C1-9EE3-C2113BDC56EC}"/>
              </a:ext>
            </a:extLst>
          </p:cNvPr>
          <p:cNvCxnSpPr/>
          <p:nvPr/>
        </p:nvCxnSpPr>
        <p:spPr>
          <a:xfrm flipV="1">
            <a:off x="4318000" y="3492500"/>
            <a:ext cx="0" cy="355600"/>
          </a:xfrm>
          <a:prstGeom prst="line">
            <a:avLst/>
          </a:prstGeom>
          <a:ln w="57150">
            <a:solidFill>
              <a:srgbClr val="FF64A5"/>
            </a:solidFill>
          </a:ln>
        </p:spPr>
        <p:style>
          <a:lnRef idx="1">
            <a:schemeClr val="accent1"/>
          </a:lnRef>
          <a:fillRef idx="0">
            <a:schemeClr val="accent1"/>
          </a:fillRef>
          <a:effectRef idx="0">
            <a:schemeClr val="accent1"/>
          </a:effectRef>
          <a:fontRef idx="minor">
            <a:schemeClr val="tx1"/>
          </a:fontRef>
        </p:style>
      </p:cxnSp>
      <p:sp>
        <p:nvSpPr>
          <p:cNvPr id="43" name="Oval 42">
            <a:extLst>
              <a:ext uri="{FF2B5EF4-FFF2-40B4-BE49-F238E27FC236}">
                <a16:creationId xmlns:a16="http://schemas.microsoft.com/office/drawing/2014/main" id="{7239F8B8-3CEF-4023-9E82-10364E19711E}"/>
              </a:ext>
            </a:extLst>
          </p:cNvPr>
          <p:cNvSpPr/>
          <p:nvPr/>
        </p:nvSpPr>
        <p:spPr>
          <a:xfrm>
            <a:off x="4267200" y="3441700"/>
            <a:ext cx="101600" cy="101600"/>
          </a:xfrm>
          <a:prstGeom prst="ellipse">
            <a:avLst/>
          </a:prstGeom>
          <a:solidFill>
            <a:srgbClr val="FF64A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4" name="Straight Connector 43">
            <a:extLst>
              <a:ext uri="{FF2B5EF4-FFF2-40B4-BE49-F238E27FC236}">
                <a16:creationId xmlns:a16="http://schemas.microsoft.com/office/drawing/2014/main" id="{12C5B429-9580-401E-AAD6-3F230B257498}"/>
              </a:ext>
            </a:extLst>
          </p:cNvPr>
          <p:cNvCxnSpPr/>
          <p:nvPr/>
        </p:nvCxnSpPr>
        <p:spPr>
          <a:xfrm flipV="1">
            <a:off x="6159500" y="3599180"/>
            <a:ext cx="0" cy="248920"/>
          </a:xfrm>
          <a:prstGeom prst="line">
            <a:avLst/>
          </a:prstGeom>
          <a:ln w="57150">
            <a:solidFill>
              <a:srgbClr val="FF64A5"/>
            </a:solidFill>
          </a:ln>
        </p:spPr>
        <p:style>
          <a:lnRef idx="1">
            <a:schemeClr val="accent1"/>
          </a:lnRef>
          <a:fillRef idx="0">
            <a:schemeClr val="accent1"/>
          </a:fillRef>
          <a:effectRef idx="0">
            <a:schemeClr val="accent1"/>
          </a:effectRef>
          <a:fontRef idx="minor">
            <a:schemeClr val="tx1"/>
          </a:fontRef>
        </p:style>
      </p:cxnSp>
      <p:sp>
        <p:nvSpPr>
          <p:cNvPr id="45" name="Oval 44">
            <a:extLst>
              <a:ext uri="{FF2B5EF4-FFF2-40B4-BE49-F238E27FC236}">
                <a16:creationId xmlns:a16="http://schemas.microsoft.com/office/drawing/2014/main" id="{E70E4DDA-E73E-4C32-9A25-AD6FEF237179}"/>
              </a:ext>
            </a:extLst>
          </p:cNvPr>
          <p:cNvSpPr/>
          <p:nvPr/>
        </p:nvSpPr>
        <p:spPr>
          <a:xfrm>
            <a:off x="6108700" y="3548380"/>
            <a:ext cx="101600" cy="101600"/>
          </a:xfrm>
          <a:prstGeom prst="ellipse">
            <a:avLst/>
          </a:prstGeom>
          <a:solidFill>
            <a:srgbClr val="FF64A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6" name="Straight Connector 45">
            <a:extLst>
              <a:ext uri="{FF2B5EF4-FFF2-40B4-BE49-F238E27FC236}">
                <a16:creationId xmlns:a16="http://schemas.microsoft.com/office/drawing/2014/main" id="{2F1A9BEB-DCB0-423F-8631-E8D239A600EB}"/>
              </a:ext>
            </a:extLst>
          </p:cNvPr>
          <p:cNvCxnSpPr/>
          <p:nvPr/>
        </p:nvCxnSpPr>
        <p:spPr>
          <a:xfrm flipV="1">
            <a:off x="8001000" y="3673856"/>
            <a:ext cx="0" cy="174244"/>
          </a:xfrm>
          <a:prstGeom prst="line">
            <a:avLst/>
          </a:prstGeom>
          <a:ln w="57150">
            <a:solidFill>
              <a:srgbClr val="FF64A5"/>
            </a:solidFill>
          </a:ln>
        </p:spPr>
        <p:style>
          <a:lnRef idx="1">
            <a:schemeClr val="accent1"/>
          </a:lnRef>
          <a:fillRef idx="0">
            <a:schemeClr val="accent1"/>
          </a:fillRef>
          <a:effectRef idx="0">
            <a:schemeClr val="accent1"/>
          </a:effectRef>
          <a:fontRef idx="minor">
            <a:schemeClr val="tx1"/>
          </a:fontRef>
        </p:style>
      </p:cxnSp>
      <p:sp>
        <p:nvSpPr>
          <p:cNvPr id="47" name="Oval 46">
            <a:extLst>
              <a:ext uri="{FF2B5EF4-FFF2-40B4-BE49-F238E27FC236}">
                <a16:creationId xmlns:a16="http://schemas.microsoft.com/office/drawing/2014/main" id="{A9AEBFFA-CD8B-45CA-BE2E-662C073B7B0B}"/>
              </a:ext>
            </a:extLst>
          </p:cNvPr>
          <p:cNvSpPr/>
          <p:nvPr/>
        </p:nvSpPr>
        <p:spPr>
          <a:xfrm>
            <a:off x="7950200" y="3623056"/>
            <a:ext cx="101600" cy="101600"/>
          </a:xfrm>
          <a:prstGeom prst="ellipse">
            <a:avLst/>
          </a:prstGeom>
          <a:solidFill>
            <a:srgbClr val="FF64A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8" name="Straight Connector 47">
            <a:extLst>
              <a:ext uri="{FF2B5EF4-FFF2-40B4-BE49-F238E27FC236}">
                <a16:creationId xmlns:a16="http://schemas.microsoft.com/office/drawing/2014/main" id="{6D416760-0446-472D-A458-355A3BEE8027}"/>
              </a:ext>
            </a:extLst>
          </p:cNvPr>
          <p:cNvCxnSpPr/>
          <p:nvPr/>
        </p:nvCxnSpPr>
        <p:spPr>
          <a:xfrm flipV="1">
            <a:off x="9842500" y="3726129"/>
            <a:ext cx="0" cy="121971"/>
          </a:xfrm>
          <a:prstGeom prst="line">
            <a:avLst/>
          </a:prstGeom>
          <a:ln w="57150">
            <a:solidFill>
              <a:srgbClr val="FF64A5"/>
            </a:solidFill>
          </a:ln>
        </p:spPr>
        <p:style>
          <a:lnRef idx="1">
            <a:schemeClr val="accent1"/>
          </a:lnRef>
          <a:fillRef idx="0">
            <a:schemeClr val="accent1"/>
          </a:fillRef>
          <a:effectRef idx="0">
            <a:schemeClr val="accent1"/>
          </a:effectRef>
          <a:fontRef idx="minor">
            <a:schemeClr val="tx1"/>
          </a:fontRef>
        </p:style>
      </p:cxnSp>
      <p:sp>
        <p:nvSpPr>
          <p:cNvPr id="49" name="Oval 48">
            <a:extLst>
              <a:ext uri="{FF2B5EF4-FFF2-40B4-BE49-F238E27FC236}">
                <a16:creationId xmlns:a16="http://schemas.microsoft.com/office/drawing/2014/main" id="{1497F306-6B2E-45D1-AE1E-4C7A3FBC635C}"/>
              </a:ext>
            </a:extLst>
          </p:cNvPr>
          <p:cNvSpPr/>
          <p:nvPr/>
        </p:nvSpPr>
        <p:spPr>
          <a:xfrm>
            <a:off x="9791700" y="3675329"/>
            <a:ext cx="101600" cy="101600"/>
          </a:xfrm>
          <a:prstGeom prst="ellipse">
            <a:avLst/>
          </a:prstGeom>
          <a:solidFill>
            <a:srgbClr val="FF64A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TextBox 49">
            <a:extLst>
              <a:ext uri="{FF2B5EF4-FFF2-40B4-BE49-F238E27FC236}">
                <a16:creationId xmlns:a16="http://schemas.microsoft.com/office/drawing/2014/main" id="{F2E9ECFE-B09A-4725-8195-AF10D803FB39}"/>
              </a:ext>
            </a:extLst>
          </p:cNvPr>
          <p:cNvSpPr txBox="1"/>
          <p:nvPr/>
        </p:nvSpPr>
        <p:spPr>
          <a:xfrm>
            <a:off x="4318000" y="3111500"/>
            <a:ext cx="4826000" cy="230832"/>
          </a:xfrm>
          <a:prstGeom prst="rect">
            <a:avLst/>
          </a:prstGeom>
          <a:noFill/>
        </p:spPr>
        <p:txBody>
          <a:bodyPr vert="horz" wrap="square" lIns="0" tIns="0" rIns="0" bIns="0" rtlCol="0">
            <a:spAutoFit/>
          </a:bodyPr>
          <a:lstStyle/>
          <a:p>
            <a:r>
              <a:rPr lang="en-US" sz="1500" b="1">
                <a:solidFill>
                  <a:srgbClr val="FF64A5"/>
                </a:solidFill>
                <a:latin typeface="Bahnschrift" panose="020B0502040204020203" pitchFamily="34" charset="0"/>
              </a:rPr>
              <a:t>each repeat gets quieter</a:t>
            </a:r>
          </a:p>
        </p:txBody>
      </p:sp>
      <p:sp>
        <p:nvSpPr>
          <p:cNvPr id="51" name="TextBox 50">
            <a:extLst>
              <a:ext uri="{FF2B5EF4-FFF2-40B4-BE49-F238E27FC236}">
                <a16:creationId xmlns:a16="http://schemas.microsoft.com/office/drawing/2014/main" id="{7B15957C-DA72-4947-953C-5C01B498952C}"/>
              </a:ext>
            </a:extLst>
          </p:cNvPr>
          <p:cNvSpPr txBox="1"/>
          <p:nvPr/>
        </p:nvSpPr>
        <p:spPr>
          <a:xfrm>
            <a:off x="889000" y="4419600"/>
            <a:ext cx="10414000" cy="292388"/>
          </a:xfrm>
          <a:prstGeom prst="rect">
            <a:avLst/>
          </a:prstGeom>
          <a:noFill/>
        </p:spPr>
        <p:txBody>
          <a:bodyPr vert="horz" wrap="square" lIns="0" tIns="0" rIns="0" bIns="0" rtlCol="0">
            <a:spAutoFit/>
          </a:bodyPr>
          <a:lstStyle/>
          <a:p>
            <a:r>
              <a:rPr lang="en-US" sz="1900">
                <a:solidFill>
                  <a:srgbClr val="CCDDEC"/>
                </a:solidFill>
                <a:latin typeface="Aptos"/>
              </a:rPr>
              <a:t>Echo is repeated delay: four later copies are mixed in, each scaled by amount to a higher power.</a:t>
            </a:r>
          </a:p>
        </p:txBody>
      </p:sp>
      <p:sp>
        <p:nvSpPr>
          <p:cNvPr id="52" name="Rectangle 51">
            <a:extLst>
              <a:ext uri="{FF2B5EF4-FFF2-40B4-BE49-F238E27FC236}">
                <a16:creationId xmlns:a16="http://schemas.microsoft.com/office/drawing/2014/main" id="{EC9ADC29-0E76-4F16-9450-3607AB486848}"/>
              </a:ext>
            </a:extLst>
          </p:cNvPr>
          <p:cNvSpPr/>
          <p:nvPr/>
        </p:nvSpPr>
        <p:spPr>
          <a:xfrm>
            <a:off x="863600" y="5156200"/>
            <a:ext cx="10464800" cy="558800"/>
          </a:xfrm>
          <a:prstGeom prst="rect">
            <a:avLst/>
          </a:prstGeom>
          <a:solidFill>
            <a:srgbClr val="0F2235"/>
          </a:solidFill>
          <a:ln w="10160">
            <a:solidFill>
              <a:srgbClr val="264B6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TextBox 52">
            <a:extLst>
              <a:ext uri="{FF2B5EF4-FFF2-40B4-BE49-F238E27FC236}">
                <a16:creationId xmlns:a16="http://schemas.microsoft.com/office/drawing/2014/main" id="{0FC362FD-AF98-4B8A-A58F-82AC36BDDFA1}"/>
              </a:ext>
            </a:extLst>
          </p:cNvPr>
          <p:cNvSpPr txBox="1"/>
          <p:nvPr/>
        </p:nvSpPr>
        <p:spPr>
          <a:xfrm>
            <a:off x="1066800" y="5283200"/>
            <a:ext cx="10058400" cy="204671"/>
          </a:xfrm>
          <a:prstGeom prst="rect">
            <a:avLst/>
          </a:prstGeom>
          <a:noFill/>
        </p:spPr>
        <p:txBody>
          <a:bodyPr vert="horz" wrap="square" lIns="0" tIns="0" rIns="0" bIns="0" rtlCol="0">
            <a:spAutoFit/>
          </a:bodyPr>
          <a:lstStyle/>
          <a:p>
            <a:r>
              <a:rPr lang="en-US" sz="1330">
                <a:solidFill>
                  <a:srgbClr val="37D9E9"/>
                </a:solidFill>
                <a:latin typeface="Consolas" panose="020B0609020204030204" pitchFamily="49" charset="0"/>
              </a:rPr>
              <a:t>repeats = 4; output[start:start + len(audio)] += audio * amount ** repeat</a:t>
            </a:r>
          </a:p>
        </p:txBody>
      </p:sp>
      <p:sp>
        <p:nvSpPr>
          <p:cNvPr id="54" name="TextBox 53">
            <a:extLst>
              <a:ext uri="{FF2B5EF4-FFF2-40B4-BE49-F238E27FC236}">
                <a16:creationId xmlns:a16="http://schemas.microsoft.com/office/drawing/2014/main" id="{C1925401-FA33-4751-8875-C9D3CAF4E6EF}"/>
              </a:ext>
            </a:extLst>
          </p:cNvPr>
          <p:cNvSpPr txBox="1"/>
          <p:nvPr/>
        </p:nvSpPr>
        <p:spPr>
          <a:xfrm>
            <a:off x="889000" y="5918200"/>
            <a:ext cx="1841500" cy="169277"/>
          </a:xfrm>
          <a:prstGeom prst="rect">
            <a:avLst/>
          </a:prstGeom>
          <a:noFill/>
        </p:spPr>
        <p:txBody>
          <a:bodyPr vert="horz" wrap="square" lIns="0" tIns="0" rIns="0" bIns="0" rtlCol="0">
            <a:spAutoFit/>
          </a:bodyPr>
          <a:lstStyle/>
          <a:p>
            <a:r>
              <a:rPr lang="en-US" sz="1100" b="1">
                <a:solidFill>
                  <a:srgbClr val="FF64A5"/>
                </a:solidFill>
                <a:latin typeface="Bahnschrift" panose="020B0502040204020203" pitchFamily="34" charset="0"/>
              </a:rPr>
              <a:t>TRY IN THE APP</a:t>
            </a:r>
          </a:p>
        </p:txBody>
      </p:sp>
      <p:sp>
        <p:nvSpPr>
          <p:cNvPr id="55" name="TextBox 54">
            <a:extLst>
              <a:ext uri="{FF2B5EF4-FFF2-40B4-BE49-F238E27FC236}">
                <a16:creationId xmlns:a16="http://schemas.microsoft.com/office/drawing/2014/main" id="{91B28574-59A7-4A10-8776-FC4C0FE1A0AE}"/>
              </a:ext>
            </a:extLst>
          </p:cNvPr>
          <p:cNvSpPr txBox="1"/>
          <p:nvPr/>
        </p:nvSpPr>
        <p:spPr>
          <a:xfrm>
            <a:off x="2794000" y="5880100"/>
            <a:ext cx="8483600" cy="230832"/>
          </a:xfrm>
          <a:prstGeom prst="rect">
            <a:avLst/>
          </a:prstGeom>
          <a:noFill/>
        </p:spPr>
        <p:txBody>
          <a:bodyPr vert="horz" wrap="square" lIns="0" tIns="0" rIns="0" bIns="0" rtlCol="0">
            <a:spAutoFit/>
          </a:bodyPr>
          <a:lstStyle/>
          <a:p>
            <a:r>
              <a:rPr lang="en-US" sz="1500">
                <a:solidFill>
                  <a:srgbClr val="CCDDEC"/>
                </a:solidFill>
                <a:latin typeface="Aptos"/>
              </a:rPr>
              <a:t>Choose Echo; increase amount to hear a longer tail.</a:t>
            </a:r>
          </a:p>
        </p:txBody>
      </p:sp>
      <p:sp>
        <p:nvSpPr>
          <p:cNvPr id="56" name="Rectangle 55">
            <a:extLst>
              <a:ext uri="{FF2B5EF4-FFF2-40B4-BE49-F238E27FC236}">
                <a16:creationId xmlns:a16="http://schemas.microsoft.com/office/drawing/2014/main" id="{4F5A8470-3E17-4F07-81C0-8C13AA48B183}"/>
              </a:ext>
            </a:extLst>
          </p:cNvPr>
          <p:cNvSpPr/>
          <p:nvPr/>
        </p:nvSpPr>
        <p:spPr>
          <a:xfrm>
            <a:off x="533400" y="381000"/>
            <a:ext cx="50800" cy="495300"/>
          </a:xfrm>
          <a:prstGeom prst="rect">
            <a:avLst/>
          </a:prstGeom>
          <a:solidFill>
            <a:srgbClr val="37D9E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TextBox 56">
            <a:extLst>
              <a:ext uri="{FF2B5EF4-FFF2-40B4-BE49-F238E27FC236}">
                <a16:creationId xmlns:a16="http://schemas.microsoft.com/office/drawing/2014/main" id="{2EDF7B77-51B2-4014-BF42-16662D7F7A77}"/>
              </a:ext>
            </a:extLst>
          </p:cNvPr>
          <p:cNvSpPr txBox="1"/>
          <p:nvPr/>
        </p:nvSpPr>
        <p:spPr>
          <a:xfrm>
            <a:off x="9779000" y="927100"/>
            <a:ext cx="1676400" cy="138499"/>
          </a:xfrm>
          <a:prstGeom prst="rect">
            <a:avLst/>
          </a:prstGeom>
          <a:noFill/>
        </p:spPr>
        <p:txBody>
          <a:bodyPr vert="horz" wrap="square" lIns="0" tIns="0" rIns="0" bIns="0" rtlCol="0">
            <a:spAutoFit/>
          </a:bodyPr>
          <a:lstStyle/>
          <a:p>
            <a:pPr algn="r"/>
            <a:r>
              <a:rPr lang="en-US" sz="900">
                <a:solidFill>
                  <a:srgbClr val="85A0B8"/>
                </a:solidFill>
                <a:latin typeface="Bahnschrift" panose="020B0502040204020203" pitchFamily="34" charset="0"/>
              </a:rPr>
              <a:t>ANALYSIS  /  09</a:t>
            </a:r>
          </a:p>
        </p:txBody>
      </p:sp>
      <p:sp>
        <p:nvSpPr>
          <p:cNvPr id="58" name="TextBox 57">
            <a:extLst>
              <a:ext uri="{FF2B5EF4-FFF2-40B4-BE49-F238E27FC236}">
                <a16:creationId xmlns:a16="http://schemas.microsoft.com/office/drawing/2014/main" id="{6C8F4D48-5809-4D5A-9FA1-C87E336C1CFF}"/>
              </a:ext>
            </a:extLst>
          </p:cNvPr>
          <p:cNvSpPr txBox="1"/>
          <p:nvPr/>
        </p:nvSpPr>
        <p:spPr>
          <a:xfrm>
            <a:off x="9994900" y="2108200"/>
            <a:ext cx="1117600" cy="138499"/>
          </a:xfrm>
          <a:prstGeom prst="rect">
            <a:avLst/>
          </a:prstGeom>
          <a:noFill/>
        </p:spPr>
        <p:txBody>
          <a:bodyPr vert="horz" wrap="square" lIns="0" tIns="0" rIns="0" bIns="0" rtlCol="0">
            <a:spAutoFit/>
          </a:bodyPr>
          <a:lstStyle/>
          <a:p>
            <a:r>
              <a:rPr lang="en-US" sz="900" b="1">
                <a:solidFill>
                  <a:srgbClr val="85A0B8"/>
                </a:solidFill>
                <a:latin typeface="Bahnschrift" panose="020B0502040204020203" pitchFamily="34" charset="0"/>
              </a:rPr>
              <a:t>SCHEMATIC</a:t>
            </a:r>
          </a:p>
        </p:txBody>
      </p:sp>
    </p:spTree>
    <p:extLst>
      <p:ext uri="{BB962C8B-B14F-4D97-AF65-F5344CB8AC3E}">
        <p14:creationId xmlns:p14="http://schemas.microsoft.com/office/powerpoint/2010/main" val="15460348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2894C9-84A0-4A21-A118-F4418C43E11B}"/>
              </a:ext>
            </a:extLst>
          </p:cNvPr>
          <p:cNvSpPr/>
          <p:nvPr/>
        </p:nvSpPr>
        <p:spPr>
          <a:xfrm>
            <a:off x="0" y="0"/>
            <a:ext cx="12192000" cy="6858000"/>
          </a:xfrm>
          <a:prstGeom prst="rect">
            <a:avLst/>
          </a:prstGeom>
          <a:solidFill>
            <a:srgbClr val="08122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A3ADC73B-33B4-4813-AF43-64CABC3C2503}"/>
              </a:ext>
            </a:extLst>
          </p:cNvPr>
          <p:cNvSpPr txBox="1"/>
          <p:nvPr/>
        </p:nvSpPr>
        <p:spPr>
          <a:xfrm>
            <a:off x="685800" y="368300"/>
            <a:ext cx="10795000" cy="430887"/>
          </a:xfrm>
          <a:prstGeom prst="rect">
            <a:avLst/>
          </a:prstGeom>
          <a:noFill/>
        </p:spPr>
        <p:txBody>
          <a:bodyPr vert="horz" wrap="square" lIns="0" tIns="0" rIns="0" bIns="0" rtlCol="0">
            <a:spAutoFit/>
          </a:bodyPr>
          <a:lstStyle/>
          <a:p>
            <a:r>
              <a:rPr lang="en-US" sz="2800" b="1">
                <a:solidFill>
                  <a:srgbClr val="EEF6FF"/>
                </a:solidFill>
                <a:latin typeface="Bahnschrift" panose="020B0502040204020203" pitchFamily="34" charset="0"/>
              </a:rPr>
              <a:t>Tremolo: volume moves in waves</a:t>
            </a:r>
          </a:p>
        </p:txBody>
      </p:sp>
      <p:cxnSp>
        <p:nvCxnSpPr>
          <p:cNvPr id="4" name="Straight Connector 3">
            <a:extLst>
              <a:ext uri="{FF2B5EF4-FFF2-40B4-BE49-F238E27FC236}">
                <a16:creationId xmlns:a16="http://schemas.microsoft.com/office/drawing/2014/main" id="{98218E7A-BDB0-43DE-B17A-BD0BED9F5092}"/>
              </a:ext>
            </a:extLst>
          </p:cNvPr>
          <p:cNvCxnSpPr/>
          <p:nvPr/>
        </p:nvCxnSpPr>
        <p:spPr>
          <a:xfrm>
            <a:off x="685800" y="1168400"/>
            <a:ext cx="10820400" cy="0"/>
          </a:xfrm>
          <a:prstGeom prst="line">
            <a:avLst/>
          </a:prstGeom>
          <a:ln w="17780">
            <a:solidFill>
              <a:srgbClr val="37D9E9"/>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1BA0986B-7D24-4BF2-9A46-E7A3A799E4B1}"/>
              </a:ext>
            </a:extLst>
          </p:cNvPr>
          <p:cNvSpPr txBox="1"/>
          <p:nvPr/>
        </p:nvSpPr>
        <p:spPr>
          <a:xfrm>
            <a:off x="685800" y="6502400"/>
            <a:ext cx="3810000" cy="153888"/>
          </a:xfrm>
          <a:prstGeom prst="rect">
            <a:avLst/>
          </a:prstGeom>
          <a:noFill/>
        </p:spPr>
        <p:txBody>
          <a:bodyPr vert="horz" wrap="square" lIns="0" tIns="0" rIns="0" bIns="0" rtlCol="0">
            <a:spAutoFit/>
          </a:bodyPr>
          <a:lstStyle/>
          <a:p>
            <a:r>
              <a:rPr lang="en-US" sz="1000" b="1">
                <a:solidFill>
                  <a:srgbClr val="85A0B8"/>
                </a:solidFill>
                <a:latin typeface="Aptos"/>
              </a:rPr>
              <a:t>SIGNAL STUDIO</a:t>
            </a:r>
          </a:p>
        </p:txBody>
      </p:sp>
      <p:sp>
        <p:nvSpPr>
          <p:cNvPr id="6" name="TextBox 5">
            <a:extLst>
              <a:ext uri="{FF2B5EF4-FFF2-40B4-BE49-F238E27FC236}">
                <a16:creationId xmlns:a16="http://schemas.microsoft.com/office/drawing/2014/main" id="{437D206C-41B9-4B28-966C-09180326BEA2}"/>
              </a:ext>
            </a:extLst>
          </p:cNvPr>
          <p:cNvSpPr txBox="1"/>
          <p:nvPr/>
        </p:nvSpPr>
        <p:spPr>
          <a:xfrm>
            <a:off x="11430000" y="6502400"/>
            <a:ext cx="444500" cy="153888"/>
          </a:xfrm>
          <a:prstGeom prst="rect">
            <a:avLst/>
          </a:prstGeom>
          <a:noFill/>
        </p:spPr>
        <p:txBody>
          <a:bodyPr vert="horz" wrap="square" lIns="0" tIns="0" rIns="0" bIns="0" rtlCol="0">
            <a:spAutoFit/>
          </a:bodyPr>
          <a:lstStyle/>
          <a:p>
            <a:pPr algn="r"/>
            <a:r>
              <a:rPr lang="en-US" sz="1000" b="1">
                <a:solidFill>
                  <a:srgbClr val="37D9E9"/>
                </a:solidFill>
                <a:latin typeface="Bahnschrift" panose="020B0502040204020203" pitchFamily="34" charset="0"/>
              </a:rPr>
              <a:t>10</a:t>
            </a:r>
          </a:p>
        </p:txBody>
      </p:sp>
      <p:sp>
        <p:nvSpPr>
          <p:cNvPr id="22" name="TextBox 21">
            <a:extLst>
              <a:ext uri="{FF2B5EF4-FFF2-40B4-BE49-F238E27FC236}">
                <a16:creationId xmlns:a16="http://schemas.microsoft.com/office/drawing/2014/main" id="{FB647189-31BB-4F61-8AC2-A0037BE373CA}"/>
              </a:ext>
            </a:extLst>
          </p:cNvPr>
          <p:cNvSpPr txBox="1"/>
          <p:nvPr/>
        </p:nvSpPr>
        <p:spPr>
          <a:xfrm>
            <a:off x="889000" y="1549400"/>
            <a:ext cx="7620000" cy="230832"/>
          </a:xfrm>
          <a:prstGeom prst="rect">
            <a:avLst/>
          </a:prstGeom>
          <a:noFill/>
        </p:spPr>
        <p:txBody>
          <a:bodyPr vert="horz" wrap="square" lIns="0" tIns="0" rIns="0" bIns="0" rtlCol="0">
            <a:spAutoFit/>
          </a:bodyPr>
          <a:lstStyle/>
          <a:p>
            <a:r>
              <a:rPr lang="en-US" sz="1500" b="1">
                <a:solidFill>
                  <a:srgbClr val="37D9E9"/>
                </a:solidFill>
                <a:latin typeface="Bahnschrift" panose="020B0502040204020203" pitchFamily="34" charset="0"/>
              </a:rPr>
              <a:t>COMPARE THE ENVELOPES</a:t>
            </a:r>
          </a:p>
        </p:txBody>
      </p:sp>
      <p:sp>
        <p:nvSpPr>
          <p:cNvPr id="23" name="Rectangle 22">
            <a:extLst>
              <a:ext uri="{FF2B5EF4-FFF2-40B4-BE49-F238E27FC236}">
                <a16:creationId xmlns:a16="http://schemas.microsoft.com/office/drawing/2014/main" id="{58EC5322-F991-46A4-9A7A-A6E2FDE383DC}"/>
              </a:ext>
            </a:extLst>
          </p:cNvPr>
          <p:cNvSpPr/>
          <p:nvPr/>
        </p:nvSpPr>
        <p:spPr>
          <a:xfrm>
            <a:off x="863600" y="2006600"/>
            <a:ext cx="10464800" cy="2260600"/>
          </a:xfrm>
          <a:prstGeom prst="rect">
            <a:avLst/>
          </a:prstGeom>
          <a:solidFill>
            <a:srgbClr val="0F2235"/>
          </a:solidFill>
          <a:ln w="10160">
            <a:solidFill>
              <a:srgbClr val="264B6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A26C5E4D-2538-4761-BF9E-8A1B6DFA30FC}"/>
              </a:ext>
            </a:extLst>
          </p:cNvPr>
          <p:cNvSpPr txBox="1"/>
          <p:nvPr/>
        </p:nvSpPr>
        <p:spPr>
          <a:xfrm>
            <a:off x="1066800" y="2349500"/>
            <a:ext cx="1524000" cy="215444"/>
          </a:xfrm>
          <a:prstGeom prst="rect">
            <a:avLst/>
          </a:prstGeom>
          <a:noFill/>
        </p:spPr>
        <p:txBody>
          <a:bodyPr vert="horz" wrap="square" lIns="0" tIns="0" rIns="0" bIns="0" rtlCol="0">
            <a:spAutoFit/>
          </a:bodyPr>
          <a:lstStyle/>
          <a:p>
            <a:r>
              <a:rPr lang="en-US" sz="1400">
                <a:solidFill>
                  <a:srgbClr val="85A0B8"/>
                </a:solidFill>
                <a:latin typeface="Aptos"/>
              </a:rPr>
              <a:t>steady input</a:t>
            </a:r>
          </a:p>
        </p:txBody>
      </p:sp>
      <p:sp>
        <p:nvSpPr>
          <p:cNvPr id="25" name="TextBox 24">
            <a:extLst>
              <a:ext uri="{FF2B5EF4-FFF2-40B4-BE49-F238E27FC236}">
                <a16:creationId xmlns:a16="http://schemas.microsoft.com/office/drawing/2014/main" id="{9157A005-5278-4AD3-AAD8-242D46883306}"/>
              </a:ext>
            </a:extLst>
          </p:cNvPr>
          <p:cNvSpPr txBox="1"/>
          <p:nvPr/>
        </p:nvSpPr>
        <p:spPr>
          <a:xfrm>
            <a:off x="1066800" y="3403600"/>
            <a:ext cx="1778000" cy="215444"/>
          </a:xfrm>
          <a:prstGeom prst="rect">
            <a:avLst/>
          </a:prstGeom>
          <a:noFill/>
        </p:spPr>
        <p:txBody>
          <a:bodyPr vert="horz" wrap="square" lIns="0" tIns="0" rIns="0" bIns="0" rtlCol="0">
            <a:spAutoFit/>
          </a:bodyPr>
          <a:lstStyle/>
          <a:p>
            <a:r>
              <a:rPr lang="en-US" sz="1400">
                <a:solidFill>
                  <a:srgbClr val="85A0B8"/>
                </a:solidFill>
                <a:latin typeface="Aptos"/>
              </a:rPr>
              <a:t>tremolo output</a:t>
            </a:r>
          </a:p>
        </p:txBody>
      </p:sp>
      <p:cxnSp>
        <p:nvCxnSpPr>
          <p:cNvPr id="26" name="Straight Connector 25">
            <a:extLst>
              <a:ext uri="{FF2B5EF4-FFF2-40B4-BE49-F238E27FC236}">
                <a16:creationId xmlns:a16="http://schemas.microsoft.com/office/drawing/2014/main" id="{986FCA32-5936-46D4-ABFD-488F7FBAFC9D}"/>
              </a:ext>
            </a:extLst>
          </p:cNvPr>
          <p:cNvCxnSpPr/>
          <p:nvPr/>
        </p:nvCxnSpPr>
        <p:spPr>
          <a:xfrm>
            <a:off x="2921000" y="2768600"/>
            <a:ext cx="7874000" cy="0"/>
          </a:xfrm>
          <a:prstGeom prst="line">
            <a:avLst/>
          </a:prstGeom>
          <a:ln w="12700">
            <a:solidFill>
              <a:srgbClr val="264B63"/>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7E740616-5CC6-49FA-A3D8-34DDC5ABE274}"/>
              </a:ext>
            </a:extLst>
          </p:cNvPr>
          <p:cNvCxnSpPr/>
          <p:nvPr/>
        </p:nvCxnSpPr>
        <p:spPr>
          <a:xfrm>
            <a:off x="2921000" y="3721100"/>
            <a:ext cx="7874000" cy="0"/>
          </a:xfrm>
          <a:prstGeom prst="line">
            <a:avLst/>
          </a:prstGeom>
          <a:ln w="12700">
            <a:solidFill>
              <a:srgbClr val="264B63"/>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3BBC46B2-AA06-499E-92A8-5BE98D19E9B0}"/>
              </a:ext>
            </a:extLst>
          </p:cNvPr>
          <p:cNvCxnSpPr/>
          <p:nvPr/>
        </p:nvCxnSpPr>
        <p:spPr>
          <a:xfrm flipV="1">
            <a:off x="2921000" y="2659542"/>
            <a:ext cx="70304" cy="109058"/>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5B3D74CF-8930-40F6-84FA-33A5869CCBD3}"/>
              </a:ext>
            </a:extLst>
          </p:cNvPr>
          <p:cNvCxnSpPr/>
          <p:nvPr/>
        </p:nvCxnSpPr>
        <p:spPr>
          <a:xfrm flipV="1">
            <a:off x="2991304" y="2562724"/>
            <a:ext cx="70303" cy="96818"/>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D5CFC9A6-63AD-4947-AA69-45292BE30047}"/>
              </a:ext>
            </a:extLst>
          </p:cNvPr>
          <p:cNvCxnSpPr/>
          <p:nvPr/>
        </p:nvCxnSpPr>
        <p:spPr>
          <a:xfrm flipV="1">
            <a:off x="3061607" y="2489012"/>
            <a:ext cx="70304" cy="73712"/>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B56DA565-D9EE-42B2-B8D7-019EA646564D}"/>
              </a:ext>
            </a:extLst>
          </p:cNvPr>
          <p:cNvCxnSpPr/>
          <p:nvPr/>
        </p:nvCxnSpPr>
        <p:spPr>
          <a:xfrm flipV="1">
            <a:off x="3131911" y="2446679"/>
            <a:ext cx="70303" cy="42333"/>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56ECD69A-64E3-4214-92A2-B35ED5A9E706}"/>
              </a:ext>
            </a:extLst>
          </p:cNvPr>
          <p:cNvCxnSpPr/>
          <p:nvPr/>
        </p:nvCxnSpPr>
        <p:spPr>
          <a:xfrm flipV="1">
            <a:off x="3202214" y="2440476"/>
            <a:ext cx="70304" cy="6203"/>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37C8E01-1BE1-4874-8609-D0467C9D200B}"/>
              </a:ext>
            </a:extLst>
          </p:cNvPr>
          <p:cNvCxnSpPr/>
          <p:nvPr/>
        </p:nvCxnSpPr>
        <p:spPr>
          <a:xfrm>
            <a:off x="3272518" y="2440476"/>
            <a:ext cx="70304" cy="30624"/>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556CFC34-EFDF-4CCD-9AE9-0074629DE296}"/>
              </a:ext>
            </a:extLst>
          </p:cNvPr>
          <p:cNvCxnSpPr/>
          <p:nvPr/>
        </p:nvCxnSpPr>
        <p:spPr>
          <a:xfrm>
            <a:off x="3342822" y="2471100"/>
            <a:ext cx="70303" cy="64013"/>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0F89231D-2833-4F15-AA66-6F04451D97CF}"/>
              </a:ext>
            </a:extLst>
          </p:cNvPr>
          <p:cNvCxnSpPr/>
          <p:nvPr/>
        </p:nvCxnSpPr>
        <p:spPr>
          <a:xfrm>
            <a:off x="3413125" y="2535113"/>
            <a:ext cx="70303" cy="90219"/>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339C75F8-13B5-4D39-9AD9-90F66B117E44}"/>
              </a:ext>
            </a:extLst>
          </p:cNvPr>
          <p:cNvCxnSpPr/>
          <p:nvPr/>
        </p:nvCxnSpPr>
        <p:spPr>
          <a:xfrm>
            <a:off x="3483428" y="2625332"/>
            <a:ext cx="70304" cy="106297"/>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4DA6BF15-120F-4351-9774-1AD78C8C01F8}"/>
              </a:ext>
            </a:extLst>
          </p:cNvPr>
          <p:cNvCxnSpPr/>
          <p:nvPr/>
        </p:nvCxnSpPr>
        <p:spPr>
          <a:xfrm>
            <a:off x="3553732" y="2731629"/>
            <a:ext cx="70304" cy="110447"/>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521A476A-5AF9-47A7-9CFD-88085794ACC3}"/>
              </a:ext>
            </a:extLst>
          </p:cNvPr>
          <p:cNvCxnSpPr/>
          <p:nvPr/>
        </p:nvCxnSpPr>
        <p:spPr>
          <a:xfrm>
            <a:off x="3624036" y="2842076"/>
            <a:ext cx="70303" cy="102201"/>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1EC45FAD-6B52-42D5-8CA8-A8C7494C1547}"/>
              </a:ext>
            </a:extLst>
          </p:cNvPr>
          <p:cNvCxnSpPr/>
          <p:nvPr/>
        </p:nvCxnSpPr>
        <p:spPr>
          <a:xfrm>
            <a:off x="3694339" y="2944277"/>
            <a:ext cx="70304" cy="82484"/>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BCD15D12-6562-4AC0-9FA3-D781116FF4EC}"/>
              </a:ext>
            </a:extLst>
          </p:cNvPr>
          <p:cNvCxnSpPr/>
          <p:nvPr/>
        </p:nvCxnSpPr>
        <p:spPr>
          <a:xfrm>
            <a:off x="3764643" y="3026761"/>
            <a:ext cx="70304" cy="53509"/>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A2D052CA-04D9-41A1-8B92-20E9201E7430}"/>
              </a:ext>
            </a:extLst>
          </p:cNvPr>
          <p:cNvCxnSpPr/>
          <p:nvPr/>
        </p:nvCxnSpPr>
        <p:spPr>
          <a:xfrm>
            <a:off x="3834947" y="3080270"/>
            <a:ext cx="70303" cy="18530"/>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6152B93C-1A27-44BA-9BF1-066FD3ADE862}"/>
              </a:ext>
            </a:extLst>
          </p:cNvPr>
          <p:cNvCxnSpPr/>
          <p:nvPr/>
        </p:nvCxnSpPr>
        <p:spPr>
          <a:xfrm flipV="1">
            <a:off x="3905250" y="3080270"/>
            <a:ext cx="70303" cy="18530"/>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D6BD7361-04F5-4469-BD8D-5B437506B9F6}"/>
              </a:ext>
            </a:extLst>
          </p:cNvPr>
          <p:cNvCxnSpPr/>
          <p:nvPr/>
        </p:nvCxnSpPr>
        <p:spPr>
          <a:xfrm flipV="1">
            <a:off x="3975553" y="3026761"/>
            <a:ext cx="70304" cy="53509"/>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7FDC99CA-A90E-4030-B566-D21779389269}"/>
              </a:ext>
            </a:extLst>
          </p:cNvPr>
          <p:cNvCxnSpPr/>
          <p:nvPr/>
        </p:nvCxnSpPr>
        <p:spPr>
          <a:xfrm flipV="1">
            <a:off x="4045857" y="2944277"/>
            <a:ext cx="70304" cy="82484"/>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4B9B8984-DA3F-43D0-AC0C-B0012349E380}"/>
              </a:ext>
            </a:extLst>
          </p:cNvPr>
          <p:cNvCxnSpPr/>
          <p:nvPr/>
        </p:nvCxnSpPr>
        <p:spPr>
          <a:xfrm flipV="1">
            <a:off x="4116161" y="2842076"/>
            <a:ext cx="70303" cy="102201"/>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5131CF61-E2F7-4178-854A-C5387B0C6BFD}"/>
              </a:ext>
            </a:extLst>
          </p:cNvPr>
          <p:cNvCxnSpPr/>
          <p:nvPr/>
        </p:nvCxnSpPr>
        <p:spPr>
          <a:xfrm flipV="1">
            <a:off x="4186464" y="2731629"/>
            <a:ext cx="70304" cy="110447"/>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B9937E5E-996E-44E9-9BE6-188AF89BA130}"/>
              </a:ext>
            </a:extLst>
          </p:cNvPr>
          <p:cNvCxnSpPr/>
          <p:nvPr/>
        </p:nvCxnSpPr>
        <p:spPr>
          <a:xfrm flipV="1">
            <a:off x="4256768" y="2625332"/>
            <a:ext cx="70304" cy="106297"/>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B776C026-7E4E-4452-BDE5-6F8322F494C5}"/>
              </a:ext>
            </a:extLst>
          </p:cNvPr>
          <p:cNvCxnSpPr/>
          <p:nvPr/>
        </p:nvCxnSpPr>
        <p:spPr>
          <a:xfrm flipV="1">
            <a:off x="4327072" y="2535113"/>
            <a:ext cx="70303" cy="90219"/>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D86CF291-B380-4AA4-8AAF-0E0575D43401}"/>
              </a:ext>
            </a:extLst>
          </p:cNvPr>
          <p:cNvCxnSpPr/>
          <p:nvPr/>
        </p:nvCxnSpPr>
        <p:spPr>
          <a:xfrm flipV="1">
            <a:off x="4397375" y="2471100"/>
            <a:ext cx="70303" cy="64013"/>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078F4806-8585-430E-81A1-5BD1A75E5DF5}"/>
              </a:ext>
            </a:extLst>
          </p:cNvPr>
          <p:cNvCxnSpPr/>
          <p:nvPr/>
        </p:nvCxnSpPr>
        <p:spPr>
          <a:xfrm flipV="1">
            <a:off x="4467678" y="2440476"/>
            <a:ext cx="70304" cy="30624"/>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321E2AE3-ABA6-45E9-ABCF-FFE4527F7CF2}"/>
              </a:ext>
            </a:extLst>
          </p:cNvPr>
          <p:cNvCxnSpPr/>
          <p:nvPr/>
        </p:nvCxnSpPr>
        <p:spPr>
          <a:xfrm>
            <a:off x="4537982" y="2440476"/>
            <a:ext cx="70304" cy="6203"/>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8384A50F-9048-49B3-BBC5-FB2FAABB6566}"/>
              </a:ext>
            </a:extLst>
          </p:cNvPr>
          <p:cNvCxnSpPr/>
          <p:nvPr/>
        </p:nvCxnSpPr>
        <p:spPr>
          <a:xfrm>
            <a:off x="4608286" y="2446679"/>
            <a:ext cx="70303" cy="42333"/>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5FFF677C-84AB-4F7A-9A42-AD4D0B64D23B}"/>
              </a:ext>
            </a:extLst>
          </p:cNvPr>
          <p:cNvCxnSpPr/>
          <p:nvPr/>
        </p:nvCxnSpPr>
        <p:spPr>
          <a:xfrm>
            <a:off x="4678589" y="2489012"/>
            <a:ext cx="70304" cy="73712"/>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0CA82686-CCB7-49EA-A054-3CDFE0357D6B}"/>
              </a:ext>
            </a:extLst>
          </p:cNvPr>
          <p:cNvCxnSpPr/>
          <p:nvPr/>
        </p:nvCxnSpPr>
        <p:spPr>
          <a:xfrm>
            <a:off x="4748893" y="2562724"/>
            <a:ext cx="70304" cy="96818"/>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72304DA2-51AA-46D9-A0C8-AD03093E9823}"/>
              </a:ext>
            </a:extLst>
          </p:cNvPr>
          <p:cNvCxnSpPr/>
          <p:nvPr/>
        </p:nvCxnSpPr>
        <p:spPr>
          <a:xfrm>
            <a:off x="4819197" y="2659542"/>
            <a:ext cx="70303" cy="109058"/>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4D1FAD3F-0A0C-4901-BB1C-8EA7C9201DE1}"/>
              </a:ext>
            </a:extLst>
          </p:cNvPr>
          <p:cNvCxnSpPr/>
          <p:nvPr/>
        </p:nvCxnSpPr>
        <p:spPr>
          <a:xfrm>
            <a:off x="4889500" y="2768600"/>
            <a:ext cx="70303" cy="109058"/>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A4000B6E-BC35-4222-BAC1-F19A8A7B4785}"/>
              </a:ext>
            </a:extLst>
          </p:cNvPr>
          <p:cNvCxnSpPr/>
          <p:nvPr/>
        </p:nvCxnSpPr>
        <p:spPr>
          <a:xfrm>
            <a:off x="4959803" y="2877658"/>
            <a:ext cx="70304" cy="96818"/>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5660D6A5-47B3-4794-AD4B-2EC04A95B848}"/>
              </a:ext>
            </a:extLst>
          </p:cNvPr>
          <p:cNvCxnSpPr/>
          <p:nvPr/>
        </p:nvCxnSpPr>
        <p:spPr>
          <a:xfrm>
            <a:off x="5030107" y="2974476"/>
            <a:ext cx="70304" cy="73712"/>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526EFEED-08A0-423E-B3BF-84080AE419E0}"/>
              </a:ext>
            </a:extLst>
          </p:cNvPr>
          <p:cNvCxnSpPr/>
          <p:nvPr/>
        </p:nvCxnSpPr>
        <p:spPr>
          <a:xfrm>
            <a:off x="5100411" y="3048188"/>
            <a:ext cx="70303" cy="42333"/>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D6246031-AD87-4184-808F-C4BAEB29A3AA}"/>
              </a:ext>
            </a:extLst>
          </p:cNvPr>
          <p:cNvCxnSpPr/>
          <p:nvPr/>
        </p:nvCxnSpPr>
        <p:spPr>
          <a:xfrm>
            <a:off x="5170714" y="3090521"/>
            <a:ext cx="70304" cy="6203"/>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B089303D-B491-4102-BD5A-D15A16103674}"/>
              </a:ext>
            </a:extLst>
          </p:cNvPr>
          <p:cNvCxnSpPr/>
          <p:nvPr/>
        </p:nvCxnSpPr>
        <p:spPr>
          <a:xfrm flipV="1">
            <a:off x="5241018" y="3066100"/>
            <a:ext cx="70304" cy="30624"/>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EF40BAAA-408D-4223-BF97-EC3B6281C548}"/>
              </a:ext>
            </a:extLst>
          </p:cNvPr>
          <p:cNvCxnSpPr/>
          <p:nvPr/>
        </p:nvCxnSpPr>
        <p:spPr>
          <a:xfrm flipV="1">
            <a:off x="5311322" y="3002087"/>
            <a:ext cx="70303" cy="64013"/>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09D00239-0C44-424A-8C1A-BB22B666A00A}"/>
              </a:ext>
            </a:extLst>
          </p:cNvPr>
          <p:cNvCxnSpPr/>
          <p:nvPr/>
        </p:nvCxnSpPr>
        <p:spPr>
          <a:xfrm flipV="1">
            <a:off x="5381625" y="2911868"/>
            <a:ext cx="70303" cy="90219"/>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B2D87800-5C06-49C7-B099-3826B404919C}"/>
              </a:ext>
            </a:extLst>
          </p:cNvPr>
          <p:cNvCxnSpPr/>
          <p:nvPr/>
        </p:nvCxnSpPr>
        <p:spPr>
          <a:xfrm flipV="1">
            <a:off x="5451928" y="2805571"/>
            <a:ext cx="70304" cy="106297"/>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A143A644-F7C6-4DDA-A034-6EC404A6D416}"/>
              </a:ext>
            </a:extLst>
          </p:cNvPr>
          <p:cNvCxnSpPr/>
          <p:nvPr/>
        </p:nvCxnSpPr>
        <p:spPr>
          <a:xfrm flipV="1">
            <a:off x="5522232" y="2695124"/>
            <a:ext cx="70304" cy="110447"/>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42455889-2BAA-43AF-8D7A-BF0BF91B09E8}"/>
              </a:ext>
            </a:extLst>
          </p:cNvPr>
          <p:cNvCxnSpPr/>
          <p:nvPr/>
        </p:nvCxnSpPr>
        <p:spPr>
          <a:xfrm flipV="1">
            <a:off x="5592536" y="2592923"/>
            <a:ext cx="70303" cy="102201"/>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CDBEB023-1531-4524-B769-3C09C7C23C2E}"/>
              </a:ext>
            </a:extLst>
          </p:cNvPr>
          <p:cNvCxnSpPr/>
          <p:nvPr/>
        </p:nvCxnSpPr>
        <p:spPr>
          <a:xfrm flipV="1">
            <a:off x="5662839" y="2510439"/>
            <a:ext cx="70304" cy="82484"/>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233724F5-845F-459F-932A-7EA767587F90}"/>
              </a:ext>
            </a:extLst>
          </p:cNvPr>
          <p:cNvCxnSpPr/>
          <p:nvPr/>
        </p:nvCxnSpPr>
        <p:spPr>
          <a:xfrm flipV="1">
            <a:off x="5733143" y="2456930"/>
            <a:ext cx="70304" cy="53509"/>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8C2B8DDB-6564-4BDA-B117-2A317A10FD15}"/>
              </a:ext>
            </a:extLst>
          </p:cNvPr>
          <p:cNvCxnSpPr/>
          <p:nvPr/>
        </p:nvCxnSpPr>
        <p:spPr>
          <a:xfrm flipV="1">
            <a:off x="5803447" y="2438400"/>
            <a:ext cx="70303" cy="18530"/>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06B2D0EB-B2CB-4AE1-AAB8-2FA7391E85D8}"/>
              </a:ext>
            </a:extLst>
          </p:cNvPr>
          <p:cNvCxnSpPr/>
          <p:nvPr/>
        </p:nvCxnSpPr>
        <p:spPr>
          <a:xfrm>
            <a:off x="5873750" y="2438400"/>
            <a:ext cx="70303" cy="18530"/>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84BFE0F1-D2BE-4F54-A058-DB638163622E}"/>
              </a:ext>
            </a:extLst>
          </p:cNvPr>
          <p:cNvCxnSpPr/>
          <p:nvPr/>
        </p:nvCxnSpPr>
        <p:spPr>
          <a:xfrm>
            <a:off x="5944053" y="2456930"/>
            <a:ext cx="70304" cy="53509"/>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5828A783-A61E-44EA-AA2A-0BAC909562B6}"/>
              </a:ext>
            </a:extLst>
          </p:cNvPr>
          <p:cNvCxnSpPr/>
          <p:nvPr/>
        </p:nvCxnSpPr>
        <p:spPr>
          <a:xfrm>
            <a:off x="6014357" y="2510439"/>
            <a:ext cx="70304" cy="82484"/>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E5118944-DD16-4176-A5C3-E6F6AC6AE6F7}"/>
              </a:ext>
            </a:extLst>
          </p:cNvPr>
          <p:cNvCxnSpPr/>
          <p:nvPr/>
        </p:nvCxnSpPr>
        <p:spPr>
          <a:xfrm>
            <a:off x="6084661" y="2592923"/>
            <a:ext cx="70303" cy="102201"/>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4126017F-C5E2-4303-8E42-B2F62E16451A}"/>
              </a:ext>
            </a:extLst>
          </p:cNvPr>
          <p:cNvCxnSpPr/>
          <p:nvPr/>
        </p:nvCxnSpPr>
        <p:spPr>
          <a:xfrm>
            <a:off x="6154964" y="2695124"/>
            <a:ext cx="70304" cy="110447"/>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11883883-AFE9-40F9-8E47-99A1DAAE65E5}"/>
              </a:ext>
            </a:extLst>
          </p:cNvPr>
          <p:cNvCxnSpPr/>
          <p:nvPr/>
        </p:nvCxnSpPr>
        <p:spPr>
          <a:xfrm>
            <a:off x="6225268" y="2805571"/>
            <a:ext cx="70304" cy="106297"/>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994916B6-CB40-46B6-8452-F4D58284B505}"/>
              </a:ext>
            </a:extLst>
          </p:cNvPr>
          <p:cNvCxnSpPr/>
          <p:nvPr/>
        </p:nvCxnSpPr>
        <p:spPr>
          <a:xfrm>
            <a:off x="6295572" y="2911868"/>
            <a:ext cx="70303" cy="90219"/>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D169971B-A6A7-4509-AEBD-9760BC779600}"/>
              </a:ext>
            </a:extLst>
          </p:cNvPr>
          <p:cNvCxnSpPr/>
          <p:nvPr/>
        </p:nvCxnSpPr>
        <p:spPr>
          <a:xfrm>
            <a:off x="6365875" y="3002087"/>
            <a:ext cx="70303" cy="64013"/>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770F20E0-B01C-499F-8AE8-45AE806DA949}"/>
              </a:ext>
            </a:extLst>
          </p:cNvPr>
          <p:cNvCxnSpPr/>
          <p:nvPr/>
        </p:nvCxnSpPr>
        <p:spPr>
          <a:xfrm>
            <a:off x="6436178" y="3066100"/>
            <a:ext cx="70304" cy="30624"/>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1079AAEA-C763-4E71-96A1-A477062C8BCC}"/>
              </a:ext>
            </a:extLst>
          </p:cNvPr>
          <p:cNvCxnSpPr/>
          <p:nvPr/>
        </p:nvCxnSpPr>
        <p:spPr>
          <a:xfrm flipV="1">
            <a:off x="6506482" y="3090521"/>
            <a:ext cx="70303" cy="6203"/>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24142C99-67F6-49DB-9EE7-AB1748CA035B}"/>
              </a:ext>
            </a:extLst>
          </p:cNvPr>
          <p:cNvCxnSpPr/>
          <p:nvPr/>
        </p:nvCxnSpPr>
        <p:spPr>
          <a:xfrm flipV="1">
            <a:off x="6576785" y="3048188"/>
            <a:ext cx="70305" cy="42333"/>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A417142D-7774-4A9B-AD97-4328B88DC415}"/>
              </a:ext>
            </a:extLst>
          </p:cNvPr>
          <p:cNvCxnSpPr/>
          <p:nvPr/>
        </p:nvCxnSpPr>
        <p:spPr>
          <a:xfrm flipV="1">
            <a:off x="6647090" y="2974476"/>
            <a:ext cx="70303" cy="73712"/>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5B4243CC-81B7-4FEE-8195-7347B9F70C4E}"/>
              </a:ext>
            </a:extLst>
          </p:cNvPr>
          <p:cNvCxnSpPr/>
          <p:nvPr/>
        </p:nvCxnSpPr>
        <p:spPr>
          <a:xfrm flipV="1">
            <a:off x="6717393" y="2877658"/>
            <a:ext cx="70304" cy="96818"/>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0B9F0DE9-CE6D-43E6-B9B5-6FDE7EA40836}"/>
              </a:ext>
            </a:extLst>
          </p:cNvPr>
          <p:cNvCxnSpPr/>
          <p:nvPr/>
        </p:nvCxnSpPr>
        <p:spPr>
          <a:xfrm flipV="1">
            <a:off x="6787697" y="2768600"/>
            <a:ext cx="70303" cy="109058"/>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8071CDE4-748B-4DCF-8DA6-3B818672C33E}"/>
              </a:ext>
            </a:extLst>
          </p:cNvPr>
          <p:cNvCxnSpPr/>
          <p:nvPr/>
        </p:nvCxnSpPr>
        <p:spPr>
          <a:xfrm flipV="1">
            <a:off x="6858000" y="2659542"/>
            <a:ext cx="70303" cy="109058"/>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FA552DE4-9B9C-4098-9E39-0DAB4B7E80EA}"/>
              </a:ext>
            </a:extLst>
          </p:cNvPr>
          <p:cNvCxnSpPr/>
          <p:nvPr/>
        </p:nvCxnSpPr>
        <p:spPr>
          <a:xfrm flipV="1">
            <a:off x="6928303" y="2562724"/>
            <a:ext cx="70304" cy="96818"/>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8FEA1DDB-850A-406B-A4EC-64A29FE7EB57}"/>
              </a:ext>
            </a:extLst>
          </p:cNvPr>
          <p:cNvCxnSpPr/>
          <p:nvPr/>
        </p:nvCxnSpPr>
        <p:spPr>
          <a:xfrm flipV="1">
            <a:off x="6998607" y="2489012"/>
            <a:ext cx="70303" cy="73712"/>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16DDB833-C443-4F3A-B556-1F497E642F70}"/>
              </a:ext>
            </a:extLst>
          </p:cNvPr>
          <p:cNvCxnSpPr/>
          <p:nvPr/>
        </p:nvCxnSpPr>
        <p:spPr>
          <a:xfrm flipV="1">
            <a:off x="7068910" y="2446679"/>
            <a:ext cx="70305" cy="42333"/>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A8BE3A4B-288D-4F28-94D5-1B1717343B6C}"/>
              </a:ext>
            </a:extLst>
          </p:cNvPr>
          <p:cNvCxnSpPr/>
          <p:nvPr/>
        </p:nvCxnSpPr>
        <p:spPr>
          <a:xfrm flipV="1">
            <a:off x="7139215" y="2440476"/>
            <a:ext cx="70303" cy="6203"/>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F4A327B8-90A4-4B55-AAD8-B568BC01ED00}"/>
              </a:ext>
            </a:extLst>
          </p:cNvPr>
          <p:cNvCxnSpPr/>
          <p:nvPr/>
        </p:nvCxnSpPr>
        <p:spPr>
          <a:xfrm>
            <a:off x="7209518" y="2440476"/>
            <a:ext cx="70304" cy="30624"/>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BC712F24-B4BF-44B4-B243-9260AC885171}"/>
              </a:ext>
            </a:extLst>
          </p:cNvPr>
          <p:cNvCxnSpPr/>
          <p:nvPr/>
        </p:nvCxnSpPr>
        <p:spPr>
          <a:xfrm>
            <a:off x="7279822" y="2471100"/>
            <a:ext cx="70303" cy="64013"/>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B93A5975-2B7E-420F-BF09-A6A0D55EC29A}"/>
              </a:ext>
            </a:extLst>
          </p:cNvPr>
          <p:cNvCxnSpPr/>
          <p:nvPr/>
        </p:nvCxnSpPr>
        <p:spPr>
          <a:xfrm>
            <a:off x="7350125" y="2535113"/>
            <a:ext cx="70303" cy="90219"/>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A25DC1BA-26D9-42A2-87A9-DA2D1BEA3D73}"/>
              </a:ext>
            </a:extLst>
          </p:cNvPr>
          <p:cNvCxnSpPr/>
          <p:nvPr/>
        </p:nvCxnSpPr>
        <p:spPr>
          <a:xfrm>
            <a:off x="7420428" y="2625332"/>
            <a:ext cx="70304" cy="106297"/>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C118C86B-C491-4468-B132-31F7A9AFD945}"/>
              </a:ext>
            </a:extLst>
          </p:cNvPr>
          <p:cNvCxnSpPr/>
          <p:nvPr/>
        </p:nvCxnSpPr>
        <p:spPr>
          <a:xfrm>
            <a:off x="7490732" y="2731629"/>
            <a:ext cx="70303" cy="110447"/>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ADD3C43C-AA95-40B0-8746-BF056FD6885B}"/>
              </a:ext>
            </a:extLst>
          </p:cNvPr>
          <p:cNvCxnSpPr/>
          <p:nvPr/>
        </p:nvCxnSpPr>
        <p:spPr>
          <a:xfrm>
            <a:off x="7561035" y="2842076"/>
            <a:ext cx="70305" cy="102201"/>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C24DA82E-D451-49AB-A1BD-808A8FC3FA68}"/>
              </a:ext>
            </a:extLst>
          </p:cNvPr>
          <p:cNvCxnSpPr/>
          <p:nvPr/>
        </p:nvCxnSpPr>
        <p:spPr>
          <a:xfrm>
            <a:off x="7631340" y="2944277"/>
            <a:ext cx="70303" cy="82484"/>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44F1E36B-AA90-4F42-A4D3-1B40856CEF56}"/>
              </a:ext>
            </a:extLst>
          </p:cNvPr>
          <p:cNvCxnSpPr/>
          <p:nvPr/>
        </p:nvCxnSpPr>
        <p:spPr>
          <a:xfrm>
            <a:off x="7701643" y="3026761"/>
            <a:ext cx="70304" cy="53509"/>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B824F457-EB67-41D3-B4A0-D87243A82D68}"/>
              </a:ext>
            </a:extLst>
          </p:cNvPr>
          <p:cNvCxnSpPr/>
          <p:nvPr/>
        </p:nvCxnSpPr>
        <p:spPr>
          <a:xfrm>
            <a:off x="7771947" y="3080270"/>
            <a:ext cx="70303" cy="18530"/>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C0F5F1BE-731A-490B-960F-7282733C2434}"/>
              </a:ext>
            </a:extLst>
          </p:cNvPr>
          <p:cNvCxnSpPr/>
          <p:nvPr/>
        </p:nvCxnSpPr>
        <p:spPr>
          <a:xfrm flipV="1">
            <a:off x="7842250" y="3080270"/>
            <a:ext cx="70303" cy="18530"/>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240B28F2-C30B-412A-8E77-E7EA99F6FD68}"/>
              </a:ext>
            </a:extLst>
          </p:cNvPr>
          <p:cNvCxnSpPr/>
          <p:nvPr/>
        </p:nvCxnSpPr>
        <p:spPr>
          <a:xfrm flipV="1">
            <a:off x="7912553" y="3026761"/>
            <a:ext cx="70304" cy="53509"/>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B899379E-E79F-4356-ACB7-21BC87666FD1}"/>
              </a:ext>
            </a:extLst>
          </p:cNvPr>
          <p:cNvCxnSpPr/>
          <p:nvPr/>
        </p:nvCxnSpPr>
        <p:spPr>
          <a:xfrm flipV="1">
            <a:off x="7982857" y="2944277"/>
            <a:ext cx="70303" cy="82484"/>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006B4AE9-C797-4EA0-87B8-AC3C2E74EA97}"/>
              </a:ext>
            </a:extLst>
          </p:cNvPr>
          <p:cNvCxnSpPr/>
          <p:nvPr/>
        </p:nvCxnSpPr>
        <p:spPr>
          <a:xfrm flipV="1">
            <a:off x="8053160" y="2842076"/>
            <a:ext cx="70305" cy="102201"/>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CE604680-64B5-48C8-827F-A88191E719D0}"/>
              </a:ext>
            </a:extLst>
          </p:cNvPr>
          <p:cNvCxnSpPr/>
          <p:nvPr/>
        </p:nvCxnSpPr>
        <p:spPr>
          <a:xfrm flipV="1">
            <a:off x="8123465" y="2731629"/>
            <a:ext cx="70303" cy="110447"/>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03" name="Straight Connector 102">
            <a:extLst>
              <a:ext uri="{FF2B5EF4-FFF2-40B4-BE49-F238E27FC236}">
                <a16:creationId xmlns:a16="http://schemas.microsoft.com/office/drawing/2014/main" id="{B54D84F2-ED93-4B82-9455-97B31F22F108}"/>
              </a:ext>
            </a:extLst>
          </p:cNvPr>
          <p:cNvCxnSpPr/>
          <p:nvPr/>
        </p:nvCxnSpPr>
        <p:spPr>
          <a:xfrm flipV="1">
            <a:off x="8193768" y="2625332"/>
            <a:ext cx="70304" cy="106297"/>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C34FD568-B37B-4728-AB07-DD057756A65F}"/>
              </a:ext>
            </a:extLst>
          </p:cNvPr>
          <p:cNvCxnSpPr/>
          <p:nvPr/>
        </p:nvCxnSpPr>
        <p:spPr>
          <a:xfrm flipV="1">
            <a:off x="8264072" y="2535113"/>
            <a:ext cx="70303" cy="90219"/>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BE57DD9F-E89F-4ED3-A00E-80EAC89A869D}"/>
              </a:ext>
            </a:extLst>
          </p:cNvPr>
          <p:cNvCxnSpPr/>
          <p:nvPr/>
        </p:nvCxnSpPr>
        <p:spPr>
          <a:xfrm flipV="1">
            <a:off x="8334375" y="2471100"/>
            <a:ext cx="70303" cy="64013"/>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06" name="Straight Connector 105">
            <a:extLst>
              <a:ext uri="{FF2B5EF4-FFF2-40B4-BE49-F238E27FC236}">
                <a16:creationId xmlns:a16="http://schemas.microsoft.com/office/drawing/2014/main" id="{844931C3-0D83-438A-800B-A18F40D3EB5B}"/>
              </a:ext>
            </a:extLst>
          </p:cNvPr>
          <p:cNvCxnSpPr/>
          <p:nvPr/>
        </p:nvCxnSpPr>
        <p:spPr>
          <a:xfrm flipV="1">
            <a:off x="8404678" y="2440476"/>
            <a:ext cx="70304" cy="30624"/>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6B5E9E2D-80D4-4A1F-A5A8-5FE1388C66A6}"/>
              </a:ext>
            </a:extLst>
          </p:cNvPr>
          <p:cNvCxnSpPr/>
          <p:nvPr/>
        </p:nvCxnSpPr>
        <p:spPr>
          <a:xfrm>
            <a:off x="8474982" y="2440476"/>
            <a:ext cx="70303" cy="6203"/>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F558F72C-0115-4722-88CE-0A7DCF5AFA1A}"/>
              </a:ext>
            </a:extLst>
          </p:cNvPr>
          <p:cNvCxnSpPr/>
          <p:nvPr/>
        </p:nvCxnSpPr>
        <p:spPr>
          <a:xfrm>
            <a:off x="8545285" y="2446679"/>
            <a:ext cx="70305" cy="42333"/>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12BAFCF3-7201-4EF8-AC7A-BCB939318A85}"/>
              </a:ext>
            </a:extLst>
          </p:cNvPr>
          <p:cNvCxnSpPr/>
          <p:nvPr/>
        </p:nvCxnSpPr>
        <p:spPr>
          <a:xfrm>
            <a:off x="8615590" y="2489012"/>
            <a:ext cx="70303" cy="73712"/>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01CF8CDA-9B15-4B6D-AC51-DEBEA29EB364}"/>
              </a:ext>
            </a:extLst>
          </p:cNvPr>
          <p:cNvCxnSpPr/>
          <p:nvPr/>
        </p:nvCxnSpPr>
        <p:spPr>
          <a:xfrm>
            <a:off x="8685893" y="2562724"/>
            <a:ext cx="70304" cy="96818"/>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2194E09B-4816-45BE-9EB7-09AA7B1B5EC4}"/>
              </a:ext>
            </a:extLst>
          </p:cNvPr>
          <p:cNvCxnSpPr/>
          <p:nvPr/>
        </p:nvCxnSpPr>
        <p:spPr>
          <a:xfrm>
            <a:off x="8756197" y="2659542"/>
            <a:ext cx="70303" cy="109058"/>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224F140D-3146-47C4-85EC-84D3BFC9F300}"/>
              </a:ext>
            </a:extLst>
          </p:cNvPr>
          <p:cNvCxnSpPr/>
          <p:nvPr/>
        </p:nvCxnSpPr>
        <p:spPr>
          <a:xfrm>
            <a:off x="8826500" y="2768600"/>
            <a:ext cx="70303" cy="109058"/>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82D349B4-EE6D-43EA-A281-9573E8FCBBEE}"/>
              </a:ext>
            </a:extLst>
          </p:cNvPr>
          <p:cNvCxnSpPr/>
          <p:nvPr/>
        </p:nvCxnSpPr>
        <p:spPr>
          <a:xfrm>
            <a:off x="8896803" y="2877658"/>
            <a:ext cx="70304" cy="96818"/>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2960BDC7-7321-41F7-87D9-6D61480BF835}"/>
              </a:ext>
            </a:extLst>
          </p:cNvPr>
          <p:cNvCxnSpPr/>
          <p:nvPr/>
        </p:nvCxnSpPr>
        <p:spPr>
          <a:xfrm>
            <a:off x="8967107" y="2974476"/>
            <a:ext cx="70303" cy="73712"/>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ADBF6A14-C12B-48C2-AEA3-A4F35027DC33}"/>
              </a:ext>
            </a:extLst>
          </p:cNvPr>
          <p:cNvCxnSpPr/>
          <p:nvPr/>
        </p:nvCxnSpPr>
        <p:spPr>
          <a:xfrm>
            <a:off x="9037410" y="3048188"/>
            <a:ext cx="70305" cy="42333"/>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37844354-B93E-437B-8076-E1881AFC05CE}"/>
              </a:ext>
            </a:extLst>
          </p:cNvPr>
          <p:cNvCxnSpPr/>
          <p:nvPr/>
        </p:nvCxnSpPr>
        <p:spPr>
          <a:xfrm>
            <a:off x="9107715" y="3090521"/>
            <a:ext cx="70303" cy="6203"/>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a16="http://schemas.microsoft.com/office/drawing/2014/main" id="{FEE45558-C47F-483D-968B-9223BC269B30}"/>
              </a:ext>
            </a:extLst>
          </p:cNvPr>
          <p:cNvCxnSpPr/>
          <p:nvPr/>
        </p:nvCxnSpPr>
        <p:spPr>
          <a:xfrm flipV="1">
            <a:off x="9178018" y="3066100"/>
            <a:ext cx="70304" cy="30624"/>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18" name="Straight Connector 117">
            <a:extLst>
              <a:ext uri="{FF2B5EF4-FFF2-40B4-BE49-F238E27FC236}">
                <a16:creationId xmlns:a16="http://schemas.microsoft.com/office/drawing/2014/main" id="{0CFBACEA-9CB3-4B5F-A212-6DD575CDB45D}"/>
              </a:ext>
            </a:extLst>
          </p:cNvPr>
          <p:cNvCxnSpPr/>
          <p:nvPr/>
        </p:nvCxnSpPr>
        <p:spPr>
          <a:xfrm flipV="1">
            <a:off x="9248322" y="3002087"/>
            <a:ext cx="70303" cy="64013"/>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19" name="Straight Connector 118">
            <a:extLst>
              <a:ext uri="{FF2B5EF4-FFF2-40B4-BE49-F238E27FC236}">
                <a16:creationId xmlns:a16="http://schemas.microsoft.com/office/drawing/2014/main" id="{121F42C6-1705-4EBD-85CE-9A47F719ACB1}"/>
              </a:ext>
            </a:extLst>
          </p:cNvPr>
          <p:cNvCxnSpPr/>
          <p:nvPr/>
        </p:nvCxnSpPr>
        <p:spPr>
          <a:xfrm flipV="1">
            <a:off x="9318625" y="2911868"/>
            <a:ext cx="70303" cy="90219"/>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DF421E25-EF39-4D87-A322-D1E7E9BE17B2}"/>
              </a:ext>
            </a:extLst>
          </p:cNvPr>
          <p:cNvCxnSpPr/>
          <p:nvPr/>
        </p:nvCxnSpPr>
        <p:spPr>
          <a:xfrm flipV="1">
            <a:off x="9388928" y="2805571"/>
            <a:ext cx="70304" cy="106297"/>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72603A68-3E53-420F-A996-D54AD22A9F55}"/>
              </a:ext>
            </a:extLst>
          </p:cNvPr>
          <p:cNvCxnSpPr/>
          <p:nvPr/>
        </p:nvCxnSpPr>
        <p:spPr>
          <a:xfrm flipV="1">
            <a:off x="9459232" y="2695124"/>
            <a:ext cx="70303" cy="110447"/>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71A62122-7C10-464A-B8B2-FEC72711D9A2}"/>
              </a:ext>
            </a:extLst>
          </p:cNvPr>
          <p:cNvCxnSpPr/>
          <p:nvPr/>
        </p:nvCxnSpPr>
        <p:spPr>
          <a:xfrm flipV="1">
            <a:off x="9529535" y="2592923"/>
            <a:ext cx="70305" cy="102201"/>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23" name="Straight Connector 122">
            <a:extLst>
              <a:ext uri="{FF2B5EF4-FFF2-40B4-BE49-F238E27FC236}">
                <a16:creationId xmlns:a16="http://schemas.microsoft.com/office/drawing/2014/main" id="{5D2FCAFF-BE12-4D5A-A517-1F626AE5EF23}"/>
              </a:ext>
            </a:extLst>
          </p:cNvPr>
          <p:cNvCxnSpPr/>
          <p:nvPr/>
        </p:nvCxnSpPr>
        <p:spPr>
          <a:xfrm flipV="1">
            <a:off x="9599840" y="2510439"/>
            <a:ext cx="70303" cy="82484"/>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1081621F-86F2-4CC9-AEE0-A91029427D25}"/>
              </a:ext>
            </a:extLst>
          </p:cNvPr>
          <p:cNvCxnSpPr/>
          <p:nvPr/>
        </p:nvCxnSpPr>
        <p:spPr>
          <a:xfrm flipV="1">
            <a:off x="9670143" y="2456930"/>
            <a:ext cx="70304" cy="53509"/>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25" name="Straight Connector 124">
            <a:extLst>
              <a:ext uri="{FF2B5EF4-FFF2-40B4-BE49-F238E27FC236}">
                <a16:creationId xmlns:a16="http://schemas.microsoft.com/office/drawing/2014/main" id="{9F74EC15-B8CE-411B-B4F3-4B489821F38D}"/>
              </a:ext>
            </a:extLst>
          </p:cNvPr>
          <p:cNvCxnSpPr/>
          <p:nvPr/>
        </p:nvCxnSpPr>
        <p:spPr>
          <a:xfrm flipV="1">
            <a:off x="9740447" y="2438400"/>
            <a:ext cx="70303" cy="18530"/>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F051AC56-9085-457B-9A3F-6CB095696988}"/>
              </a:ext>
            </a:extLst>
          </p:cNvPr>
          <p:cNvCxnSpPr/>
          <p:nvPr/>
        </p:nvCxnSpPr>
        <p:spPr>
          <a:xfrm>
            <a:off x="9810750" y="2438400"/>
            <a:ext cx="70303" cy="18530"/>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14FAD29B-9898-4BD7-910A-A254C55F5AEE}"/>
              </a:ext>
            </a:extLst>
          </p:cNvPr>
          <p:cNvCxnSpPr/>
          <p:nvPr/>
        </p:nvCxnSpPr>
        <p:spPr>
          <a:xfrm>
            <a:off x="9881053" y="2456930"/>
            <a:ext cx="70304" cy="53509"/>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421CA2E7-7C28-41DB-A086-662CFA51E19F}"/>
              </a:ext>
            </a:extLst>
          </p:cNvPr>
          <p:cNvCxnSpPr/>
          <p:nvPr/>
        </p:nvCxnSpPr>
        <p:spPr>
          <a:xfrm>
            <a:off x="9951357" y="2510439"/>
            <a:ext cx="70303" cy="82484"/>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EA52143C-15FD-4E5C-BF2B-8CA0D1A003EC}"/>
              </a:ext>
            </a:extLst>
          </p:cNvPr>
          <p:cNvCxnSpPr/>
          <p:nvPr/>
        </p:nvCxnSpPr>
        <p:spPr>
          <a:xfrm>
            <a:off x="10021660" y="2592923"/>
            <a:ext cx="70305" cy="102201"/>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CD7900F3-C4D2-42BA-AB49-13A7BFD398C2}"/>
              </a:ext>
            </a:extLst>
          </p:cNvPr>
          <p:cNvCxnSpPr/>
          <p:nvPr/>
        </p:nvCxnSpPr>
        <p:spPr>
          <a:xfrm>
            <a:off x="10091965" y="2695124"/>
            <a:ext cx="70303" cy="110447"/>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FBEC6BDD-EB7B-4F12-A60D-A441F7595805}"/>
              </a:ext>
            </a:extLst>
          </p:cNvPr>
          <p:cNvCxnSpPr/>
          <p:nvPr/>
        </p:nvCxnSpPr>
        <p:spPr>
          <a:xfrm>
            <a:off x="10162268" y="2805571"/>
            <a:ext cx="70304" cy="106297"/>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0764DC8D-3326-4D7D-BB34-E96037192757}"/>
              </a:ext>
            </a:extLst>
          </p:cNvPr>
          <p:cNvCxnSpPr/>
          <p:nvPr/>
        </p:nvCxnSpPr>
        <p:spPr>
          <a:xfrm>
            <a:off x="10232572" y="2911868"/>
            <a:ext cx="70303" cy="90219"/>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8C12C262-C968-410E-83D7-B3AEF9C0F22A}"/>
              </a:ext>
            </a:extLst>
          </p:cNvPr>
          <p:cNvCxnSpPr/>
          <p:nvPr/>
        </p:nvCxnSpPr>
        <p:spPr>
          <a:xfrm>
            <a:off x="10302875" y="3002087"/>
            <a:ext cx="70303" cy="64013"/>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A20DD110-E2E4-4E4F-B630-689C83FAD5B4}"/>
              </a:ext>
            </a:extLst>
          </p:cNvPr>
          <p:cNvCxnSpPr/>
          <p:nvPr/>
        </p:nvCxnSpPr>
        <p:spPr>
          <a:xfrm>
            <a:off x="10373178" y="3066100"/>
            <a:ext cx="70304" cy="30624"/>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CBE320BF-C4C4-42C9-85B1-DC3B0D4FDFEC}"/>
              </a:ext>
            </a:extLst>
          </p:cNvPr>
          <p:cNvCxnSpPr/>
          <p:nvPr/>
        </p:nvCxnSpPr>
        <p:spPr>
          <a:xfrm flipV="1">
            <a:off x="10443482" y="3090521"/>
            <a:ext cx="70303" cy="6203"/>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2857F4E0-73BB-4768-A494-9A939F06F8FF}"/>
              </a:ext>
            </a:extLst>
          </p:cNvPr>
          <p:cNvCxnSpPr/>
          <p:nvPr/>
        </p:nvCxnSpPr>
        <p:spPr>
          <a:xfrm flipV="1">
            <a:off x="10513785" y="3048188"/>
            <a:ext cx="70305" cy="42333"/>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F7D447FD-CFC6-472E-9267-C414F33C7B82}"/>
              </a:ext>
            </a:extLst>
          </p:cNvPr>
          <p:cNvCxnSpPr/>
          <p:nvPr/>
        </p:nvCxnSpPr>
        <p:spPr>
          <a:xfrm flipV="1">
            <a:off x="10584090" y="2974476"/>
            <a:ext cx="70303" cy="73712"/>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1496E93A-2DB9-45B8-88EF-12A18BB83ED4}"/>
              </a:ext>
            </a:extLst>
          </p:cNvPr>
          <p:cNvCxnSpPr/>
          <p:nvPr/>
        </p:nvCxnSpPr>
        <p:spPr>
          <a:xfrm flipV="1">
            <a:off x="10654393" y="2877658"/>
            <a:ext cx="70304" cy="96818"/>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FB46A1F5-A56B-477B-A147-BF9D2B06B24C}"/>
              </a:ext>
            </a:extLst>
          </p:cNvPr>
          <p:cNvCxnSpPr/>
          <p:nvPr/>
        </p:nvCxnSpPr>
        <p:spPr>
          <a:xfrm flipV="1">
            <a:off x="10724697" y="2768600"/>
            <a:ext cx="70303" cy="109058"/>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8FD10270-94EB-4A66-8718-1C1BDD700E1D}"/>
              </a:ext>
            </a:extLst>
          </p:cNvPr>
          <p:cNvCxnSpPr/>
          <p:nvPr/>
        </p:nvCxnSpPr>
        <p:spPr>
          <a:xfrm flipV="1">
            <a:off x="2921000" y="3649251"/>
            <a:ext cx="70304" cy="71849"/>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43AF897B-5E5B-4803-9D7A-7935D339F514}"/>
              </a:ext>
            </a:extLst>
          </p:cNvPr>
          <p:cNvCxnSpPr/>
          <p:nvPr/>
        </p:nvCxnSpPr>
        <p:spPr>
          <a:xfrm flipV="1">
            <a:off x="2991304" y="3573014"/>
            <a:ext cx="70303" cy="76237"/>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249973CD-56C2-418D-A8B9-CE3C8CB6E2BC}"/>
              </a:ext>
            </a:extLst>
          </p:cNvPr>
          <p:cNvCxnSpPr/>
          <p:nvPr/>
        </p:nvCxnSpPr>
        <p:spPr>
          <a:xfrm flipV="1">
            <a:off x="3061607" y="3503754"/>
            <a:ext cx="70304" cy="69260"/>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100C9C13-7C02-40E1-8088-74C8463EACC6}"/>
              </a:ext>
            </a:extLst>
          </p:cNvPr>
          <p:cNvCxnSpPr/>
          <p:nvPr/>
        </p:nvCxnSpPr>
        <p:spPr>
          <a:xfrm flipV="1">
            <a:off x="3131911" y="3453285"/>
            <a:ext cx="70303" cy="50469"/>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44" name="Straight Connector 143">
            <a:extLst>
              <a:ext uri="{FF2B5EF4-FFF2-40B4-BE49-F238E27FC236}">
                <a16:creationId xmlns:a16="http://schemas.microsoft.com/office/drawing/2014/main" id="{474835EE-AA26-4487-9127-D6C5A4379FE2}"/>
              </a:ext>
            </a:extLst>
          </p:cNvPr>
          <p:cNvCxnSpPr/>
          <p:nvPr/>
        </p:nvCxnSpPr>
        <p:spPr>
          <a:xfrm flipV="1">
            <a:off x="3202214" y="3431741"/>
            <a:ext cx="70304" cy="21544"/>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45" name="Straight Connector 144">
            <a:extLst>
              <a:ext uri="{FF2B5EF4-FFF2-40B4-BE49-F238E27FC236}">
                <a16:creationId xmlns:a16="http://schemas.microsoft.com/office/drawing/2014/main" id="{A56EAFC7-F381-4586-BB10-1E9031E256F4}"/>
              </a:ext>
            </a:extLst>
          </p:cNvPr>
          <p:cNvCxnSpPr/>
          <p:nvPr/>
        </p:nvCxnSpPr>
        <p:spPr>
          <a:xfrm>
            <a:off x="3272518" y="3431741"/>
            <a:ext cx="70304" cy="13814"/>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46" name="Straight Connector 145">
            <a:extLst>
              <a:ext uri="{FF2B5EF4-FFF2-40B4-BE49-F238E27FC236}">
                <a16:creationId xmlns:a16="http://schemas.microsoft.com/office/drawing/2014/main" id="{36DD17DD-4DDD-4DB4-A6A0-CBD0B456DB18}"/>
              </a:ext>
            </a:extLst>
          </p:cNvPr>
          <p:cNvCxnSpPr/>
          <p:nvPr/>
        </p:nvCxnSpPr>
        <p:spPr>
          <a:xfrm>
            <a:off x="3342822" y="3445555"/>
            <a:ext cx="70303" cy="50445"/>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47" name="Straight Connector 146">
            <a:extLst>
              <a:ext uri="{FF2B5EF4-FFF2-40B4-BE49-F238E27FC236}">
                <a16:creationId xmlns:a16="http://schemas.microsoft.com/office/drawing/2014/main" id="{09284532-9AF8-4A90-B975-310A5FAB7641}"/>
              </a:ext>
            </a:extLst>
          </p:cNvPr>
          <p:cNvCxnSpPr/>
          <p:nvPr/>
        </p:nvCxnSpPr>
        <p:spPr>
          <a:xfrm>
            <a:off x="3413125" y="3496000"/>
            <a:ext cx="70303" cy="82583"/>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48" name="Straight Connector 147">
            <a:extLst>
              <a:ext uri="{FF2B5EF4-FFF2-40B4-BE49-F238E27FC236}">
                <a16:creationId xmlns:a16="http://schemas.microsoft.com/office/drawing/2014/main" id="{8499DB38-B96A-4716-8B4D-B38C4A2B1918}"/>
              </a:ext>
            </a:extLst>
          </p:cNvPr>
          <p:cNvCxnSpPr/>
          <p:nvPr/>
        </p:nvCxnSpPr>
        <p:spPr>
          <a:xfrm>
            <a:off x="3483428" y="3578583"/>
            <a:ext cx="70304" cy="104895"/>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49" name="Straight Connector 148">
            <a:extLst>
              <a:ext uri="{FF2B5EF4-FFF2-40B4-BE49-F238E27FC236}">
                <a16:creationId xmlns:a16="http://schemas.microsoft.com/office/drawing/2014/main" id="{44ED2AC5-2827-4197-B8C8-DD1967048448}"/>
              </a:ext>
            </a:extLst>
          </p:cNvPr>
          <p:cNvCxnSpPr/>
          <p:nvPr/>
        </p:nvCxnSpPr>
        <p:spPr>
          <a:xfrm>
            <a:off x="3553732" y="3683478"/>
            <a:ext cx="70304" cy="113466"/>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50" name="Straight Connector 149">
            <a:extLst>
              <a:ext uri="{FF2B5EF4-FFF2-40B4-BE49-F238E27FC236}">
                <a16:creationId xmlns:a16="http://schemas.microsoft.com/office/drawing/2014/main" id="{355AA987-7856-4FF7-BDC2-09058024DF60}"/>
              </a:ext>
            </a:extLst>
          </p:cNvPr>
          <p:cNvCxnSpPr/>
          <p:nvPr/>
        </p:nvCxnSpPr>
        <p:spPr>
          <a:xfrm>
            <a:off x="3624036" y="3796944"/>
            <a:ext cx="70303" cy="106559"/>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51" name="Straight Connector 150">
            <a:extLst>
              <a:ext uri="{FF2B5EF4-FFF2-40B4-BE49-F238E27FC236}">
                <a16:creationId xmlns:a16="http://schemas.microsoft.com/office/drawing/2014/main" id="{D4D06155-F224-4B1A-AAD2-74F9277D9D9F}"/>
              </a:ext>
            </a:extLst>
          </p:cNvPr>
          <p:cNvCxnSpPr/>
          <p:nvPr/>
        </p:nvCxnSpPr>
        <p:spPr>
          <a:xfrm>
            <a:off x="3694339" y="3903503"/>
            <a:ext cx="70304" cy="84971"/>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52" name="Straight Connector 151">
            <a:extLst>
              <a:ext uri="{FF2B5EF4-FFF2-40B4-BE49-F238E27FC236}">
                <a16:creationId xmlns:a16="http://schemas.microsoft.com/office/drawing/2014/main" id="{E55512FE-0842-41CC-97FF-AA6413D97FD2}"/>
              </a:ext>
            </a:extLst>
          </p:cNvPr>
          <p:cNvCxnSpPr/>
          <p:nvPr/>
        </p:nvCxnSpPr>
        <p:spPr>
          <a:xfrm>
            <a:off x="3764643" y="3988474"/>
            <a:ext cx="70304" cy="51924"/>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53" name="Straight Connector 152">
            <a:extLst>
              <a:ext uri="{FF2B5EF4-FFF2-40B4-BE49-F238E27FC236}">
                <a16:creationId xmlns:a16="http://schemas.microsoft.com/office/drawing/2014/main" id="{85E3AB7B-9C3F-4BF1-94EF-CA125D0E11A1}"/>
              </a:ext>
            </a:extLst>
          </p:cNvPr>
          <p:cNvCxnSpPr/>
          <p:nvPr/>
        </p:nvCxnSpPr>
        <p:spPr>
          <a:xfrm>
            <a:off x="3834947" y="4040398"/>
            <a:ext cx="70303" cy="12509"/>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54" name="Straight Connector 153">
            <a:extLst>
              <a:ext uri="{FF2B5EF4-FFF2-40B4-BE49-F238E27FC236}">
                <a16:creationId xmlns:a16="http://schemas.microsoft.com/office/drawing/2014/main" id="{04A621F1-E806-4A1D-9A16-E5739D8F2E31}"/>
              </a:ext>
            </a:extLst>
          </p:cNvPr>
          <p:cNvCxnSpPr/>
          <p:nvPr/>
        </p:nvCxnSpPr>
        <p:spPr>
          <a:xfrm flipV="1">
            <a:off x="3905250" y="4025681"/>
            <a:ext cx="70303" cy="27226"/>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55" name="Straight Connector 154">
            <a:extLst>
              <a:ext uri="{FF2B5EF4-FFF2-40B4-BE49-F238E27FC236}">
                <a16:creationId xmlns:a16="http://schemas.microsoft.com/office/drawing/2014/main" id="{661D4178-B5A3-448A-8C19-1B2554189817}"/>
              </a:ext>
            </a:extLst>
          </p:cNvPr>
          <p:cNvCxnSpPr/>
          <p:nvPr/>
        </p:nvCxnSpPr>
        <p:spPr>
          <a:xfrm flipV="1">
            <a:off x="3975553" y="3964332"/>
            <a:ext cx="70304" cy="61349"/>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56" name="Straight Connector 155">
            <a:extLst>
              <a:ext uri="{FF2B5EF4-FFF2-40B4-BE49-F238E27FC236}">
                <a16:creationId xmlns:a16="http://schemas.microsoft.com/office/drawing/2014/main" id="{6208B4F9-06F3-40BD-B360-5887CD0F080D}"/>
              </a:ext>
            </a:extLst>
          </p:cNvPr>
          <p:cNvCxnSpPr/>
          <p:nvPr/>
        </p:nvCxnSpPr>
        <p:spPr>
          <a:xfrm flipV="1">
            <a:off x="4045857" y="3879265"/>
            <a:ext cx="70304" cy="85067"/>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57" name="Straight Connector 156">
            <a:extLst>
              <a:ext uri="{FF2B5EF4-FFF2-40B4-BE49-F238E27FC236}">
                <a16:creationId xmlns:a16="http://schemas.microsoft.com/office/drawing/2014/main" id="{BCDADD0B-6D05-46FC-9452-43AD4F26AB16}"/>
              </a:ext>
            </a:extLst>
          </p:cNvPr>
          <p:cNvCxnSpPr/>
          <p:nvPr/>
        </p:nvCxnSpPr>
        <p:spPr>
          <a:xfrm flipV="1">
            <a:off x="4116161" y="3783739"/>
            <a:ext cx="70303" cy="95526"/>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58" name="Straight Connector 157">
            <a:extLst>
              <a:ext uri="{FF2B5EF4-FFF2-40B4-BE49-F238E27FC236}">
                <a16:creationId xmlns:a16="http://schemas.microsoft.com/office/drawing/2014/main" id="{2794748B-817A-480A-AA73-B4E08DAA1290}"/>
              </a:ext>
            </a:extLst>
          </p:cNvPr>
          <p:cNvCxnSpPr/>
          <p:nvPr/>
        </p:nvCxnSpPr>
        <p:spPr>
          <a:xfrm flipV="1">
            <a:off x="4186464" y="3691535"/>
            <a:ext cx="70304" cy="92204"/>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59" name="Straight Connector 158">
            <a:extLst>
              <a:ext uri="{FF2B5EF4-FFF2-40B4-BE49-F238E27FC236}">
                <a16:creationId xmlns:a16="http://schemas.microsoft.com/office/drawing/2014/main" id="{43DC758E-F8C2-470C-8ED1-D78C6EBB7195}"/>
              </a:ext>
            </a:extLst>
          </p:cNvPr>
          <p:cNvCxnSpPr/>
          <p:nvPr/>
        </p:nvCxnSpPr>
        <p:spPr>
          <a:xfrm flipV="1">
            <a:off x="4256768" y="3614669"/>
            <a:ext cx="70304" cy="76866"/>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60" name="Straight Connector 159">
            <a:extLst>
              <a:ext uri="{FF2B5EF4-FFF2-40B4-BE49-F238E27FC236}">
                <a16:creationId xmlns:a16="http://schemas.microsoft.com/office/drawing/2014/main" id="{2F2B7D2C-CD22-42CA-8A04-3999508A8404}"/>
              </a:ext>
            </a:extLst>
          </p:cNvPr>
          <p:cNvCxnSpPr/>
          <p:nvPr/>
        </p:nvCxnSpPr>
        <p:spPr>
          <a:xfrm flipV="1">
            <a:off x="4327072" y="3561578"/>
            <a:ext cx="70303" cy="53091"/>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61" name="Straight Connector 160">
            <a:extLst>
              <a:ext uri="{FF2B5EF4-FFF2-40B4-BE49-F238E27FC236}">
                <a16:creationId xmlns:a16="http://schemas.microsoft.com/office/drawing/2014/main" id="{0B2082AE-10CE-43C9-A2B5-26F0E2D6DE37}"/>
              </a:ext>
            </a:extLst>
          </p:cNvPr>
          <p:cNvCxnSpPr/>
          <p:nvPr/>
        </p:nvCxnSpPr>
        <p:spPr>
          <a:xfrm flipV="1">
            <a:off x="4397375" y="3536096"/>
            <a:ext cx="70303" cy="25482"/>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62" name="Straight Connector 161">
            <a:extLst>
              <a:ext uri="{FF2B5EF4-FFF2-40B4-BE49-F238E27FC236}">
                <a16:creationId xmlns:a16="http://schemas.microsoft.com/office/drawing/2014/main" id="{A23CCD50-F14A-424E-A2F8-FB877E7BD06D}"/>
              </a:ext>
            </a:extLst>
          </p:cNvPr>
          <p:cNvCxnSpPr/>
          <p:nvPr/>
        </p:nvCxnSpPr>
        <p:spPr>
          <a:xfrm>
            <a:off x="4467678" y="3536096"/>
            <a:ext cx="70304" cy="1248"/>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63" name="Straight Connector 162">
            <a:extLst>
              <a:ext uri="{FF2B5EF4-FFF2-40B4-BE49-F238E27FC236}">
                <a16:creationId xmlns:a16="http://schemas.microsoft.com/office/drawing/2014/main" id="{D123F5CB-5506-4115-B36E-577925D00280}"/>
              </a:ext>
            </a:extLst>
          </p:cNvPr>
          <p:cNvCxnSpPr/>
          <p:nvPr/>
        </p:nvCxnSpPr>
        <p:spPr>
          <a:xfrm>
            <a:off x="4537982" y="3537344"/>
            <a:ext cx="70304" cy="23147"/>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64" name="Straight Connector 163">
            <a:extLst>
              <a:ext uri="{FF2B5EF4-FFF2-40B4-BE49-F238E27FC236}">
                <a16:creationId xmlns:a16="http://schemas.microsoft.com/office/drawing/2014/main" id="{30ECA9EB-307C-4CB4-A3BC-0EC2836E1EDF}"/>
              </a:ext>
            </a:extLst>
          </p:cNvPr>
          <p:cNvCxnSpPr/>
          <p:nvPr/>
        </p:nvCxnSpPr>
        <p:spPr>
          <a:xfrm>
            <a:off x="4608286" y="3560491"/>
            <a:ext cx="70303" cy="37668"/>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65" name="Straight Connector 164">
            <a:extLst>
              <a:ext uri="{FF2B5EF4-FFF2-40B4-BE49-F238E27FC236}">
                <a16:creationId xmlns:a16="http://schemas.microsoft.com/office/drawing/2014/main" id="{B9F5D47E-AE0A-4655-B71F-6C3BB4A6ACF7}"/>
              </a:ext>
            </a:extLst>
          </p:cNvPr>
          <p:cNvCxnSpPr/>
          <p:nvPr/>
        </p:nvCxnSpPr>
        <p:spPr>
          <a:xfrm>
            <a:off x="4678589" y="3598159"/>
            <a:ext cx="70304" cy="43961"/>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66" name="Straight Connector 165">
            <a:extLst>
              <a:ext uri="{FF2B5EF4-FFF2-40B4-BE49-F238E27FC236}">
                <a16:creationId xmlns:a16="http://schemas.microsoft.com/office/drawing/2014/main" id="{149779AB-EF8A-44C5-9CA7-D86E3480A804}"/>
              </a:ext>
            </a:extLst>
          </p:cNvPr>
          <p:cNvCxnSpPr/>
          <p:nvPr/>
        </p:nvCxnSpPr>
        <p:spPr>
          <a:xfrm>
            <a:off x="4748893" y="3642120"/>
            <a:ext cx="70304" cy="42802"/>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67" name="Straight Connector 166">
            <a:extLst>
              <a:ext uri="{FF2B5EF4-FFF2-40B4-BE49-F238E27FC236}">
                <a16:creationId xmlns:a16="http://schemas.microsoft.com/office/drawing/2014/main" id="{2E8146C0-0CEE-42B2-8C8C-5E2975CC9F9D}"/>
              </a:ext>
            </a:extLst>
          </p:cNvPr>
          <p:cNvCxnSpPr/>
          <p:nvPr/>
        </p:nvCxnSpPr>
        <p:spPr>
          <a:xfrm>
            <a:off x="4819197" y="3684922"/>
            <a:ext cx="70303" cy="36178"/>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68" name="Straight Connector 167">
            <a:extLst>
              <a:ext uri="{FF2B5EF4-FFF2-40B4-BE49-F238E27FC236}">
                <a16:creationId xmlns:a16="http://schemas.microsoft.com/office/drawing/2014/main" id="{85E11F60-C915-41D0-BFBA-8A06168D7C67}"/>
              </a:ext>
            </a:extLst>
          </p:cNvPr>
          <p:cNvCxnSpPr/>
          <p:nvPr/>
        </p:nvCxnSpPr>
        <p:spPr>
          <a:xfrm>
            <a:off x="4889500" y="3721100"/>
            <a:ext cx="70303" cy="26662"/>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69" name="Straight Connector 168">
            <a:extLst>
              <a:ext uri="{FF2B5EF4-FFF2-40B4-BE49-F238E27FC236}">
                <a16:creationId xmlns:a16="http://schemas.microsoft.com/office/drawing/2014/main" id="{1555EAA0-0EA9-44BA-8AF7-13759403FE2F}"/>
              </a:ext>
            </a:extLst>
          </p:cNvPr>
          <p:cNvCxnSpPr/>
          <p:nvPr/>
        </p:nvCxnSpPr>
        <p:spPr>
          <a:xfrm>
            <a:off x="4959803" y="3747762"/>
            <a:ext cx="70304" cy="16745"/>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70" name="Straight Connector 169">
            <a:extLst>
              <a:ext uri="{FF2B5EF4-FFF2-40B4-BE49-F238E27FC236}">
                <a16:creationId xmlns:a16="http://schemas.microsoft.com/office/drawing/2014/main" id="{E9F3E30E-850C-46A9-9A48-842679D1E6FF}"/>
              </a:ext>
            </a:extLst>
          </p:cNvPr>
          <p:cNvCxnSpPr/>
          <p:nvPr/>
        </p:nvCxnSpPr>
        <p:spPr>
          <a:xfrm>
            <a:off x="5030107" y="3764507"/>
            <a:ext cx="70304" cy="8258"/>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71" name="Straight Connector 170">
            <a:extLst>
              <a:ext uri="{FF2B5EF4-FFF2-40B4-BE49-F238E27FC236}">
                <a16:creationId xmlns:a16="http://schemas.microsoft.com/office/drawing/2014/main" id="{74F60160-39A9-4904-8977-51AE97D9272F}"/>
              </a:ext>
            </a:extLst>
          </p:cNvPr>
          <p:cNvCxnSpPr/>
          <p:nvPr/>
        </p:nvCxnSpPr>
        <p:spPr>
          <a:xfrm>
            <a:off x="5100411" y="3772765"/>
            <a:ext cx="70303" cy="2043"/>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72" name="Straight Connector 171">
            <a:extLst>
              <a:ext uri="{FF2B5EF4-FFF2-40B4-BE49-F238E27FC236}">
                <a16:creationId xmlns:a16="http://schemas.microsoft.com/office/drawing/2014/main" id="{4345874E-84FC-40C8-9BF4-D8255F3A3078}"/>
              </a:ext>
            </a:extLst>
          </p:cNvPr>
          <p:cNvCxnSpPr/>
          <p:nvPr/>
        </p:nvCxnSpPr>
        <p:spPr>
          <a:xfrm flipV="1">
            <a:off x="5170714" y="3772724"/>
            <a:ext cx="70304" cy="2084"/>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73" name="Straight Connector 172">
            <a:extLst>
              <a:ext uri="{FF2B5EF4-FFF2-40B4-BE49-F238E27FC236}">
                <a16:creationId xmlns:a16="http://schemas.microsoft.com/office/drawing/2014/main" id="{A5C9BBAE-163D-4870-AE76-AADE062444F2}"/>
              </a:ext>
            </a:extLst>
          </p:cNvPr>
          <p:cNvCxnSpPr/>
          <p:nvPr/>
        </p:nvCxnSpPr>
        <p:spPr>
          <a:xfrm flipV="1">
            <a:off x="5241018" y="3767648"/>
            <a:ext cx="70304" cy="5076"/>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74" name="Straight Connector 173">
            <a:extLst>
              <a:ext uri="{FF2B5EF4-FFF2-40B4-BE49-F238E27FC236}">
                <a16:creationId xmlns:a16="http://schemas.microsoft.com/office/drawing/2014/main" id="{93C7A774-BA87-464B-B580-2603822283A0}"/>
              </a:ext>
            </a:extLst>
          </p:cNvPr>
          <p:cNvCxnSpPr/>
          <p:nvPr/>
        </p:nvCxnSpPr>
        <p:spPr>
          <a:xfrm flipV="1">
            <a:off x="5311322" y="3759450"/>
            <a:ext cx="70303" cy="8198"/>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75" name="Straight Connector 174">
            <a:extLst>
              <a:ext uri="{FF2B5EF4-FFF2-40B4-BE49-F238E27FC236}">
                <a16:creationId xmlns:a16="http://schemas.microsoft.com/office/drawing/2014/main" id="{0C258D30-8C17-4222-9322-E0521E60B725}"/>
              </a:ext>
            </a:extLst>
          </p:cNvPr>
          <p:cNvCxnSpPr/>
          <p:nvPr/>
        </p:nvCxnSpPr>
        <p:spPr>
          <a:xfrm flipV="1">
            <a:off x="5381625" y="3746965"/>
            <a:ext cx="70303" cy="12485"/>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76" name="Straight Connector 175">
            <a:extLst>
              <a:ext uri="{FF2B5EF4-FFF2-40B4-BE49-F238E27FC236}">
                <a16:creationId xmlns:a16="http://schemas.microsoft.com/office/drawing/2014/main" id="{0FABF7B4-C6D2-4AD0-9005-243BCF99C8F2}"/>
              </a:ext>
            </a:extLst>
          </p:cNvPr>
          <p:cNvCxnSpPr/>
          <p:nvPr/>
        </p:nvCxnSpPr>
        <p:spPr>
          <a:xfrm flipV="1">
            <a:off x="5451928" y="3728679"/>
            <a:ext cx="70304" cy="18286"/>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77" name="Straight Connector 176">
            <a:extLst>
              <a:ext uri="{FF2B5EF4-FFF2-40B4-BE49-F238E27FC236}">
                <a16:creationId xmlns:a16="http://schemas.microsoft.com/office/drawing/2014/main" id="{1069FF0E-A8B8-47DE-987D-7CE039007281}"/>
              </a:ext>
            </a:extLst>
          </p:cNvPr>
          <p:cNvCxnSpPr/>
          <p:nvPr/>
        </p:nvCxnSpPr>
        <p:spPr>
          <a:xfrm flipV="1">
            <a:off x="5522232" y="3703674"/>
            <a:ext cx="70304" cy="25005"/>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78" name="Straight Connector 177">
            <a:extLst>
              <a:ext uri="{FF2B5EF4-FFF2-40B4-BE49-F238E27FC236}">
                <a16:creationId xmlns:a16="http://schemas.microsoft.com/office/drawing/2014/main" id="{BEB134F5-A7CA-454C-B324-033ADA3BE3FB}"/>
              </a:ext>
            </a:extLst>
          </p:cNvPr>
          <p:cNvCxnSpPr/>
          <p:nvPr/>
        </p:nvCxnSpPr>
        <p:spPr>
          <a:xfrm flipV="1">
            <a:off x="5592536" y="3672542"/>
            <a:ext cx="70303" cy="31132"/>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79" name="Straight Connector 178">
            <a:extLst>
              <a:ext uri="{FF2B5EF4-FFF2-40B4-BE49-F238E27FC236}">
                <a16:creationId xmlns:a16="http://schemas.microsoft.com/office/drawing/2014/main" id="{F2641C0D-0805-4ADC-8580-2111F34280C4}"/>
              </a:ext>
            </a:extLst>
          </p:cNvPr>
          <p:cNvCxnSpPr/>
          <p:nvPr/>
        </p:nvCxnSpPr>
        <p:spPr>
          <a:xfrm flipV="1">
            <a:off x="5662839" y="3637988"/>
            <a:ext cx="70304" cy="34554"/>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80" name="Straight Connector 179">
            <a:extLst>
              <a:ext uri="{FF2B5EF4-FFF2-40B4-BE49-F238E27FC236}">
                <a16:creationId xmlns:a16="http://schemas.microsoft.com/office/drawing/2014/main" id="{2EDB6D3F-C048-4D40-8F38-C46851C03E2B}"/>
              </a:ext>
            </a:extLst>
          </p:cNvPr>
          <p:cNvCxnSpPr/>
          <p:nvPr/>
        </p:nvCxnSpPr>
        <p:spPr>
          <a:xfrm flipV="1">
            <a:off x="5733143" y="3604885"/>
            <a:ext cx="70304" cy="33103"/>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81" name="Straight Connector 180">
            <a:extLst>
              <a:ext uri="{FF2B5EF4-FFF2-40B4-BE49-F238E27FC236}">
                <a16:creationId xmlns:a16="http://schemas.microsoft.com/office/drawing/2014/main" id="{187530BE-5B99-4F7F-9692-AC590F451349}"/>
              </a:ext>
            </a:extLst>
          </p:cNvPr>
          <p:cNvCxnSpPr/>
          <p:nvPr/>
        </p:nvCxnSpPr>
        <p:spPr>
          <a:xfrm flipV="1">
            <a:off x="5803447" y="3579702"/>
            <a:ext cx="70303" cy="25183"/>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82" name="Straight Connector 181">
            <a:extLst>
              <a:ext uri="{FF2B5EF4-FFF2-40B4-BE49-F238E27FC236}">
                <a16:creationId xmlns:a16="http://schemas.microsoft.com/office/drawing/2014/main" id="{308C70B0-D044-4D95-B122-AEFF2B6EF7A1}"/>
              </a:ext>
            </a:extLst>
          </p:cNvPr>
          <p:cNvCxnSpPr/>
          <p:nvPr/>
        </p:nvCxnSpPr>
        <p:spPr>
          <a:xfrm flipV="1">
            <a:off x="5873750" y="3569355"/>
            <a:ext cx="70303" cy="10347"/>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83" name="Straight Connector 182">
            <a:extLst>
              <a:ext uri="{FF2B5EF4-FFF2-40B4-BE49-F238E27FC236}">
                <a16:creationId xmlns:a16="http://schemas.microsoft.com/office/drawing/2014/main" id="{C7B587C4-9190-4BFD-9043-9984083E5C1E}"/>
              </a:ext>
            </a:extLst>
          </p:cNvPr>
          <p:cNvCxnSpPr/>
          <p:nvPr/>
        </p:nvCxnSpPr>
        <p:spPr>
          <a:xfrm>
            <a:off x="5944053" y="3569355"/>
            <a:ext cx="70304" cy="10350"/>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84" name="Straight Connector 183">
            <a:extLst>
              <a:ext uri="{FF2B5EF4-FFF2-40B4-BE49-F238E27FC236}">
                <a16:creationId xmlns:a16="http://schemas.microsoft.com/office/drawing/2014/main" id="{378EBCD1-3F23-4192-9134-37D4149B9A7D}"/>
              </a:ext>
            </a:extLst>
          </p:cNvPr>
          <p:cNvCxnSpPr/>
          <p:nvPr/>
        </p:nvCxnSpPr>
        <p:spPr>
          <a:xfrm>
            <a:off x="6014357" y="3579705"/>
            <a:ext cx="70304" cy="34321"/>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85" name="Straight Connector 184">
            <a:extLst>
              <a:ext uri="{FF2B5EF4-FFF2-40B4-BE49-F238E27FC236}">
                <a16:creationId xmlns:a16="http://schemas.microsoft.com/office/drawing/2014/main" id="{A4015D15-4A4A-4ACE-B382-1E3067C4C1C8}"/>
              </a:ext>
            </a:extLst>
          </p:cNvPr>
          <p:cNvCxnSpPr/>
          <p:nvPr/>
        </p:nvCxnSpPr>
        <p:spPr>
          <a:xfrm>
            <a:off x="6084661" y="3614026"/>
            <a:ext cx="70303" cy="57768"/>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86" name="Straight Connector 185">
            <a:extLst>
              <a:ext uri="{FF2B5EF4-FFF2-40B4-BE49-F238E27FC236}">
                <a16:creationId xmlns:a16="http://schemas.microsoft.com/office/drawing/2014/main" id="{3072A3A6-70B7-4BEA-9450-95983438D06B}"/>
              </a:ext>
            </a:extLst>
          </p:cNvPr>
          <p:cNvCxnSpPr/>
          <p:nvPr/>
        </p:nvCxnSpPr>
        <p:spPr>
          <a:xfrm>
            <a:off x="6154964" y="3671794"/>
            <a:ext cx="70304" cy="76337"/>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87" name="Straight Connector 186">
            <a:extLst>
              <a:ext uri="{FF2B5EF4-FFF2-40B4-BE49-F238E27FC236}">
                <a16:creationId xmlns:a16="http://schemas.microsoft.com/office/drawing/2014/main" id="{D1A14942-5C44-4236-A3AB-E3822EB373F0}"/>
              </a:ext>
            </a:extLst>
          </p:cNvPr>
          <p:cNvCxnSpPr/>
          <p:nvPr/>
        </p:nvCxnSpPr>
        <p:spPr>
          <a:xfrm>
            <a:off x="6225268" y="3748131"/>
            <a:ext cx="70304" cy="85952"/>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88" name="Straight Connector 187">
            <a:extLst>
              <a:ext uri="{FF2B5EF4-FFF2-40B4-BE49-F238E27FC236}">
                <a16:creationId xmlns:a16="http://schemas.microsoft.com/office/drawing/2014/main" id="{75912FC1-A5FD-47E7-80BF-2DE9912EC4AC}"/>
              </a:ext>
            </a:extLst>
          </p:cNvPr>
          <p:cNvCxnSpPr/>
          <p:nvPr/>
        </p:nvCxnSpPr>
        <p:spPr>
          <a:xfrm>
            <a:off x="6295572" y="3834083"/>
            <a:ext cx="70303" cy="83686"/>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89" name="Straight Connector 188">
            <a:extLst>
              <a:ext uri="{FF2B5EF4-FFF2-40B4-BE49-F238E27FC236}">
                <a16:creationId xmlns:a16="http://schemas.microsoft.com/office/drawing/2014/main" id="{6E5E283C-49D2-42B8-9191-F86B9D5C559E}"/>
              </a:ext>
            </a:extLst>
          </p:cNvPr>
          <p:cNvCxnSpPr/>
          <p:nvPr/>
        </p:nvCxnSpPr>
        <p:spPr>
          <a:xfrm>
            <a:off x="6365875" y="3917769"/>
            <a:ext cx="70303" cy="68464"/>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90" name="Straight Connector 189">
            <a:extLst>
              <a:ext uri="{FF2B5EF4-FFF2-40B4-BE49-F238E27FC236}">
                <a16:creationId xmlns:a16="http://schemas.microsoft.com/office/drawing/2014/main" id="{C8D42359-10AF-4B21-BC30-198C4486231B}"/>
              </a:ext>
            </a:extLst>
          </p:cNvPr>
          <p:cNvCxnSpPr/>
          <p:nvPr/>
        </p:nvCxnSpPr>
        <p:spPr>
          <a:xfrm>
            <a:off x="6436178" y="3986233"/>
            <a:ext cx="70304" cy="41440"/>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91" name="Straight Connector 190">
            <a:extLst>
              <a:ext uri="{FF2B5EF4-FFF2-40B4-BE49-F238E27FC236}">
                <a16:creationId xmlns:a16="http://schemas.microsoft.com/office/drawing/2014/main" id="{0F9AA1F5-FEBE-4E76-B97A-49EE8C606208}"/>
              </a:ext>
            </a:extLst>
          </p:cNvPr>
          <p:cNvCxnSpPr/>
          <p:nvPr/>
        </p:nvCxnSpPr>
        <p:spPr>
          <a:xfrm>
            <a:off x="6506482" y="4027673"/>
            <a:ext cx="70303" cy="5952"/>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92" name="Straight Connector 191">
            <a:extLst>
              <a:ext uri="{FF2B5EF4-FFF2-40B4-BE49-F238E27FC236}">
                <a16:creationId xmlns:a16="http://schemas.microsoft.com/office/drawing/2014/main" id="{231DCEC1-11EE-4491-A653-80687D94557D}"/>
              </a:ext>
            </a:extLst>
          </p:cNvPr>
          <p:cNvCxnSpPr/>
          <p:nvPr/>
        </p:nvCxnSpPr>
        <p:spPr>
          <a:xfrm flipV="1">
            <a:off x="6576785" y="4000679"/>
            <a:ext cx="70305" cy="32946"/>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93" name="Straight Connector 192">
            <a:extLst>
              <a:ext uri="{FF2B5EF4-FFF2-40B4-BE49-F238E27FC236}">
                <a16:creationId xmlns:a16="http://schemas.microsoft.com/office/drawing/2014/main" id="{8603E9AD-88DB-4B39-AEF2-6E6B180D0743}"/>
              </a:ext>
            </a:extLst>
          </p:cNvPr>
          <p:cNvCxnSpPr/>
          <p:nvPr/>
        </p:nvCxnSpPr>
        <p:spPr>
          <a:xfrm flipV="1">
            <a:off x="6647090" y="3931343"/>
            <a:ext cx="70303" cy="69336"/>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94" name="Straight Connector 193">
            <a:extLst>
              <a:ext uri="{FF2B5EF4-FFF2-40B4-BE49-F238E27FC236}">
                <a16:creationId xmlns:a16="http://schemas.microsoft.com/office/drawing/2014/main" id="{59FF918B-A4D1-4D6E-A131-A14559F48C70}"/>
              </a:ext>
            </a:extLst>
          </p:cNvPr>
          <p:cNvCxnSpPr/>
          <p:nvPr/>
        </p:nvCxnSpPr>
        <p:spPr>
          <a:xfrm flipV="1">
            <a:off x="6717393" y="3833880"/>
            <a:ext cx="70304" cy="97463"/>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95" name="Straight Connector 194">
            <a:extLst>
              <a:ext uri="{FF2B5EF4-FFF2-40B4-BE49-F238E27FC236}">
                <a16:creationId xmlns:a16="http://schemas.microsoft.com/office/drawing/2014/main" id="{734A746C-4369-4555-B4B1-636948478F45}"/>
              </a:ext>
            </a:extLst>
          </p:cNvPr>
          <p:cNvCxnSpPr/>
          <p:nvPr/>
        </p:nvCxnSpPr>
        <p:spPr>
          <a:xfrm flipV="1">
            <a:off x="6787697" y="3721100"/>
            <a:ext cx="70303" cy="112780"/>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96" name="Straight Connector 195">
            <a:extLst>
              <a:ext uri="{FF2B5EF4-FFF2-40B4-BE49-F238E27FC236}">
                <a16:creationId xmlns:a16="http://schemas.microsoft.com/office/drawing/2014/main" id="{8F392EA1-0723-4F71-9FFD-43D86930C917}"/>
              </a:ext>
            </a:extLst>
          </p:cNvPr>
          <p:cNvCxnSpPr/>
          <p:nvPr/>
        </p:nvCxnSpPr>
        <p:spPr>
          <a:xfrm flipV="1">
            <a:off x="6858000" y="3608320"/>
            <a:ext cx="70303" cy="112780"/>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97" name="Straight Connector 196">
            <a:extLst>
              <a:ext uri="{FF2B5EF4-FFF2-40B4-BE49-F238E27FC236}">
                <a16:creationId xmlns:a16="http://schemas.microsoft.com/office/drawing/2014/main" id="{F1A72594-B357-4546-872C-0512C69338D2}"/>
              </a:ext>
            </a:extLst>
          </p:cNvPr>
          <p:cNvCxnSpPr/>
          <p:nvPr/>
        </p:nvCxnSpPr>
        <p:spPr>
          <a:xfrm flipV="1">
            <a:off x="6928303" y="3510857"/>
            <a:ext cx="70304" cy="97463"/>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98" name="Straight Connector 197">
            <a:extLst>
              <a:ext uri="{FF2B5EF4-FFF2-40B4-BE49-F238E27FC236}">
                <a16:creationId xmlns:a16="http://schemas.microsoft.com/office/drawing/2014/main" id="{D32AE676-D4A3-46BD-BB58-B16663D417CC}"/>
              </a:ext>
            </a:extLst>
          </p:cNvPr>
          <p:cNvCxnSpPr/>
          <p:nvPr/>
        </p:nvCxnSpPr>
        <p:spPr>
          <a:xfrm flipV="1">
            <a:off x="6998607" y="3441521"/>
            <a:ext cx="70303" cy="69336"/>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99" name="Straight Connector 198">
            <a:extLst>
              <a:ext uri="{FF2B5EF4-FFF2-40B4-BE49-F238E27FC236}">
                <a16:creationId xmlns:a16="http://schemas.microsoft.com/office/drawing/2014/main" id="{EB1616A9-D3E1-4E8A-902C-FF0CEAD27A58}"/>
              </a:ext>
            </a:extLst>
          </p:cNvPr>
          <p:cNvCxnSpPr/>
          <p:nvPr/>
        </p:nvCxnSpPr>
        <p:spPr>
          <a:xfrm flipV="1">
            <a:off x="7068910" y="3408575"/>
            <a:ext cx="70305" cy="32946"/>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00" name="Straight Connector 199">
            <a:extLst>
              <a:ext uri="{FF2B5EF4-FFF2-40B4-BE49-F238E27FC236}">
                <a16:creationId xmlns:a16="http://schemas.microsoft.com/office/drawing/2014/main" id="{88F92774-6C87-4814-8C32-44DE37A0BB0E}"/>
              </a:ext>
            </a:extLst>
          </p:cNvPr>
          <p:cNvCxnSpPr/>
          <p:nvPr/>
        </p:nvCxnSpPr>
        <p:spPr>
          <a:xfrm>
            <a:off x="7139215" y="3408575"/>
            <a:ext cx="70303" cy="5952"/>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01" name="Straight Connector 200">
            <a:extLst>
              <a:ext uri="{FF2B5EF4-FFF2-40B4-BE49-F238E27FC236}">
                <a16:creationId xmlns:a16="http://schemas.microsoft.com/office/drawing/2014/main" id="{3B440261-A999-4D7F-AB23-1D636A7043EA}"/>
              </a:ext>
            </a:extLst>
          </p:cNvPr>
          <p:cNvCxnSpPr/>
          <p:nvPr/>
        </p:nvCxnSpPr>
        <p:spPr>
          <a:xfrm>
            <a:off x="7209518" y="3414527"/>
            <a:ext cx="70304" cy="41440"/>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02" name="Straight Connector 201">
            <a:extLst>
              <a:ext uri="{FF2B5EF4-FFF2-40B4-BE49-F238E27FC236}">
                <a16:creationId xmlns:a16="http://schemas.microsoft.com/office/drawing/2014/main" id="{437758E9-F800-4E20-8C41-D50D4485F7F1}"/>
              </a:ext>
            </a:extLst>
          </p:cNvPr>
          <p:cNvCxnSpPr/>
          <p:nvPr/>
        </p:nvCxnSpPr>
        <p:spPr>
          <a:xfrm>
            <a:off x="7279822" y="3455967"/>
            <a:ext cx="70303" cy="68464"/>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03" name="Straight Connector 202">
            <a:extLst>
              <a:ext uri="{FF2B5EF4-FFF2-40B4-BE49-F238E27FC236}">
                <a16:creationId xmlns:a16="http://schemas.microsoft.com/office/drawing/2014/main" id="{60C3AD54-DCA3-4EED-A24A-09D9932677C8}"/>
              </a:ext>
            </a:extLst>
          </p:cNvPr>
          <p:cNvCxnSpPr/>
          <p:nvPr/>
        </p:nvCxnSpPr>
        <p:spPr>
          <a:xfrm>
            <a:off x="7350125" y="3524431"/>
            <a:ext cx="70303" cy="83686"/>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04" name="Straight Connector 203">
            <a:extLst>
              <a:ext uri="{FF2B5EF4-FFF2-40B4-BE49-F238E27FC236}">
                <a16:creationId xmlns:a16="http://schemas.microsoft.com/office/drawing/2014/main" id="{5A2E8A8A-FE13-40DE-8BB9-2E99EBBBB264}"/>
              </a:ext>
            </a:extLst>
          </p:cNvPr>
          <p:cNvCxnSpPr/>
          <p:nvPr/>
        </p:nvCxnSpPr>
        <p:spPr>
          <a:xfrm>
            <a:off x="7420428" y="3608117"/>
            <a:ext cx="70304" cy="85952"/>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05" name="Straight Connector 204">
            <a:extLst>
              <a:ext uri="{FF2B5EF4-FFF2-40B4-BE49-F238E27FC236}">
                <a16:creationId xmlns:a16="http://schemas.microsoft.com/office/drawing/2014/main" id="{65B07BFA-4AC7-48E2-8E4D-760032F75A31}"/>
              </a:ext>
            </a:extLst>
          </p:cNvPr>
          <p:cNvCxnSpPr/>
          <p:nvPr/>
        </p:nvCxnSpPr>
        <p:spPr>
          <a:xfrm>
            <a:off x="7490732" y="3694069"/>
            <a:ext cx="70303" cy="76337"/>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06" name="Straight Connector 205">
            <a:extLst>
              <a:ext uri="{FF2B5EF4-FFF2-40B4-BE49-F238E27FC236}">
                <a16:creationId xmlns:a16="http://schemas.microsoft.com/office/drawing/2014/main" id="{51BC3B83-C4AA-4224-A947-1D41234D4B8E}"/>
              </a:ext>
            </a:extLst>
          </p:cNvPr>
          <p:cNvCxnSpPr/>
          <p:nvPr/>
        </p:nvCxnSpPr>
        <p:spPr>
          <a:xfrm>
            <a:off x="7561035" y="3770406"/>
            <a:ext cx="70305" cy="57768"/>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07" name="Straight Connector 206">
            <a:extLst>
              <a:ext uri="{FF2B5EF4-FFF2-40B4-BE49-F238E27FC236}">
                <a16:creationId xmlns:a16="http://schemas.microsoft.com/office/drawing/2014/main" id="{37C34F7A-F89E-42EA-86EA-6159697E99E1}"/>
              </a:ext>
            </a:extLst>
          </p:cNvPr>
          <p:cNvCxnSpPr/>
          <p:nvPr/>
        </p:nvCxnSpPr>
        <p:spPr>
          <a:xfrm>
            <a:off x="7631340" y="3828174"/>
            <a:ext cx="70303" cy="34321"/>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08" name="Straight Connector 207">
            <a:extLst>
              <a:ext uri="{FF2B5EF4-FFF2-40B4-BE49-F238E27FC236}">
                <a16:creationId xmlns:a16="http://schemas.microsoft.com/office/drawing/2014/main" id="{8D35AFA2-8DE8-406B-8637-E7DF1A565B06}"/>
              </a:ext>
            </a:extLst>
          </p:cNvPr>
          <p:cNvCxnSpPr/>
          <p:nvPr/>
        </p:nvCxnSpPr>
        <p:spPr>
          <a:xfrm>
            <a:off x="7701643" y="3862495"/>
            <a:ext cx="70304" cy="10350"/>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09" name="Straight Connector 208">
            <a:extLst>
              <a:ext uri="{FF2B5EF4-FFF2-40B4-BE49-F238E27FC236}">
                <a16:creationId xmlns:a16="http://schemas.microsoft.com/office/drawing/2014/main" id="{63B9E84E-837D-426C-A11B-77182CE3E546}"/>
              </a:ext>
            </a:extLst>
          </p:cNvPr>
          <p:cNvCxnSpPr/>
          <p:nvPr/>
        </p:nvCxnSpPr>
        <p:spPr>
          <a:xfrm flipV="1">
            <a:off x="7771947" y="3862498"/>
            <a:ext cx="70303" cy="10347"/>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10" name="Straight Connector 209">
            <a:extLst>
              <a:ext uri="{FF2B5EF4-FFF2-40B4-BE49-F238E27FC236}">
                <a16:creationId xmlns:a16="http://schemas.microsoft.com/office/drawing/2014/main" id="{65B49EDE-3AED-43D4-B96D-83707EFFE24D}"/>
              </a:ext>
            </a:extLst>
          </p:cNvPr>
          <p:cNvCxnSpPr/>
          <p:nvPr/>
        </p:nvCxnSpPr>
        <p:spPr>
          <a:xfrm flipV="1">
            <a:off x="7842250" y="3837315"/>
            <a:ext cx="70303" cy="25183"/>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11" name="Straight Connector 210">
            <a:extLst>
              <a:ext uri="{FF2B5EF4-FFF2-40B4-BE49-F238E27FC236}">
                <a16:creationId xmlns:a16="http://schemas.microsoft.com/office/drawing/2014/main" id="{C0FC50A7-AF04-4FCE-A31D-9E88B1861C85}"/>
              </a:ext>
            </a:extLst>
          </p:cNvPr>
          <p:cNvCxnSpPr/>
          <p:nvPr/>
        </p:nvCxnSpPr>
        <p:spPr>
          <a:xfrm flipV="1">
            <a:off x="7912553" y="3804212"/>
            <a:ext cx="70304" cy="33103"/>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12" name="Straight Connector 211">
            <a:extLst>
              <a:ext uri="{FF2B5EF4-FFF2-40B4-BE49-F238E27FC236}">
                <a16:creationId xmlns:a16="http://schemas.microsoft.com/office/drawing/2014/main" id="{DAE6BD94-F969-4255-9D75-1BD094A96BAC}"/>
              </a:ext>
            </a:extLst>
          </p:cNvPr>
          <p:cNvCxnSpPr/>
          <p:nvPr/>
        </p:nvCxnSpPr>
        <p:spPr>
          <a:xfrm flipV="1">
            <a:off x="7982857" y="3769658"/>
            <a:ext cx="70303" cy="34554"/>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13" name="Straight Connector 212">
            <a:extLst>
              <a:ext uri="{FF2B5EF4-FFF2-40B4-BE49-F238E27FC236}">
                <a16:creationId xmlns:a16="http://schemas.microsoft.com/office/drawing/2014/main" id="{B63DBFDB-27D3-4E21-ADF1-0B2BD5016CB1}"/>
              </a:ext>
            </a:extLst>
          </p:cNvPr>
          <p:cNvCxnSpPr/>
          <p:nvPr/>
        </p:nvCxnSpPr>
        <p:spPr>
          <a:xfrm flipV="1">
            <a:off x="8053160" y="3738526"/>
            <a:ext cx="70305" cy="31132"/>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14" name="Straight Connector 213">
            <a:extLst>
              <a:ext uri="{FF2B5EF4-FFF2-40B4-BE49-F238E27FC236}">
                <a16:creationId xmlns:a16="http://schemas.microsoft.com/office/drawing/2014/main" id="{7605156A-22AC-4FCD-8405-223826B800F9}"/>
              </a:ext>
            </a:extLst>
          </p:cNvPr>
          <p:cNvCxnSpPr/>
          <p:nvPr/>
        </p:nvCxnSpPr>
        <p:spPr>
          <a:xfrm flipV="1">
            <a:off x="8123465" y="3713521"/>
            <a:ext cx="70303" cy="25005"/>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15" name="Straight Connector 214">
            <a:extLst>
              <a:ext uri="{FF2B5EF4-FFF2-40B4-BE49-F238E27FC236}">
                <a16:creationId xmlns:a16="http://schemas.microsoft.com/office/drawing/2014/main" id="{26D5853B-6289-4E04-AAB0-9ABC205D0066}"/>
              </a:ext>
            </a:extLst>
          </p:cNvPr>
          <p:cNvCxnSpPr/>
          <p:nvPr/>
        </p:nvCxnSpPr>
        <p:spPr>
          <a:xfrm flipV="1">
            <a:off x="8193768" y="3695235"/>
            <a:ext cx="70304" cy="18286"/>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16" name="Straight Connector 215">
            <a:extLst>
              <a:ext uri="{FF2B5EF4-FFF2-40B4-BE49-F238E27FC236}">
                <a16:creationId xmlns:a16="http://schemas.microsoft.com/office/drawing/2014/main" id="{F55095DC-60FF-4A05-82B2-0DB2B7550ADC}"/>
              </a:ext>
            </a:extLst>
          </p:cNvPr>
          <p:cNvCxnSpPr/>
          <p:nvPr/>
        </p:nvCxnSpPr>
        <p:spPr>
          <a:xfrm flipV="1">
            <a:off x="8264072" y="3682750"/>
            <a:ext cx="70303" cy="12485"/>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17" name="Straight Connector 216">
            <a:extLst>
              <a:ext uri="{FF2B5EF4-FFF2-40B4-BE49-F238E27FC236}">
                <a16:creationId xmlns:a16="http://schemas.microsoft.com/office/drawing/2014/main" id="{45FA586D-AF92-4C04-978B-12CF9C75C881}"/>
              </a:ext>
            </a:extLst>
          </p:cNvPr>
          <p:cNvCxnSpPr/>
          <p:nvPr/>
        </p:nvCxnSpPr>
        <p:spPr>
          <a:xfrm flipV="1">
            <a:off x="8334375" y="3674552"/>
            <a:ext cx="70303" cy="8198"/>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18" name="Straight Connector 217">
            <a:extLst>
              <a:ext uri="{FF2B5EF4-FFF2-40B4-BE49-F238E27FC236}">
                <a16:creationId xmlns:a16="http://schemas.microsoft.com/office/drawing/2014/main" id="{DDAD2B79-33FE-4242-BA6F-99F3FE841537}"/>
              </a:ext>
            </a:extLst>
          </p:cNvPr>
          <p:cNvCxnSpPr/>
          <p:nvPr/>
        </p:nvCxnSpPr>
        <p:spPr>
          <a:xfrm flipV="1">
            <a:off x="8404678" y="3669476"/>
            <a:ext cx="70304" cy="5076"/>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19" name="Straight Connector 218">
            <a:extLst>
              <a:ext uri="{FF2B5EF4-FFF2-40B4-BE49-F238E27FC236}">
                <a16:creationId xmlns:a16="http://schemas.microsoft.com/office/drawing/2014/main" id="{4012B6AD-27BE-42CA-B3C6-4631C8409C21}"/>
              </a:ext>
            </a:extLst>
          </p:cNvPr>
          <p:cNvCxnSpPr/>
          <p:nvPr/>
        </p:nvCxnSpPr>
        <p:spPr>
          <a:xfrm flipV="1">
            <a:off x="8474982" y="3667392"/>
            <a:ext cx="70303" cy="2084"/>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20" name="Straight Connector 219">
            <a:extLst>
              <a:ext uri="{FF2B5EF4-FFF2-40B4-BE49-F238E27FC236}">
                <a16:creationId xmlns:a16="http://schemas.microsoft.com/office/drawing/2014/main" id="{C5DB7568-047B-4948-840B-8C459403AEC9}"/>
              </a:ext>
            </a:extLst>
          </p:cNvPr>
          <p:cNvCxnSpPr/>
          <p:nvPr/>
        </p:nvCxnSpPr>
        <p:spPr>
          <a:xfrm>
            <a:off x="8545285" y="3667392"/>
            <a:ext cx="70305" cy="2043"/>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21" name="Straight Connector 220">
            <a:extLst>
              <a:ext uri="{FF2B5EF4-FFF2-40B4-BE49-F238E27FC236}">
                <a16:creationId xmlns:a16="http://schemas.microsoft.com/office/drawing/2014/main" id="{02F08E01-41A4-4236-9052-F55608AA6942}"/>
              </a:ext>
            </a:extLst>
          </p:cNvPr>
          <p:cNvCxnSpPr/>
          <p:nvPr/>
        </p:nvCxnSpPr>
        <p:spPr>
          <a:xfrm>
            <a:off x="8615590" y="3669435"/>
            <a:ext cx="70303" cy="8258"/>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22" name="Straight Connector 221">
            <a:extLst>
              <a:ext uri="{FF2B5EF4-FFF2-40B4-BE49-F238E27FC236}">
                <a16:creationId xmlns:a16="http://schemas.microsoft.com/office/drawing/2014/main" id="{DA38FFBD-294A-4464-9C1C-CCAC8AA3F4CA}"/>
              </a:ext>
            </a:extLst>
          </p:cNvPr>
          <p:cNvCxnSpPr/>
          <p:nvPr/>
        </p:nvCxnSpPr>
        <p:spPr>
          <a:xfrm>
            <a:off x="8685893" y="3677693"/>
            <a:ext cx="70304" cy="16745"/>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23" name="Straight Connector 222">
            <a:extLst>
              <a:ext uri="{FF2B5EF4-FFF2-40B4-BE49-F238E27FC236}">
                <a16:creationId xmlns:a16="http://schemas.microsoft.com/office/drawing/2014/main" id="{3F69753D-B422-4584-9794-BBF3FC5F7AD2}"/>
              </a:ext>
            </a:extLst>
          </p:cNvPr>
          <p:cNvCxnSpPr/>
          <p:nvPr/>
        </p:nvCxnSpPr>
        <p:spPr>
          <a:xfrm>
            <a:off x="8756197" y="3694438"/>
            <a:ext cx="70303" cy="26662"/>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24" name="Straight Connector 223">
            <a:extLst>
              <a:ext uri="{FF2B5EF4-FFF2-40B4-BE49-F238E27FC236}">
                <a16:creationId xmlns:a16="http://schemas.microsoft.com/office/drawing/2014/main" id="{17B09FF3-96D3-4E1F-B164-A734BCAD35BB}"/>
              </a:ext>
            </a:extLst>
          </p:cNvPr>
          <p:cNvCxnSpPr/>
          <p:nvPr/>
        </p:nvCxnSpPr>
        <p:spPr>
          <a:xfrm>
            <a:off x="8826500" y="3721100"/>
            <a:ext cx="70303" cy="36178"/>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25" name="Straight Connector 224">
            <a:extLst>
              <a:ext uri="{FF2B5EF4-FFF2-40B4-BE49-F238E27FC236}">
                <a16:creationId xmlns:a16="http://schemas.microsoft.com/office/drawing/2014/main" id="{65E5DEDE-7996-4D0D-99F1-E389ED2263D7}"/>
              </a:ext>
            </a:extLst>
          </p:cNvPr>
          <p:cNvCxnSpPr/>
          <p:nvPr/>
        </p:nvCxnSpPr>
        <p:spPr>
          <a:xfrm>
            <a:off x="8896803" y="3757278"/>
            <a:ext cx="70304" cy="42802"/>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26" name="Straight Connector 225">
            <a:extLst>
              <a:ext uri="{FF2B5EF4-FFF2-40B4-BE49-F238E27FC236}">
                <a16:creationId xmlns:a16="http://schemas.microsoft.com/office/drawing/2014/main" id="{8E0951C4-5244-4FB2-AE1A-D76128FDE145}"/>
              </a:ext>
            </a:extLst>
          </p:cNvPr>
          <p:cNvCxnSpPr/>
          <p:nvPr/>
        </p:nvCxnSpPr>
        <p:spPr>
          <a:xfrm>
            <a:off x="8967107" y="3800080"/>
            <a:ext cx="70303" cy="43961"/>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27" name="Straight Connector 226">
            <a:extLst>
              <a:ext uri="{FF2B5EF4-FFF2-40B4-BE49-F238E27FC236}">
                <a16:creationId xmlns:a16="http://schemas.microsoft.com/office/drawing/2014/main" id="{39F72F01-35C6-4311-ACD4-582F9CA00D99}"/>
              </a:ext>
            </a:extLst>
          </p:cNvPr>
          <p:cNvCxnSpPr/>
          <p:nvPr/>
        </p:nvCxnSpPr>
        <p:spPr>
          <a:xfrm>
            <a:off x="9037410" y="3844041"/>
            <a:ext cx="70305" cy="37668"/>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28" name="Straight Connector 227">
            <a:extLst>
              <a:ext uri="{FF2B5EF4-FFF2-40B4-BE49-F238E27FC236}">
                <a16:creationId xmlns:a16="http://schemas.microsoft.com/office/drawing/2014/main" id="{3446E145-9D81-47E2-A484-476F5645C737}"/>
              </a:ext>
            </a:extLst>
          </p:cNvPr>
          <p:cNvCxnSpPr/>
          <p:nvPr/>
        </p:nvCxnSpPr>
        <p:spPr>
          <a:xfrm>
            <a:off x="9107715" y="3881709"/>
            <a:ext cx="70303" cy="23147"/>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29" name="Straight Connector 228">
            <a:extLst>
              <a:ext uri="{FF2B5EF4-FFF2-40B4-BE49-F238E27FC236}">
                <a16:creationId xmlns:a16="http://schemas.microsoft.com/office/drawing/2014/main" id="{192CACEC-CC7A-4495-B8E3-EEB072C9F038}"/>
              </a:ext>
            </a:extLst>
          </p:cNvPr>
          <p:cNvCxnSpPr/>
          <p:nvPr/>
        </p:nvCxnSpPr>
        <p:spPr>
          <a:xfrm>
            <a:off x="9178018" y="3904856"/>
            <a:ext cx="70304" cy="1248"/>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30" name="Straight Connector 229">
            <a:extLst>
              <a:ext uri="{FF2B5EF4-FFF2-40B4-BE49-F238E27FC236}">
                <a16:creationId xmlns:a16="http://schemas.microsoft.com/office/drawing/2014/main" id="{EA56399A-E108-467D-B556-95D6FC44BF95}"/>
              </a:ext>
            </a:extLst>
          </p:cNvPr>
          <p:cNvCxnSpPr/>
          <p:nvPr/>
        </p:nvCxnSpPr>
        <p:spPr>
          <a:xfrm flipV="1">
            <a:off x="9248322" y="3880622"/>
            <a:ext cx="70303" cy="25482"/>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31" name="Straight Connector 230">
            <a:extLst>
              <a:ext uri="{FF2B5EF4-FFF2-40B4-BE49-F238E27FC236}">
                <a16:creationId xmlns:a16="http://schemas.microsoft.com/office/drawing/2014/main" id="{A35CF35B-3D29-4319-8A98-FBF344AED491}"/>
              </a:ext>
            </a:extLst>
          </p:cNvPr>
          <p:cNvCxnSpPr/>
          <p:nvPr/>
        </p:nvCxnSpPr>
        <p:spPr>
          <a:xfrm flipV="1">
            <a:off x="9318625" y="3827531"/>
            <a:ext cx="70303" cy="53091"/>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32" name="Straight Connector 231">
            <a:extLst>
              <a:ext uri="{FF2B5EF4-FFF2-40B4-BE49-F238E27FC236}">
                <a16:creationId xmlns:a16="http://schemas.microsoft.com/office/drawing/2014/main" id="{0869AE35-1634-430A-9CB2-1CF34260AEA0}"/>
              </a:ext>
            </a:extLst>
          </p:cNvPr>
          <p:cNvCxnSpPr/>
          <p:nvPr/>
        </p:nvCxnSpPr>
        <p:spPr>
          <a:xfrm flipV="1">
            <a:off x="9388928" y="3750665"/>
            <a:ext cx="70304" cy="76866"/>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33" name="Straight Connector 232">
            <a:extLst>
              <a:ext uri="{FF2B5EF4-FFF2-40B4-BE49-F238E27FC236}">
                <a16:creationId xmlns:a16="http://schemas.microsoft.com/office/drawing/2014/main" id="{6313436C-3C38-4D30-95B0-7EF5F74779D7}"/>
              </a:ext>
            </a:extLst>
          </p:cNvPr>
          <p:cNvCxnSpPr/>
          <p:nvPr/>
        </p:nvCxnSpPr>
        <p:spPr>
          <a:xfrm flipV="1">
            <a:off x="9459232" y="3658461"/>
            <a:ext cx="70303" cy="92204"/>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34" name="Straight Connector 233">
            <a:extLst>
              <a:ext uri="{FF2B5EF4-FFF2-40B4-BE49-F238E27FC236}">
                <a16:creationId xmlns:a16="http://schemas.microsoft.com/office/drawing/2014/main" id="{22C94CD1-58ED-412C-961A-CB8F8017B55A}"/>
              </a:ext>
            </a:extLst>
          </p:cNvPr>
          <p:cNvCxnSpPr/>
          <p:nvPr/>
        </p:nvCxnSpPr>
        <p:spPr>
          <a:xfrm flipV="1">
            <a:off x="9529535" y="3562935"/>
            <a:ext cx="70305" cy="95526"/>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35" name="Straight Connector 234">
            <a:extLst>
              <a:ext uri="{FF2B5EF4-FFF2-40B4-BE49-F238E27FC236}">
                <a16:creationId xmlns:a16="http://schemas.microsoft.com/office/drawing/2014/main" id="{415B61CF-367A-4DE0-8219-0318388221DB}"/>
              </a:ext>
            </a:extLst>
          </p:cNvPr>
          <p:cNvCxnSpPr/>
          <p:nvPr/>
        </p:nvCxnSpPr>
        <p:spPr>
          <a:xfrm flipV="1">
            <a:off x="9599840" y="3477868"/>
            <a:ext cx="70303" cy="85067"/>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36" name="Straight Connector 235">
            <a:extLst>
              <a:ext uri="{FF2B5EF4-FFF2-40B4-BE49-F238E27FC236}">
                <a16:creationId xmlns:a16="http://schemas.microsoft.com/office/drawing/2014/main" id="{443B9D65-A4D5-420C-AEE8-DA991310D59C}"/>
              </a:ext>
            </a:extLst>
          </p:cNvPr>
          <p:cNvCxnSpPr/>
          <p:nvPr/>
        </p:nvCxnSpPr>
        <p:spPr>
          <a:xfrm flipV="1">
            <a:off x="9670143" y="3416519"/>
            <a:ext cx="70304" cy="61349"/>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37" name="Straight Connector 236">
            <a:extLst>
              <a:ext uri="{FF2B5EF4-FFF2-40B4-BE49-F238E27FC236}">
                <a16:creationId xmlns:a16="http://schemas.microsoft.com/office/drawing/2014/main" id="{5546C452-9BCE-4FAF-9E3E-D641EB169CBD}"/>
              </a:ext>
            </a:extLst>
          </p:cNvPr>
          <p:cNvCxnSpPr/>
          <p:nvPr/>
        </p:nvCxnSpPr>
        <p:spPr>
          <a:xfrm flipV="1">
            <a:off x="9740447" y="3389293"/>
            <a:ext cx="70303" cy="27226"/>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38" name="Straight Connector 237">
            <a:extLst>
              <a:ext uri="{FF2B5EF4-FFF2-40B4-BE49-F238E27FC236}">
                <a16:creationId xmlns:a16="http://schemas.microsoft.com/office/drawing/2014/main" id="{C6F6499D-AF1C-4929-96E2-13B9D59E90C8}"/>
              </a:ext>
            </a:extLst>
          </p:cNvPr>
          <p:cNvCxnSpPr/>
          <p:nvPr/>
        </p:nvCxnSpPr>
        <p:spPr>
          <a:xfrm>
            <a:off x="9810750" y="3389293"/>
            <a:ext cx="70303" cy="12509"/>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39" name="Straight Connector 238">
            <a:extLst>
              <a:ext uri="{FF2B5EF4-FFF2-40B4-BE49-F238E27FC236}">
                <a16:creationId xmlns:a16="http://schemas.microsoft.com/office/drawing/2014/main" id="{376A0A8C-B129-4175-9F49-63ACE0038181}"/>
              </a:ext>
            </a:extLst>
          </p:cNvPr>
          <p:cNvCxnSpPr/>
          <p:nvPr/>
        </p:nvCxnSpPr>
        <p:spPr>
          <a:xfrm>
            <a:off x="9881053" y="3401802"/>
            <a:ext cx="70304" cy="51924"/>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40" name="Straight Connector 239">
            <a:extLst>
              <a:ext uri="{FF2B5EF4-FFF2-40B4-BE49-F238E27FC236}">
                <a16:creationId xmlns:a16="http://schemas.microsoft.com/office/drawing/2014/main" id="{0660BD6A-B322-44B3-B8E9-67FDA364B1D7}"/>
              </a:ext>
            </a:extLst>
          </p:cNvPr>
          <p:cNvCxnSpPr/>
          <p:nvPr/>
        </p:nvCxnSpPr>
        <p:spPr>
          <a:xfrm>
            <a:off x="9951357" y="3453726"/>
            <a:ext cx="70303" cy="84971"/>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41" name="Straight Connector 240">
            <a:extLst>
              <a:ext uri="{FF2B5EF4-FFF2-40B4-BE49-F238E27FC236}">
                <a16:creationId xmlns:a16="http://schemas.microsoft.com/office/drawing/2014/main" id="{DFC7235A-AE65-4F28-82EE-3E858329F559}"/>
              </a:ext>
            </a:extLst>
          </p:cNvPr>
          <p:cNvCxnSpPr/>
          <p:nvPr/>
        </p:nvCxnSpPr>
        <p:spPr>
          <a:xfrm>
            <a:off x="10021660" y="3538697"/>
            <a:ext cx="70305" cy="106559"/>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42" name="Straight Connector 241">
            <a:extLst>
              <a:ext uri="{FF2B5EF4-FFF2-40B4-BE49-F238E27FC236}">
                <a16:creationId xmlns:a16="http://schemas.microsoft.com/office/drawing/2014/main" id="{1B2FA414-12B9-47CA-B3F3-1F44ECB5B81F}"/>
              </a:ext>
            </a:extLst>
          </p:cNvPr>
          <p:cNvCxnSpPr/>
          <p:nvPr/>
        </p:nvCxnSpPr>
        <p:spPr>
          <a:xfrm>
            <a:off x="10091965" y="3645256"/>
            <a:ext cx="70303" cy="113466"/>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43" name="Straight Connector 242">
            <a:extLst>
              <a:ext uri="{FF2B5EF4-FFF2-40B4-BE49-F238E27FC236}">
                <a16:creationId xmlns:a16="http://schemas.microsoft.com/office/drawing/2014/main" id="{8349006F-18C1-402F-AC9D-31538BEA7551}"/>
              </a:ext>
            </a:extLst>
          </p:cNvPr>
          <p:cNvCxnSpPr/>
          <p:nvPr/>
        </p:nvCxnSpPr>
        <p:spPr>
          <a:xfrm>
            <a:off x="10162268" y="3758722"/>
            <a:ext cx="70304" cy="104895"/>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44" name="Straight Connector 243">
            <a:extLst>
              <a:ext uri="{FF2B5EF4-FFF2-40B4-BE49-F238E27FC236}">
                <a16:creationId xmlns:a16="http://schemas.microsoft.com/office/drawing/2014/main" id="{B487DFDB-51C1-46EA-A3B3-B77B6C0EC239}"/>
              </a:ext>
            </a:extLst>
          </p:cNvPr>
          <p:cNvCxnSpPr/>
          <p:nvPr/>
        </p:nvCxnSpPr>
        <p:spPr>
          <a:xfrm>
            <a:off x="10232572" y="3863617"/>
            <a:ext cx="70303" cy="82583"/>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45" name="Straight Connector 244">
            <a:extLst>
              <a:ext uri="{FF2B5EF4-FFF2-40B4-BE49-F238E27FC236}">
                <a16:creationId xmlns:a16="http://schemas.microsoft.com/office/drawing/2014/main" id="{7EDAFC9D-D919-4DFA-9FCD-04DA70355FF0}"/>
              </a:ext>
            </a:extLst>
          </p:cNvPr>
          <p:cNvCxnSpPr/>
          <p:nvPr/>
        </p:nvCxnSpPr>
        <p:spPr>
          <a:xfrm>
            <a:off x="10302875" y="3946200"/>
            <a:ext cx="70303" cy="50445"/>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46" name="Straight Connector 245">
            <a:extLst>
              <a:ext uri="{FF2B5EF4-FFF2-40B4-BE49-F238E27FC236}">
                <a16:creationId xmlns:a16="http://schemas.microsoft.com/office/drawing/2014/main" id="{0BBC666D-1DFB-4151-97D0-01133EBAE954}"/>
              </a:ext>
            </a:extLst>
          </p:cNvPr>
          <p:cNvCxnSpPr/>
          <p:nvPr/>
        </p:nvCxnSpPr>
        <p:spPr>
          <a:xfrm>
            <a:off x="10373178" y="3996645"/>
            <a:ext cx="70304" cy="13814"/>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47" name="Straight Connector 246">
            <a:extLst>
              <a:ext uri="{FF2B5EF4-FFF2-40B4-BE49-F238E27FC236}">
                <a16:creationId xmlns:a16="http://schemas.microsoft.com/office/drawing/2014/main" id="{8629E9ED-BCBF-406E-9034-1DAB2DFC5636}"/>
              </a:ext>
            </a:extLst>
          </p:cNvPr>
          <p:cNvCxnSpPr/>
          <p:nvPr/>
        </p:nvCxnSpPr>
        <p:spPr>
          <a:xfrm flipV="1">
            <a:off x="10443482" y="3988915"/>
            <a:ext cx="70303" cy="21544"/>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48" name="Straight Connector 247">
            <a:extLst>
              <a:ext uri="{FF2B5EF4-FFF2-40B4-BE49-F238E27FC236}">
                <a16:creationId xmlns:a16="http://schemas.microsoft.com/office/drawing/2014/main" id="{FD4F972C-27E8-419F-B37A-FE982CEF0983}"/>
              </a:ext>
            </a:extLst>
          </p:cNvPr>
          <p:cNvCxnSpPr/>
          <p:nvPr/>
        </p:nvCxnSpPr>
        <p:spPr>
          <a:xfrm flipV="1">
            <a:off x="10513785" y="3938446"/>
            <a:ext cx="70305" cy="50469"/>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49" name="Straight Connector 248">
            <a:extLst>
              <a:ext uri="{FF2B5EF4-FFF2-40B4-BE49-F238E27FC236}">
                <a16:creationId xmlns:a16="http://schemas.microsoft.com/office/drawing/2014/main" id="{9F7BB6A7-7B12-45B3-A9ED-6B5D8C3BB345}"/>
              </a:ext>
            </a:extLst>
          </p:cNvPr>
          <p:cNvCxnSpPr/>
          <p:nvPr/>
        </p:nvCxnSpPr>
        <p:spPr>
          <a:xfrm flipV="1">
            <a:off x="10584090" y="3869186"/>
            <a:ext cx="70303" cy="69260"/>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50" name="Straight Connector 249">
            <a:extLst>
              <a:ext uri="{FF2B5EF4-FFF2-40B4-BE49-F238E27FC236}">
                <a16:creationId xmlns:a16="http://schemas.microsoft.com/office/drawing/2014/main" id="{2335F47E-FEAE-42D6-92CA-638AAA5701A7}"/>
              </a:ext>
            </a:extLst>
          </p:cNvPr>
          <p:cNvCxnSpPr/>
          <p:nvPr/>
        </p:nvCxnSpPr>
        <p:spPr>
          <a:xfrm flipV="1">
            <a:off x="10654393" y="3792949"/>
            <a:ext cx="70304" cy="76237"/>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51" name="Straight Connector 250">
            <a:extLst>
              <a:ext uri="{FF2B5EF4-FFF2-40B4-BE49-F238E27FC236}">
                <a16:creationId xmlns:a16="http://schemas.microsoft.com/office/drawing/2014/main" id="{64024E20-0DEB-4BAD-9AB8-6E66245FDCB3}"/>
              </a:ext>
            </a:extLst>
          </p:cNvPr>
          <p:cNvCxnSpPr/>
          <p:nvPr/>
        </p:nvCxnSpPr>
        <p:spPr>
          <a:xfrm flipV="1">
            <a:off x="10724697" y="3721100"/>
            <a:ext cx="70303" cy="71849"/>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sp>
        <p:nvSpPr>
          <p:cNvPr id="252" name="TextBox 251">
            <a:extLst>
              <a:ext uri="{FF2B5EF4-FFF2-40B4-BE49-F238E27FC236}">
                <a16:creationId xmlns:a16="http://schemas.microsoft.com/office/drawing/2014/main" id="{7438D4DC-B506-45C5-9050-DAE019AB7F6C}"/>
              </a:ext>
            </a:extLst>
          </p:cNvPr>
          <p:cNvSpPr txBox="1"/>
          <p:nvPr/>
        </p:nvSpPr>
        <p:spPr>
          <a:xfrm>
            <a:off x="889000" y="4419600"/>
            <a:ext cx="10414000" cy="292388"/>
          </a:xfrm>
          <a:prstGeom prst="rect">
            <a:avLst/>
          </a:prstGeom>
          <a:noFill/>
        </p:spPr>
        <p:txBody>
          <a:bodyPr vert="horz" wrap="square" lIns="0" tIns="0" rIns="0" bIns="0" rtlCol="0">
            <a:spAutoFit/>
          </a:bodyPr>
          <a:lstStyle/>
          <a:p>
            <a:r>
              <a:rPr lang="en-US" sz="1900">
                <a:solidFill>
                  <a:srgbClr val="CCDDEC"/>
                </a:solidFill>
                <a:latin typeface="Aptos"/>
              </a:rPr>
              <a:t>The samples stay in time. A slowly changing sine-shaped gain makes their amplitude pulse.</a:t>
            </a:r>
          </a:p>
        </p:txBody>
      </p:sp>
      <p:sp>
        <p:nvSpPr>
          <p:cNvPr id="253" name="Rectangle 252">
            <a:extLst>
              <a:ext uri="{FF2B5EF4-FFF2-40B4-BE49-F238E27FC236}">
                <a16:creationId xmlns:a16="http://schemas.microsoft.com/office/drawing/2014/main" id="{E8BB0CBE-C50E-4309-9609-B137ACDE0EFF}"/>
              </a:ext>
            </a:extLst>
          </p:cNvPr>
          <p:cNvSpPr/>
          <p:nvPr/>
        </p:nvSpPr>
        <p:spPr>
          <a:xfrm>
            <a:off x="863600" y="5156200"/>
            <a:ext cx="10464800" cy="558800"/>
          </a:xfrm>
          <a:prstGeom prst="rect">
            <a:avLst/>
          </a:prstGeom>
          <a:solidFill>
            <a:srgbClr val="0F2235"/>
          </a:solidFill>
          <a:ln w="10160">
            <a:solidFill>
              <a:srgbClr val="264B6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4" name="TextBox 253">
            <a:extLst>
              <a:ext uri="{FF2B5EF4-FFF2-40B4-BE49-F238E27FC236}">
                <a16:creationId xmlns:a16="http://schemas.microsoft.com/office/drawing/2014/main" id="{B5CC7BDF-2FC7-4CE5-A6DD-4B80CF70B369}"/>
              </a:ext>
            </a:extLst>
          </p:cNvPr>
          <p:cNvSpPr txBox="1"/>
          <p:nvPr/>
        </p:nvSpPr>
        <p:spPr>
          <a:xfrm>
            <a:off x="1066800" y="5283200"/>
            <a:ext cx="10058400" cy="204671"/>
          </a:xfrm>
          <a:prstGeom prst="rect">
            <a:avLst/>
          </a:prstGeom>
          <a:noFill/>
        </p:spPr>
        <p:txBody>
          <a:bodyPr vert="horz" wrap="square" lIns="0" tIns="0" rIns="0" bIns="0" rtlCol="0">
            <a:spAutoFit/>
          </a:bodyPr>
          <a:lstStyle/>
          <a:p>
            <a:r>
              <a:rPr lang="en-US" sz="1330">
                <a:solidFill>
                  <a:srgbClr val="37D9E9"/>
                </a:solidFill>
                <a:latin typeface="Consolas" panose="020B0609020204030204" pitchFamily="49" charset="0"/>
              </a:rPr>
              <a:t>gain = 1 - amount + amount * (1 + sin(2*pi*rate*time)) / 2; output = audio * gain</a:t>
            </a:r>
          </a:p>
        </p:txBody>
      </p:sp>
      <p:sp>
        <p:nvSpPr>
          <p:cNvPr id="255" name="TextBox 254">
            <a:extLst>
              <a:ext uri="{FF2B5EF4-FFF2-40B4-BE49-F238E27FC236}">
                <a16:creationId xmlns:a16="http://schemas.microsoft.com/office/drawing/2014/main" id="{29506F0E-F92B-463F-BB56-77B9F92BD9D6}"/>
              </a:ext>
            </a:extLst>
          </p:cNvPr>
          <p:cNvSpPr txBox="1"/>
          <p:nvPr/>
        </p:nvSpPr>
        <p:spPr>
          <a:xfrm>
            <a:off x="889000" y="5918200"/>
            <a:ext cx="1841500" cy="169277"/>
          </a:xfrm>
          <a:prstGeom prst="rect">
            <a:avLst/>
          </a:prstGeom>
          <a:noFill/>
        </p:spPr>
        <p:txBody>
          <a:bodyPr vert="horz" wrap="square" lIns="0" tIns="0" rIns="0" bIns="0" rtlCol="0">
            <a:spAutoFit/>
          </a:bodyPr>
          <a:lstStyle/>
          <a:p>
            <a:r>
              <a:rPr lang="en-US" sz="1100" b="1">
                <a:solidFill>
                  <a:srgbClr val="FF64A5"/>
                </a:solidFill>
                <a:latin typeface="Bahnschrift" panose="020B0502040204020203" pitchFamily="34" charset="0"/>
              </a:rPr>
              <a:t>TRY IN THE APP</a:t>
            </a:r>
          </a:p>
        </p:txBody>
      </p:sp>
      <p:sp>
        <p:nvSpPr>
          <p:cNvPr id="256" name="TextBox 255">
            <a:extLst>
              <a:ext uri="{FF2B5EF4-FFF2-40B4-BE49-F238E27FC236}">
                <a16:creationId xmlns:a16="http://schemas.microsoft.com/office/drawing/2014/main" id="{94C52EEE-4364-4972-935B-7832DCBA3999}"/>
              </a:ext>
            </a:extLst>
          </p:cNvPr>
          <p:cNvSpPr txBox="1"/>
          <p:nvPr/>
        </p:nvSpPr>
        <p:spPr>
          <a:xfrm>
            <a:off x="2794000" y="5880100"/>
            <a:ext cx="8483600" cy="230832"/>
          </a:xfrm>
          <a:prstGeom prst="rect">
            <a:avLst/>
          </a:prstGeom>
          <a:noFill/>
        </p:spPr>
        <p:txBody>
          <a:bodyPr vert="horz" wrap="square" lIns="0" tIns="0" rIns="0" bIns="0" rtlCol="0">
            <a:spAutoFit/>
          </a:bodyPr>
          <a:lstStyle/>
          <a:p>
            <a:r>
              <a:rPr lang="en-US" sz="1500">
                <a:solidFill>
                  <a:srgbClr val="CCDDEC"/>
                </a:solidFill>
                <a:latin typeface="Aptos"/>
              </a:rPr>
              <a:t>Choose Tremolo; move the speed slider and listen for pulsing.</a:t>
            </a:r>
          </a:p>
        </p:txBody>
      </p:sp>
      <p:sp>
        <p:nvSpPr>
          <p:cNvPr id="257" name="Rectangle 256">
            <a:extLst>
              <a:ext uri="{FF2B5EF4-FFF2-40B4-BE49-F238E27FC236}">
                <a16:creationId xmlns:a16="http://schemas.microsoft.com/office/drawing/2014/main" id="{83858436-ACE3-4E4F-A648-733D24A89B05}"/>
              </a:ext>
            </a:extLst>
          </p:cNvPr>
          <p:cNvSpPr/>
          <p:nvPr/>
        </p:nvSpPr>
        <p:spPr>
          <a:xfrm>
            <a:off x="533400" y="381000"/>
            <a:ext cx="50800" cy="495300"/>
          </a:xfrm>
          <a:prstGeom prst="rect">
            <a:avLst/>
          </a:prstGeom>
          <a:solidFill>
            <a:srgbClr val="37D9E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8" name="TextBox 257">
            <a:extLst>
              <a:ext uri="{FF2B5EF4-FFF2-40B4-BE49-F238E27FC236}">
                <a16:creationId xmlns:a16="http://schemas.microsoft.com/office/drawing/2014/main" id="{6EA3946C-C268-4ED1-A777-792A38415D12}"/>
              </a:ext>
            </a:extLst>
          </p:cNvPr>
          <p:cNvSpPr txBox="1"/>
          <p:nvPr/>
        </p:nvSpPr>
        <p:spPr>
          <a:xfrm>
            <a:off x="9779000" y="927100"/>
            <a:ext cx="1676400" cy="138499"/>
          </a:xfrm>
          <a:prstGeom prst="rect">
            <a:avLst/>
          </a:prstGeom>
          <a:noFill/>
        </p:spPr>
        <p:txBody>
          <a:bodyPr vert="horz" wrap="square" lIns="0" tIns="0" rIns="0" bIns="0" rtlCol="0">
            <a:spAutoFit/>
          </a:bodyPr>
          <a:lstStyle/>
          <a:p>
            <a:pPr algn="r"/>
            <a:r>
              <a:rPr lang="en-US" sz="900">
                <a:solidFill>
                  <a:srgbClr val="85A0B8"/>
                </a:solidFill>
                <a:latin typeface="Bahnschrift" panose="020B0502040204020203" pitchFamily="34" charset="0"/>
              </a:rPr>
              <a:t>ANALYSIS  /  10</a:t>
            </a:r>
          </a:p>
        </p:txBody>
      </p:sp>
      <p:sp>
        <p:nvSpPr>
          <p:cNvPr id="259" name="TextBox 258">
            <a:extLst>
              <a:ext uri="{FF2B5EF4-FFF2-40B4-BE49-F238E27FC236}">
                <a16:creationId xmlns:a16="http://schemas.microsoft.com/office/drawing/2014/main" id="{4F2DB78D-6C81-41CF-B919-498B5AB98A6D}"/>
              </a:ext>
            </a:extLst>
          </p:cNvPr>
          <p:cNvSpPr txBox="1"/>
          <p:nvPr/>
        </p:nvSpPr>
        <p:spPr>
          <a:xfrm>
            <a:off x="9994900" y="2108200"/>
            <a:ext cx="1117600" cy="138499"/>
          </a:xfrm>
          <a:prstGeom prst="rect">
            <a:avLst/>
          </a:prstGeom>
          <a:noFill/>
        </p:spPr>
        <p:txBody>
          <a:bodyPr vert="horz" wrap="square" lIns="0" tIns="0" rIns="0" bIns="0" rtlCol="0">
            <a:spAutoFit/>
          </a:bodyPr>
          <a:lstStyle/>
          <a:p>
            <a:r>
              <a:rPr lang="en-US" sz="900" b="1">
                <a:solidFill>
                  <a:srgbClr val="85A0B8"/>
                </a:solidFill>
                <a:latin typeface="Bahnschrift" panose="020B0502040204020203" pitchFamily="34" charset="0"/>
              </a:rPr>
              <a:t>SCHEMATIC</a:t>
            </a:r>
          </a:p>
        </p:txBody>
      </p:sp>
    </p:spTree>
    <p:extLst>
      <p:ext uri="{BB962C8B-B14F-4D97-AF65-F5344CB8AC3E}">
        <p14:creationId xmlns:p14="http://schemas.microsoft.com/office/powerpoint/2010/main" val="5879682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2894C9-84A0-4A21-A118-F4418C43E11B}"/>
              </a:ext>
            </a:extLst>
          </p:cNvPr>
          <p:cNvSpPr/>
          <p:nvPr/>
        </p:nvSpPr>
        <p:spPr>
          <a:xfrm>
            <a:off x="0" y="0"/>
            <a:ext cx="12192000" cy="6858000"/>
          </a:xfrm>
          <a:prstGeom prst="rect">
            <a:avLst/>
          </a:prstGeom>
          <a:solidFill>
            <a:srgbClr val="08122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A3ADC73B-33B4-4813-AF43-64CABC3C2503}"/>
              </a:ext>
            </a:extLst>
          </p:cNvPr>
          <p:cNvSpPr txBox="1"/>
          <p:nvPr/>
        </p:nvSpPr>
        <p:spPr>
          <a:xfrm>
            <a:off x="685800" y="368300"/>
            <a:ext cx="10795000" cy="430887"/>
          </a:xfrm>
          <a:prstGeom prst="rect">
            <a:avLst/>
          </a:prstGeom>
          <a:noFill/>
        </p:spPr>
        <p:txBody>
          <a:bodyPr vert="horz" wrap="square" lIns="0" tIns="0" rIns="0" bIns="0" rtlCol="0">
            <a:spAutoFit/>
          </a:bodyPr>
          <a:lstStyle/>
          <a:p>
            <a:r>
              <a:rPr lang="en-US" sz="2800" b="1">
                <a:solidFill>
                  <a:srgbClr val="EEF6FF"/>
                </a:solidFill>
                <a:latin typeface="Bahnschrift" panose="020B0502040204020203" pitchFamily="34" charset="0"/>
              </a:rPr>
              <a:t>Distortion: reshaping the peaks</a:t>
            </a:r>
          </a:p>
        </p:txBody>
      </p:sp>
      <p:cxnSp>
        <p:nvCxnSpPr>
          <p:cNvPr id="4" name="Straight Connector 3">
            <a:extLst>
              <a:ext uri="{FF2B5EF4-FFF2-40B4-BE49-F238E27FC236}">
                <a16:creationId xmlns:a16="http://schemas.microsoft.com/office/drawing/2014/main" id="{98218E7A-BDB0-43DE-B17A-BD0BED9F5092}"/>
              </a:ext>
            </a:extLst>
          </p:cNvPr>
          <p:cNvCxnSpPr/>
          <p:nvPr/>
        </p:nvCxnSpPr>
        <p:spPr>
          <a:xfrm>
            <a:off x="685800" y="1168400"/>
            <a:ext cx="10820400" cy="0"/>
          </a:xfrm>
          <a:prstGeom prst="line">
            <a:avLst/>
          </a:prstGeom>
          <a:ln w="17780">
            <a:solidFill>
              <a:srgbClr val="37D9E9"/>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1BA0986B-7D24-4BF2-9A46-E7A3A799E4B1}"/>
              </a:ext>
            </a:extLst>
          </p:cNvPr>
          <p:cNvSpPr txBox="1"/>
          <p:nvPr/>
        </p:nvSpPr>
        <p:spPr>
          <a:xfrm>
            <a:off x="685800" y="6502400"/>
            <a:ext cx="3810000" cy="153888"/>
          </a:xfrm>
          <a:prstGeom prst="rect">
            <a:avLst/>
          </a:prstGeom>
          <a:noFill/>
        </p:spPr>
        <p:txBody>
          <a:bodyPr vert="horz" wrap="square" lIns="0" tIns="0" rIns="0" bIns="0" rtlCol="0">
            <a:spAutoFit/>
          </a:bodyPr>
          <a:lstStyle/>
          <a:p>
            <a:r>
              <a:rPr lang="en-US" sz="1000" b="1">
                <a:solidFill>
                  <a:srgbClr val="85A0B8"/>
                </a:solidFill>
                <a:latin typeface="Aptos"/>
              </a:rPr>
              <a:t>SIGNAL STUDIO</a:t>
            </a:r>
          </a:p>
        </p:txBody>
      </p:sp>
      <p:sp>
        <p:nvSpPr>
          <p:cNvPr id="6" name="TextBox 5">
            <a:extLst>
              <a:ext uri="{FF2B5EF4-FFF2-40B4-BE49-F238E27FC236}">
                <a16:creationId xmlns:a16="http://schemas.microsoft.com/office/drawing/2014/main" id="{437D206C-41B9-4B28-966C-09180326BEA2}"/>
              </a:ext>
            </a:extLst>
          </p:cNvPr>
          <p:cNvSpPr txBox="1"/>
          <p:nvPr/>
        </p:nvSpPr>
        <p:spPr>
          <a:xfrm>
            <a:off x="11430000" y="6502400"/>
            <a:ext cx="444500" cy="153888"/>
          </a:xfrm>
          <a:prstGeom prst="rect">
            <a:avLst/>
          </a:prstGeom>
          <a:noFill/>
        </p:spPr>
        <p:txBody>
          <a:bodyPr vert="horz" wrap="square" lIns="0" tIns="0" rIns="0" bIns="0" rtlCol="0">
            <a:spAutoFit/>
          </a:bodyPr>
          <a:lstStyle/>
          <a:p>
            <a:pPr algn="r"/>
            <a:r>
              <a:rPr lang="en-US" sz="1000" b="1">
                <a:solidFill>
                  <a:srgbClr val="37D9E9"/>
                </a:solidFill>
                <a:latin typeface="Bahnschrift" panose="020B0502040204020203" pitchFamily="34" charset="0"/>
              </a:rPr>
              <a:t>11</a:t>
            </a:r>
          </a:p>
        </p:txBody>
      </p:sp>
      <p:sp>
        <p:nvSpPr>
          <p:cNvPr id="22" name="TextBox 21">
            <a:extLst>
              <a:ext uri="{FF2B5EF4-FFF2-40B4-BE49-F238E27FC236}">
                <a16:creationId xmlns:a16="http://schemas.microsoft.com/office/drawing/2014/main" id="{D13E3EB5-6713-4962-93DC-51480F9C1FE5}"/>
              </a:ext>
            </a:extLst>
          </p:cNvPr>
          <p:cNvSpPr txBox="1"/>
          <p:nvPr/>
        </p:nvSpPr>
        <p:spPr>
          <a:xfrm>
            <a:off x="889000" y="1549400"/>
            <a:ext cx="7620000" cy="230832"/>
          </a:xfrm>
          <a:prstGeom prst="rect">
            <a:avLst/>
          </a:prstGeom>
          <a:noFill/>
        </p:spPr>
        <p:txBody>
          <a:bodyPr vert="horz" wrap="square" lIns="0" tIns="0" rIns="0" bIns="0" rtlCol="0">
            <a:spAutoFit/>
          </a:bodyPr>
          <a:lstStyle/>
          <a:p>
            <a:r>
              <a:rPr lang="en-US" sz="1500" b="1">
                <a:solidFill>
                  <a:srgbClr val="37D9E9"/>
                </a:solidFill>
                <a:latin typeface="Bahnschrift" panose="020B0502040204020203" pitchFamily="34" charset="0"/>
              </a:rPr>
              <a:t>COMPARE THE WAVE SHAPES</a:t>
            </a:r>
          </a:p>
        </p:txBody>
      </p:sp>
      <p:sp>
        <p:nvSpPr>
          <p:cNvPr id="23" name="Rectangle 22">
            <a:extLst>
              <a:ext uri="{FF2B5EF4-FFF2-40B4-BE49-F238E27FC236}">
                <a16:creationId xmlns:a16="http://schemas.microsoft.com/office/drawing/2014/main" id="{596B11B3-F3EF-42E9-AD57-A4DBD1C0C4C6}"/>
              </a:ext>
            </a:extLst>
          </p:cNvPr>
          <p:cNvSpPr/>
          <p:nvPr/>
        </p:nvSpPr>
        <p:spPr>
          <a:xfrm>
            <a:off x="863600" y="2006600"/>
            <a:ext cx="10464800" cy="2260600"/>
          </a:xfrm>
          <a:prstGeom prst="rect">
            <a:avLst/>
          </a:prstGeom>
          <a:solidFill>
            <a:srgbClr val="0F2235"/>
          </a:solidFill>
          <a:ln w="10160">
            <a:solidFill>
              <a:srgbClr val="264B6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F630B59D-38F1-4A5C-A86F-01A015CD36E3}"/>
              </a:ext>
            </a:extLst>
          </p:cNvPr>
          <p:cNvSpPr txBox="1"/>
          <p:nvPr/>
        </p:nvSpPr>
        <p:spPr>
          <a:xfrm>
            <a:off x="1066800" y="2349500"/>
            <a:ext cx="1524000" cy="215444"/>
          </a:xfrm>
          <a:prstGeom prst="rect">
            <a:avLst/>
          </a:prstGeom>
          <a:noFill/>
        </p:spPr>
        <p:txBody>
          <a:bodyPr vert="horz" wrap="square" lIns="0" tIns="0" rIns="0" bIns="0" rtlCol="0">
            <a:spAutoFit/>
          </a:bodyPr>
          <a:lstStyle/>
          <a:p>
            <a:r>
              <a:rPr lang="en-US" sz="1400">
                <a:solidFill>
                  <a:srgbClr val="85A0B8"/>
                </a:solidFill>
                <a:latin typeface="Aptos"/>
              </a:rPr>
              <a:t>smooth input</a:t>
            </a:r>
          </a:p>
        </p:txBody>
      </p:sp>
      <p:sp>
        <p:nvSpPr>
          <p:cNvPr id="25" name="TextBox 24">
            <a:extLst>
              <a:ext uri="{FF2B5EF4-FFF2-40B4-BE49-F238E27FC236}">
                <a16:creationId xmlns:a16="http://schemas.microsoft.com/office/drawing/2014/main" id="{27270F15-7097-4977-B2C6-ECBB84E526EF}"/>
              </a:ext>
            </a:extLst>
          </p:cNvPr>
          <p:cNvSpPr txBox="1"/>
          <p:nvPr/>
        </p:nvSpPr>
        <p:spPr>
          <a:xfrm>
            <a:off x="1066800" y="3403600"/>
            <a:ext cx="1778000" cy="215444"/>
          </a:xfrm>
          <a:prstGeom prst="rect">
            <a:avLst/>
          </a:prstGeom>
          <a:noFill/>
        </p:spPr>
        <p:txBody>
          <a:bodyPr vert="horz" wrap="square" lIns="0" tIns="0" rIns="0" bIns="0" rtlCol="0">
            <a:spAutoFit/>
          </a:bodyPr>
          <a:lstStyle/>
          <a:p>
            <a:r>
              <a:rPr lang="en-US" sz="1400">
                <a:solidFill>
                  <a:srgbClr val="85A0B8"/>
                </a:solidFill>
                <a:latin typeface="Aptos"/>
              </a:rPr>
              <a:t>saturated output</a:t>
            </a:r>
          </a:p>
        </p:txBody>
      </p:sp>
      <p:cxnSp>
        <p:nvCxnSpPr>
          <p:cNvPr id="26" name="Straight Connector 25">
            <a:extLst>
              <a:ext uri="{FF2B5EF4-FFF2-40B4-BE49-F238E27FC236}">
                <a16:creationId xmlns:a16="http://schemas.microsoft.com/office/drawing/2014/main" id="{9FFA2899-0541-401D-A926-C71B32184A1E}"/>
              </a:ext>
            </a:extLst>
          </p:cNvPr>
          <p:cNvCxnSpPr/>
          <p:nvPr/>
        </p:nvCxnSpPr>
        <p:spPr>
          <a:xfrm>
            <a:off x="2921000" y="2768600"/>
            <a:ext cx="7874000" cy="0"/>
          </a:xfrm>
          <a:prstGeom prst="line">
            <a:avLst/>
          </a:prstGeom>
          <a:ln w="12700">
            <a:solidFill>
              <a:srgbClr val="264B63"/>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1B474570-1B6F-4AD5-84FA-6896C83CC4D8}"/>
              </a:ext>
            </a:extLst>
          </p:cNvPr>
          <p:cNvCxnSpPr/>
          <p:nvPr/>
        </p:nvCxnSpPr>
        <p:spPr>
          <a:xfrm>
            <a:off x="2921000" y="3721100"/>
            <a:ext cx="7874000" cy="0"/>
          </a:xfrm>
          <a:prstGeom prst="line">
            <a:avLst/>
          </a:prstGeom>
          <a:ln w="12700">
            <a:solidFill>
              <a:srgbClr val="264B63"/>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4D16D06D-612A-4FE0-A139-E61C6499FAD5}"/>
              </a:ext>
            </a:extLst>
          </p:cNvPr>
          <p:cNvCxnSpPr/>
          <p:nvPr/>
        </p:nvCxnSpPr>
        <p:spPr>
          <a:xfrm flipV="1">
            <a:off x="2921000" y="2663736"/>
            <a:ext cx="70304" cy="104864"/>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B2C39A59-8695-41E1-B165-F4D01866945A}"/>
              </a:ext>
            </a:extLst>
          </p:cNvPr>
          <p:cNvCxnSpPr/>
          <p:nvPr/>
        </p:nvCxnSpPr>
        <p:spPr>
          <a:xfrm flipV="1">
            <a:off x="2991304" y="2570642"/>
            <a:ext cx="70303" cy="93094"/>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A8236660-BE2A-4344-804B-A6137E392EA1}"/>
              </a:ext>
            </a:extLst>
          </p:cNvPr>
          <p:cNvCxnSpPr/>
          <p:nvPr/>
        </p:nvCxnSpPr>
        <p:spPr>
          <a:xfrm flipV="1">
            <a:off x="3061607" y="2499765"/>
            <a:ext cx="70304" cy="70877"/>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48FCD3F2-4905-417D-B464-E6F5198CA1D4}"/>
              </a:ext>
            </a:extLst>
          </p:cNvPr>
          <p:cNvCxnSpPr/>
          <p:nvPr/>
        </p:nvCxnSpPr>
        <p:spPr>
          <a:xfrm flipV="1">
            <a:off x="3131911" y="2459060"/>
            <a:ext cx="70303" cy="40705"/>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C6E42260-9058-4643-9461-0C3F8D92D533}"/>
              </a:ext>
            </a:extLst>
          </p:cNvPr>
          <p:cNvCxnSpPr/>
          <p:nvPr/>
        </p:nvCxnSpPr>
        <p:spPr>
          <a:xfrm flipV="1">
            <a:off x="3202214" y="2453096"/>
            <a:ext cx="70304" cy="5964"/>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D91AD3BA-11A7-473B-91F2-E3707CC6674A}"/>
              </a:ext>
            </a:extLst>
          </p:cNvPr>
          <p:cNvCxnSpPr/>
          <p:nvPr/>
        </p:nvCxnSpPr>
        <p:spPr>
          <a:xfrm>
            <a:off x="3272518" y="2453096"/>
            <a:ext cx="70304" cy="29446"/>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F5F14117-1E58-420E-8827-826507A9681D}"/>
              </a:ext>
            </a:extLst>
          </p:cNvPr>
          <p:cNvCxnSpPr/>
          <p:nvPr/>
        </p:nvCxnSpPr>
        <p:spPr>
          <a:xfrm>
            <a:off x="3342822" y="2482542"/>
            <a:ext cx="70303" cy="61552"/>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11EFDB58-78D3-43C4-B64B-2161E3573CE3}"/>
              </a:ext>
            </a:extLst>
          </p:cNvPr>
          <p:cNvCxnSpPr/>
          <p:nvPr/>
        </p:nvCxnSpPr>
        <p:spPr>
          <a:xfrm>
            <a:off x="3413125" y="2544094"/>
            <a:ext cx="70303" cy="86748"/>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9F6C64A9-3D12-43DC-9D3E-D2E0B3659828}"/>
              </a:ext>
            </a:extLst>
          </p:cNvPr>
          <p:cNvCxnSpPr/>
          <p:nvPr/>
        </p:nvCxnSpPr>
        <p:spPr>
          <a:xfrm>
            <a:off x="3483428" y="2630842"/>
            <a:ext cx="70304" cy="102209"/>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F152A027-7149-441A-A26C-4C7329AB22A9}"/>
              </a:ext>
            </a:extLst>
          </p:cNvPr>
          <p:cNvCxnSpPr/>
          <p:nvPr/>
        </p:nvCxnSpPr>
        <p:spPr>
          <a:xfrm>
            <a:off x="3553732" y="2733051"/>
            <a:ext cx="70304" cy="106199"/>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8870BE1E-D9A4-4918-87FC-2F4BC2BCE57A}"/>
              </a:ext>
            </a:extLst>
          </p:cNvPr>
          <p:cNvCxnSpPr/>
          <p:nvPr/>
        </p:nvCxnSpPr>
        <p:spPr>
          <a:xfrm>
            <a:off x="3624036" y="2839250"/>
            <a:ext cx="70303" cy="98270"/>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19C3FE7C-BB37-4149-A508-EFFB7FD2C065}"/>
              </a:ext>
            </a:extLst>
          </p:cNvPr>
          <p:cNvCxnSpPr/>
          <p:nvPr/>
        </p:nvCxnSpPr>
        <p:spPr>
          <a:xfrm>
            <a:off x="3694339" y="2937520"/>
            <a:ext cx="70304" cy="79312"/>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66447FD1-4F50-49F3-8946-D7A2F56A60DD}"/>
              </a:ext>
            </a:extLst>
          </p:cNvPr>
          <p:cNvCxnSpPr/>
          <p:nvPr/>
        </p:nvCxnSpPr>
        <p:spPr>
          <a:xfrm>
            <a:off x="3764643" y="3016832"/>
            <a:ext cx="70304" cy="51451"/>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CC2DF6CF-AA4F-4367-9C7F-CEA3F8C3F98D}"/>
              </a:ext>
            </a:extLst>
          </p:cNvPr>
          <p:cNvCxnSpPr/>
          <p:nvPr/>
        </p:nvCxnSpPr>
        <p:spPr>
          <a:xfrm>
            <a:off x="3834947" y="3068283"/>
            <a:ext cx="70303" cy="17817"/>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34100E22-8E65-4F82-9185-AD363FA157C3}"/>
              </a:ext>
            </a:extLst>
          </p:cNvPr>
          <p:cNvCxnSpPr/>
          <p:nvPr/>
        </p:nvCxnSpPr>
        <p:spPr>
          <a:xfrm flipV="1">
            <a:off x="3905250" y="3068283"/>
            <a:ext cx="70303" cy="17817"/>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FA28E479-2963-41A1-B159-3552FAF734B1}"/>
              </a:ext>
            </a:extLst>
          </p:cNvPr>
          <p:cNvCxnSpPr/>
          <p:nvPr/>
        </p:nvCxnSpPr>
        <p:spPr>
          <a:xfrm flipV="1">
            <a:off x="3975553" y="3016832"/>
            <a:ext cx="70304" cy="51451"/>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CB850AB0-2D76-4621-A532-3D5F020D7046}"/>
              </a:ext>
            </a:extLst>
          </p:cNvPr>
          <p:cNvCxnSpPr/>
          <p:nvPr/>
        </p:nvCxnSpPr>
        <p:spPr>
          <a:xfrm flipV="1">
            <a:off x="4045857" y="2937520"/>
            <a:ext cx="70304" cy="79312"/>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42B8E97C-5B53-471C-8945-99C2C1B7C4DE}"/>
              </a:ext>
            </a:extLst>
          </p:cNvPr>
          <p:cNvCxnSpPr/>
          <p:nvPr/>
        </p:nvCxnSpPr>
        <p:spPr>
          <a:xfrm flipV="1">
            <a:off x="4116161" y="2839250"/>
            <a:ext cx="70303" cy="98270"/>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831E308E-D8C2-4E65-AE92-50CFC88ED512}"/>
              </a:ext>
            </a:extLst>
          </p:cNvPr>
          <p:cNvCxnSpPr/>
          <p:nvPr/>
        </p:nvCxnSpPr>
        <p:spPr>
          <a:xfrm flipV="1">
            <a:off x="4186464" y="2733051"/>
            <a:ext cx="70304" cy="106199"/>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90E0953D-189A-4AF9-814B-ECB5628F28FC}"/>
              </a:ext>
            </a:extLst>
          </p:cNvPr>
          <p:cNvCxnSpPr/>
          <p:nvPr/>
        </p:nvCxnSpPr>
        <p:spPr>
          <a:xfrm flipV="1">
            <a:off x="4256768" y="2630842"/>
            <a:ext cx="70304" cy="102209"/>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A404D596-6178-4ABC-A27A-A1E03EC91DB3}"/>
              </a:ext>
            </a:extLst>
          </p:cNvPr>
          <p:cNvCxnSpPr/>
          <p:nvPr/>
        </p:nvCxnSpPr>
        <p:spPr>
          <a:xfrm flipV="1">
            <a:off x="4327072" y="2544094"/>
            <a:ext cx="70303" cy="86748"/>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8727F505-C806-4F58-8206-476554F4A922}"/>
              </a:ext>
            </a:extLst>
          </p:cNvPr>
          <p:cNvCxnSpPr/>
          <p:nvPr/>
        </p:nvCxnSpPr>
        <p:spPr>
          <a:xfrm flipV="1">
            <a:off x="4397375" y="2482542"/>
            <a:ext cx="70303" cy="61552"/>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BE90112A-DBB5-4701-98D2-966A77BC4A05}"/>
              </a:ext>
            </a:extLst>
          </p:cNvPr>
          <p:cNvCxnSpPr/>
          <p:nvPr/>
        </p:nvCxnSpPr>
        <p:spPr>
          <a:xfrm flipV="1">
            <a:off x="4467678" y="2453096"/>
            <a:ext cx="70304" cy="29446"/>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5DCFD199-3464-4F77-B348-1753CE5BBDEA}"/>
              </a:ext>
            </a:extLst>
          </p:cNvPr>
          <p:cNvCxnSpPr/>
          <p:nvPr/>
        </p:nvCxnSpPr>
        <p:spPr>
          <a:xfrm>
            <a:off x="4537982" y="2453096"/>
            <a:ext cx="70304" cy="5964"/>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F3F57408-702B-4B02-8198-32778C4F1D01}"/>
              </a:ext>
            </a:extLst>
          </p:cNvPr>
          <p:cNvCxnSpPr/>
          <p:nvPr/>
        </p:nvCxnSpPr>
        <p:spPr>
          <a:xfrm>
            <a:off x="4608286" y="2459060"/>
            <a:ext cx="70303" cy="40705"/>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E72C1953-607F-4E8F-AAE9-D42E22595E34}"/>
              </a:ext>
            </a:extLst>
          </p:cNvPr>
          <p:cNvCxnSpPr/>
          <p:nvPr/>
        </p:nvCxnSpPr>
        <p:spPr>
          <a:xfrm>
            <a:off x="4678589" y="2499765"/>
            <a:ext cx="70304" cy="70877"/>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19153C9B-8729-402C-9AB2-05CEF15C104B}"/>
              </a:ext>
            </a:extLst>
          </p:cNvPr>
          <p:cNvCxnSpPr/>
          <p:nvPr/>
        </p:nvCxnSpPr>
        <p:spPr>
          <a:xfrm>
            <a:off x="4748893" y="2570642"/>
            <a:ext cx="70304" cy="93094"/>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7F062161-DDC8-418A-8443-09E16E3744FB}"/>
              </a:ext>
            </a:extLst>
          </p:cNvPr>
          <p:cNvCxnSpPr/>
          <p:nvPr/>
        </p:nvCxnSpPr>
        <p:spPr>
          <a:xfrm>
            <a:off x="4819197" y="2663736"/>
            <a:ext cx="70303" cy="104864"/>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DD4FAD9F-95ED-43EC-A340-F28A9E003D45}"/>
              </a:ext>
            </a:extLst>
          </p:cNvPr>
          <p:cNvCxnSpPr/>
          <p:nvPr/>
        </p:nvCxnSpPr>
        <p:spPr>
          <a:xfrm>
            <a:off x="4889500" y="2768600"/>
            <a:ext cx="70303" cy="104864"/>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16318F2C-E01D-4A75-AC04-153314535CBA}"/>
              </a:ext>
            </a:extLst>
          </p:cNvPr>
          <p:cNvCxnSpPr/>
          <p:nvPr/>
        </p:nvCxnSpPr>
        <p:spPr>
          <a:xfrm>
            <a:off x="4959803" y="2873464"/>
            <a:ext cx="70304" cy="93094"/>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844EBF16-34C3-43E9-B550-6F9540F48A69}"/>
              </a:ext>
            </a:extLst>
          </p:cNvPr>
          <p:cNvCxnSpPr/>
          <p:nvPr/>
        </p:nvCxnSpPr>
        <p:spPr>
          <a:xfrm>
            <a:off x="5030107" y="2966558"/>
            <a:ext cx="70304" cy="70877"/>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2FBF7D57-8580-421D-A4FB-AAE9D342521B}"/>
              </a:ext>
            </a:extLst>
          </p:cNvPr>
          <p:cNvCxnSpPr/>
          <p:nvPr/>
        </p:nvCxnSpPr>
        <p:spPr>
          <a:xfrm>
            <a:off x="5100411" y="3037435"/>
            <a:ext cx="70303" cy="40705"/>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7E4F2A6E-880E-4E8B-94B8-C16B2B5FA47D}"/>
              </a:ext>
            </a:extLst>
          </p:cNvPr>
          <p:cNvCxnSpPr/>
          <p:nvPr/>
        </p:nvCxnSpPr>
        <p:spPr>
          <a:xfrm>
            <a:off x="5170714" y="3078140"/>
            <a:ext cx="70304" cy="5964"/>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10F78289-FAD4-4937-8AA4-D8A6BF4DDF2A}"/>
              </a:ext>
            </a:extLst>
          </p:cNvPr>
          <p:cNvCxnSpPr/>
          <p:nvPr/>
        </p:nvCxnSpPr>
        <p:spPr>
          <a:xfrm flipV="1">
            <a:off x="5241018" y="3054658"/>
            <a:ext cx="70304" cy="29446"/>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F3B45CA0-B9E7-47BA-8EB8-4C528952A642}"/>
              </a:ext>
            </a:extLst>
          </p:cNvPr>
          <p:cNvCxnSpPr/>
          <p:nvPr/>
        </p:nvCxnSpPr>
        <p:spPr>
          <a:xfrm flipV="1">
            <a:off x="5311322" y="2993106"/>
            <a:ext cx="70303" cy="61552"/>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DBB9AD4D-14FB-4F6C-AAB7-A309648FF31F}"/>
              </a:ext>
            </a:extLst>
          </p:cNvPr>
          <p:cNvCxnSpPr/>
          <p:nvPr/>
        </p:nvCxnSpPr>
        <p:spPr>
          <a:xfrm flipV="1">
            <a:off x="5381625" y="2906358"/>
            <a:ext cx="70303" cy="86748"/>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015F9467-B7A5-4262-A955-273EF4EB1D2C}"/>
              </a:ext>
            </a:extLst>
          </p:cNvPr>
          <p:cNvCxnSpPr/>
          <p:nvPr/>
        </p:nvCxnSpPr>
        <p:spPr>
          <a:xfrm flipV="1">
            <a:off x="5451928" y="2804149"/>
            <a:ext cx="70304" cy="102209"/>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03787448-2662-4C1F-95D8-1F3312043CAC}"/>
              </a:ext>
            </a:extLst>
          </p:cNvPr>
          <p:cNvCxnSpPr/>
          <p:nvPr/>
        </p:nvCxnSpPr>
        <p:spPr>
          <a:xfrm flipV="1">
            <a:off x="5522232" y="2697950"/>
            <a:ext cx="70304" cy="106199"/>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BE819340-EBA2-4461-AFE8-2246170974D0}"/>
              </a:ext>
            </a:extLst>
          </p:cNvPr>
          <p:cNvCxnSpPr/>
          <p:nvPr/>
        </p:nvCxnSpPr>
        <p:spPr>
          <a:xfrm flipV="1">
            <a:off x="5592536" y="2599680"/>
            <a:ext cx="70303" cy="98270"/>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74930959-DBFD-47C3-BC2C-1093595A5958}"/>
              </a:ext>
            </a:extLst>
          </p:cNvPr>
          <p:cNvCxnSpPr/>
          <p:nvPr/>
        </p:nvCxnSpPr>
        <p:spPr>
          <a:xfrm flipV="1">
            <a:off x="5662839" y="2520368"/>
            <a:ext cx="70304" cy="79312"/>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073CAB1A-3AEF-4390-8C41-A188D34D11A1}"/>
              </a:ext>
            </a:extLst>
          </p:cNvPr>
          <p:cNvCxnSpPr/>
          <p:nvPr/>
        </p:nvCxnSpPr>
        <p:spPr>
          <a:xfrm flipV="1">
            <a:off x="5733143" y="2468917"/>
            <a:ext cx="70304" cy="51451"/>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78F05822-FB60-4622-8C33-FB94BF533862}"/>
              </a:ext>
            </a:extLst>
          </p:cNvPr>
          <p:cNvCxnSpPr/>
          <p:nvPr/>
        </p:nvCxnSpPr>
        <p:spPr>
          <a:xfrm flipV="1">
            <a:off x="5803447" y="2451100"/>
            <a:ext cx="70303" cy="17817"/>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317223B4-CB91-48FE-9225-9FDF5395ED55}"/>
              </a:ext>
            </a:extLst>
          </p:cNvPr>
          <p:cNvCxnSpPr/>
          <p:nvPr/>
        </p:nvCxnSpPr>
        <p:spPr>
          <a:xfrm>
            <a:off x="5873750" y="2451100"/>
            <a:ext cx="70303" cy="17817"/>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1008F486-FAA5-4597-B337-01F2D36745F5}"/>
              </a:ext>
            </a:extLst>
          </p:cNvPr>
          <p:cNvCxnSpPr/>
          <p:nvPr/>
        </p:nvCxnSpPr>
        <p:spPr>
          <a:xfrm>
            <a:off x="5944053" y="2468917"/>
            <a:ext cx="70304" cy="51451"/>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497B4402-877D-4AC0-960A-B42E9BAC3708}"/>
              </a:ext>
            </a:extLst>
          </p:cNvPr>
          <p:cNvCxnSpPr/>
          <p:nvPr/>
        </p:nvCxnSpPr>
        <p:spPr>
          <a:xfrm>
            <a:off x="6014357" y="2520368"/>
            <a:ext cx="70304" cy="79312"/>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1583D7B5-46BD-4D80-B2E6-E92AABC2F5DF}"/>
              </a:ext>
            </a:extLst>
          </p:cNvPr>
          <p:cNvCxnSpPr/>
          <p:nvPr/>
        </p:nvCxnSpPr>
        <p:spPr>
          <a:xfrm>
            <a:off x="6084661" y="2599680"/>
            <a:ext cx="70303" cy="98270"/>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6BF8145D-B603-4213-BA5D-22C4CDC2861C}"/>
              </a:ext>
            </a:extLst>
          </p:cNvPr>
          <p:cNvCxnSpPr/>
          <p:nvPr/>
        </p:nvCxnSpPr>
        <p:spPr>
          <a:xfrm>
            <a:off x="6154964" y="2697950"/>
            <a:ext cx="70304" cy="106199"/>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FDF7F9EB-CAC1-4397-95BD-6351147860F3}"/>
              </a:ext>
            </a:extLst>
          </p:cNvPr>
          <p:cNvCxnSpPr/>
          <p:nvPr/>
        </p:nvCxnSpPr>
        <p:spPr>
          <a:xfrm>
            <a:off x="6225268" y="2804149"/>
            <a:ext cx="70304" cy="102209"/>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26FAB34A-DE7F-4691-B6A4-03D6A3F1D452}"/>
              </a:ext>
            </a:extLst>
          </p:cNvPr>
          <p:cNvCxnSpPr/>
          <p:nvPr/>
        </p:nvCxnSpPr>
        <p:spPr>
          <a:xfrm>
            <a:off x="6295572" y="2906358"/>
            <a:ext cx="70303" cy="86748"/>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D7DCC1A5-F651-44BE-98B2-7E54F441FFA6}"/>
              </a:ext>
            </a:extLst>
          </p:cNvPr>
          <p:cNvCxnSpPr/>
          <p:nvPr/>
        </p:nvCxnSpPr>
        <p:spPr>
          <a:xfrm>
            <a:off x="6365875" y="2993106"/>
            <a:ext cx="70303" cy="61552"/>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33B1410B-D22C-4E4B-8A48-D77B94613895}"/>
              </a:ext>
            </a:extLst>
          </p:cNvPr>
          <p:cNvCxnSpPr/>
          <p:nvPr/>
        </p:nvCxnSpPr>
        <p:spPr>
          <a:xfrm>
            <a:off x="6436178" y="3054658"/>
            <a:ext cx="70304" cy="29446"/>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50748EAC-118B-4178-9814-DA121ADFB6E1}"/>
              </a:ext>
            </a:extLst>
          </p:cNvPr>
          <p:cNvCxnSpPr/>
          <p:nvPr/>
        </p:nvCxnSpPr>
        <p:spPr>
          <a:xfrm flipV="1">
            <a:off x="6506482" y="3078140"/>
            <a:ext cx="70303" cy="5964"/>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4BEA726E-698F-4C34-B07E-7F30C8E86C26}"/>
              </a:ext>
            </a:extLst>
          </p:cNvPr>
          <p:cNvCxnSpPr/>
          <p:nvPr/>
        </p:nvCxnSpPr>
        <p:spPr>
          <a:xfrm flipV="1">
            <a:off x="6576785" y="3037435"/>
            <a:ext cx="70305" cy="40705"/>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655EC000-F656-49FA-BB7F-922310CD13D5}"/>
              </a:ext>
            </a:extLst>
          </p:cNvPr>
          <p:cNvCxnSpPr/>
          <p:nvPr/>
        </p:nvCxnSpPr>
        <p:spPr>
          <a:xfrm flipV="1">
            <a:off x="6647090" y="2966558"/>
            <a:ext cx="70303" cy="70877"/>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7A3BBC45-A2A7-41CE-BB1B-71CD54BEABC4}"/>
              </a:ext>
            </a:extLst>
          </p:cNvPr>
          <p:cNvCxnSpPr/>
          <p:nvPr/>
        </p:nvCxnSpPr>
        <p:spPr>
          <a:xfrm flipV="1">
            <a:off x="6717393" y="2873464"/>
            <a:ext cx="70304" cy="93094"/>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293A6956-F37A-4D00-959A-55C6D52F4125}"/>
              </a:ext>
            </a:extLst>
          </p:cNvPr>
          <p:cNvCxnSpPr/>
          <p:nvPr/>
        </p:nvCxnSpPr>
        <p:spPr>
          <a:xfrm flipV="1">
            <a:off x="6787697" y="2768600"/>
            <a:ext cx="70303" cy="104864"/>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D6C7F5DB-8ABE-41E5-B734-47E368769699}"/>
              </a:ext>
            </a:extLst>
          </p:cNvPr>
          <p:cNvCxnSpPr/>
          <p:nvPr/>
        </p:nvCxnSpPr>
        <p:spPr>
          <a:xfrm flipV="1">
            <a:off x="6858000" y="2663736"/>
            <a:ext cx="70303" cy="104864"/>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AF10970A-C962-4870-A456-58C1F6F3C2D9}"/>
              </a:ext>
            </a:extLst>
          </p:cNvPr>
          <p:cNvCxnSpPr/>
          <p:nvPr/>
        </p:nvCxnSpPr>
        <p:spPr>
          <a:xfrm flipV="1">
            <a:off x="6928303" y="2570642"/>
            <a:ext cx="70304" cy="93094"/>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9AFCF62A-594F-4E43-9375-4FA47F883743}"/>
              </a:ext>
            </a:extLst>
          </p:cNvPr>
          <p:cNvCxnSpPr/>
          <p:nvPr/>
        </p:nvCxnSpPr>
        <p:spPr>
          <a:xfrm flipV="1">
            <a:off x="6998607" y="2499765"/>
            <a:ext cx="70303" cy="70877"/>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0D137369-5066-4E8A-B859-1690607FDC4F}"/>
              </a:ext>
            </a:extLst>
          </p:cNvPr>
          <p:cNvCxnSpPr/>
          <p:nvPr/>
        </p:nvCxnSpPr>
        <p:spPr>
          <a:xfrm flipV="1">
            <a:off x="7068910" y="2459060"/>
            <a:ext cx="70305" cy="40705"/>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C146962A-DE85-4297-AB5A-DE65231F8B5E}"/>
              </a:ext>
            </a:extLst>
          </p:cNvPr>
          <p:cNvCxnSpPr/>
          <p:nvPr/>
        </p:nvCxnSpPr>
        <p:spPr>
          <a:xfrm flipV="1">
            <a:off x="7139215" y="2453096"/>
            <a:ext cx="70303" cy="5964"/>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21E546A0-055B-4841-94ED-01ABB96542DE}"/>
              </a:ext>
            </a:extLst>
          </p:cNvPr>
          <p:cNvCxnSpPr/>
          <p:nvPr/>
        </p:nvCxnSpPr>
        <p:spPr>
          <a:xfrm>
            <a:off x="7209518" y="2453096"/>
            <a:ext cx="70304" cy="29446"/>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596F8AEC-678B-4856-9338-38675E17A742}"/>
              </a:ext>
            </a:extLst>
          </p:cNvPr>
          <p:cNvCxnSpPr/>
          <p:nvPr/>
        </p:nvCxnSpPr>
        <p:spPr>
          <a:xfrm>
            <a:off x="7279822" y="2482542"/>
            <a:ext cx="70303" cy="61552"/>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C3ACD1CA-6817-47C6-A4E0-9ADD54AD5097}"/>
              </a:ext>
            </a:extLst>
          </p:cNvPr>
          <p:cNvCxnSpPr/>
          <p:nvPr/>
        </p:nvCxnSpPr>
        <p:spPr>
          <a:xfrm>
            <a:off x="7350125" y="2544094"/>
            <a:ext cx="70303" cy="86748"/>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0DE5994E-0CEA-4AEC-A09F-CC66CEEEC4E4}"/>
              </a:ext>
            </a:extLst>
          </p:cNvPr>
          <p:cNvCxnSpPr/>
          <p:nvPr/>
        </p:nvCxnSpPr>
        <p:spPr>
          <a:xfrm>
            <a:off x="7420428" y="2630842"/>
            <a:ext cx="70304" cy="102209"/>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74ED4A14-96B3-454C-9159-D64ABA86BE22}"/>
              </a:ext>
            </a:extLst>
          </p:cNvPr>
          <p:cNvCxnSpPr/>
          <p:nvPr/>
        </p:nvCxnSpPr>
        <p:spPr>
          <a:xfrm>
            <a:off x="7490732" y="2733051"/>
            <a:ext cx="70303" cy="106199"/>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E63F9FB0-2BAB-4904-82F3-D2B45DE682A4}"/>
              </a:ext>
            </a:extLst>
          </p:cNvPr>
          <p:cNvCxnSpPr/>
          <p:nvPr/>
        </p:nvCxnSpPr>
        <p:spPr>
          <a:xfrm>
            <a:off x="7561035" y="2839250"/>
            <a:ext cx="70305" cy="98270"/>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ACFF5DF4-2DB4-4D39-B315-8F9FB9A29C88}"/>
              </a:ext>
            </a:extLst>
          </p:cNvPr>
          <p:cNvCxnSpPr/>
          <p:nvPr/>
        </p:nvCxnSpPr>
        <p:spPr>
          <a:xfrm>
            <a:off x="7631340" y="2937520"/>
            <a:ext cx="70303" cy="79312"/>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7864AC90-F2CB-4B86-8829-D50710E00074}"/>
              </a:ext>
            </a:extLst>
          </p:cNvPr>
          <p:cNvCxnSpPr/>
          <p:nvPr/>
        </p:nvCxnSpPr>
        <p:spPr>
          <a:xfrm>
            <a:off x="7701643" y="3016832"/>
            <a:ext cx="70304" cy="51451"/>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1168DC21-48FD-4343-A3F3-FF4F2644A44D}"/>
              </a:ext>
            </a:extLst>
          </p:cNvPr>
          <p:cNvCxnSpPr/>
          <p:nvPr/>
        </p:nvCxnSpPr>
        <p:spPr>
          <a:xfrm>
            <a:off x="7771947" y="3068283"/>
            <a:ext cx="70303" cy="17817"/>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B85FFDFA-EB1E-4D58-A743-31F569C37CCE}"/>
              </a:ext>
            </a:extLst>
          </p:cNvPr>
          <p:cNvCxnSpPr/>
          <p:nvPr/>
        </p:nvCxnSpPr>
        <p:spPr>
          <a:xfrm flipV="1">
            <a:off x="7842250" y="3068283"/>
            <a:ext cx="70303" cy="17817"/>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40219D65-94C5-4631-A99A-1423968E8667}"/>
              </a:ext>
            </a:extLst>
          </p:cNvPr>
          <p:cNvCxnSpPr/>
          <p:nvPr/>
        </p:nvCxnSpPr>
        <p:spPr>
          <a:xfrm flipV="1">
            <a:off x="7912553" y="3016832"/>
            <a:ext cx="70304" cy="51451"/>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EC5F0179-E7EA-4F2A-A543-64FDF37A6F94}"/>
              </a:ext>
            </a:extLst>
          </p:cNvPr>
          <p:cNvCxnSpPr/>
          <p:nvPr/>
        </p:nvCxnSpPr>
        <p:spPr>
          <a:xfrm flipV="1">
            <a:off x="7982857" y="2937520"/>
            <a:ext cx="70303" cy="79312"/>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08A2776D-0881-44A0-A6D4-8D15147B43EB}"/>
              </a:ext>
            </a:extLst>
          </p:cNvPr>
          <p:cNvCxnSpPr/>
          <p:nvPr/>
        </p:nvCxnSpPr>
        <p:spPr>
          <a:xfrm flipV="1">
            <a:off x="8053160" y="2839250"/>
            <a:ext cx="70305" cy="98270"/>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C604EB24-6770-47C8-B666-3EB4D6EC48E0}"/>
              </a:ext>
            </a:extLst>
          </p:cNvPr>
          <p:cNvCxnSpPr/>
          <p:nvPr/>
        </p:nvCxnSpPr>
        <p:spPr>
          <a:xfrm flipV="1">
            <a:off x="8123465" y="2733051"/>
            <a:ext cx="70303" cy="106199"/>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03" name="Straight Connector 102">
            <a:extLst>
              <a:ext uri="{FF2B5EF4-FFF2-40B4-BE49-F238E27FC236}">
                <a16:creationId xmlns:a16="http://schemas.microsoft.com/office/drawing/2014/main" id="{84B06738-CAEA-4E26-9D2E-B7B2B070EE45}"/>
              </a:ext>
            </a:extLst>
          </p:cNvPr>
          <p:cNvCxnSpPr/>
          <p:nvPr/>
        </p:nvCxnSpPr>
        <p:spPr>
          <a:xfrm flipV="1">
            <a:off x="8193768" y="2630842"/>
            <a:ext cx="70304" cy="102209"/>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151A2CDB-09E7-43EC-8979-96D5CF91537F}"/>
              </a:ext>
            </a:extLst>
          </p:cNvPr>
          <p:cNvCxnSpPr/>
          <p:nvPr/>
        </p:nvCxnSpPr>
        <p:spPr>
          <a:xfrm flipV="1">
            <a:off x="8264072" y="2544094"/>
            <a:ext cx="70303" cy="86748"/>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0335024C-B665-4185-A769-314AA8A45278}"/>
              </a:ext>
            </a:extLst>
          </p:cNvPr>
          <p:cNvCxnSpPr/>
          <p:nvPr/>
        </p:nvCxnSpPr>
        <p:spPr>
          <a:xfrm flipV="1">
            <a:off x="8334375" y="2482542"/>
            <a:ext cx="70303" cy="61552"/>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06" name="Straight Connector 105">
            <a:extLst>
              <a:ext uri="{FF2B5EF4-FFF2-40B4-BE49-F238E27FC236}">
                <a16:creationId xmlns:a16="http://schemas.microsoft.com/office/drawing/2014/main" id="{D7C7B3FD-086C-4DBE-9CE9-0FF2CD042109}"/>
              </a:ext>
            </a:extLst>
          </p:cNvPr>
          <p:cNvCxnSpPr/>
          <p:nvPr/>
        </p:nvCxnSpPr>
        <p:spPr>
          <a:xfrm flipV="1">
            <a:off x="8404678" y="2453096"/>
            <a:ext cx="70304" cy="29446"/>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E1DEAEF9-6F1C-4C7C-9FC9-6476D3CDF0B5}"/>
              </a:ext>
            </a:extLst>
          </p:cNvPr>
          <p:cNvCxnSpPr/>
          <p:nvPr/>
        </p:nvCxnSpPr>
        <p:spPr>
          <a:xfrm>
            <a:off x="8474982" y="2453096"/>
            <a:ext cx="70303" cy="5964"/>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D767DF03-A77A-47FA-AFBD-97FF438729C1}"/>
              </a:ext>
            </a:extLst>
          </p:cNvPr>
          <p:cNvCxnSpPr/>
          <p:nvPr/>
        </p:nvCxnSpPr>
        <p:spPr>
          <a:xfrm>
            <a:off x="8545285" y="2459060"/>
            <a:ext cx="70305" cy="40705"/>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16B60837-22A8-4D5C-90FA-513F6834B4C3}"/>
              </a:ext>
            </a:extLst>
          </p:cNvPr>
          <p:cNvCxnSpPr/>
          <p:nvPr/>
        </p:nvCxnSpPr>
        <p:spPr>
          <a:xfrm>
            <a:off x="8615590" y="2499765"/>
            <a:ext cx="70303" cy="70877"/>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2DCB7218-17D6-4CBE-9303-5478D4441629}"/>
              </a:ext>
            </a:extLst>
          </p:cNvPr>
          <p:cNvCxnSpPr/>
          <p:nvPr/>
        </p:nvCxnSpPr>
        <p:spPr>
          <a:xfrm>
            <a:off x="8685893" y="2570642"/>
            <a:ext cx="70304" cy="93094"/>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0FD0DA78-3420-421C-8C65-E2597D1E88E2}"/>
              </a:ext>
            </a:extLst>
          </p:cNvPr>
          <p:cNvCxnSpPr/>
          <p:nvPr/>
        </p:nvCxnSpPr>
        <p:spPr>
          <a:xfrm>
            <a:off x="8756197" y="2663736"/>
            <a:ext cx="70303" cy="104864"/>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8DD494D1-A0C1-4B86-B3EF-9856F92AEC86}"/>
              </a:ext>
            </a:extLst>
          </p:cNvPr>
          <p:cNvCxnSpPr/>
          <p:nvPr/>
        </p:nvCxnSpPr>
        <p:spPr>
          <a:xfrm>
            <a:off x="8826500" y="2768600"/>
            <a:ext cx="70303" cy="104864"/>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FA9E9CB3-71AB-4941-8D43-93B1715FD3EC}"/>
              </a:ext>
            </a:extLst>
          </p:cNvPr>
          <p:cNvCxnSpPr/>
          <p:nvPr/>
        </p:nvCxnSpPr>
        <p:spPr>
          <a:xfrm>
            <a:off x="8896803" y="2873464"/>
            <a:ext cx="70304" cy="93094"/>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C8F5DDC3-8E48-43BC-AA18-ADDDCD5EFB86}"/>
              </a:ext>
            </a:extLst>
          </p:cNvPr>
          <p:cNvCxnSpPr/>
          <p:nvPr/>
        </p:nvCxnSpPr>
        <p:spPr>
          <a:xfrm>
            <a:off x="8967107" y="2966558"/>
            <a:ext cx="70303" cy="70877"/>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B9419E3C-7AA5-4AA8-B29E-6712CCF1C22B}"/>
              </a:ext>
            </a:extLst>
          </p:cNvPr>
          <p:cNvCxnSpPr/>
          <p:nvPr/>
        </p:nvCxnSpPr>
        <p:spPr>
          <a:xfrm>
            <a:off x="9037410" y="3037435"/>
            <a:ext cx="70305" cy="40705"/>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800D3504-9C29-4F63-A280-546FD648A868}"/>
              </a:ext>
            </a:extLst>
          </p:cNvPr>
          <p:cNvCxnSpPr/>
          <p:nvPr/>
        </p:nvCxnSpPr>
        <p:spPr>
          <a:xfrm>
            <a:off x="9107715" y="3078140"/>
            <a:ext cx="70303" cy="5964"/>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a16="http://schemas.microsoft.com/office/drawing/2014/main" id="{A0B9CC7A-2C3E-42CA-84F4-EDFC6DFBFE1D}"/>
              </a:ext>
            </a:extLst>
          </p:cNvPr>
          <p:cNvCxnSpPr/>
          <p:nvPr/>
        </p:nvCxnSpPr>
        <p:spPr>
          <a:xfrm flipV="1">
            <a:off x="9178018" y="3054658"/>
            <a:ext cx="70304" cy="29446"/>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18" name="Straight Connector 117">
            <a:extLst>
              <a:ext uri="{FF2B5EF4-FFF2-40B4-BE49-F238E27FC236}">
                <a16:creationId xmlns:a16="http://schemas.microsoft.com/office/drawing/2014/main" id="{77FDB19F-E744-474F-8328-78B699D85192}"/>
              </a:ext>
            </a:extLst>
          </p:cNvPr>
          <p:cNvCxnSpPr/>
          <p:nvPr/>
        </p:nvCxnSpPr>
        <p:spPr>
          <a:xfrm flipV="1">
            <a:off x="9248322" y="2993106"/>
            <a:ext cx="70303" cy="61552"/>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19" name="Straight Connector 118">
            <a:extLst>
              <a:ext uri="{FF2B5EF4-FFF2-40B4-BE49-F238E27FC236}">
                <a16:creationId xmlns:a16="http://schemas.microsoft.com/office/drawing/2014/main" id="{A6A80B26-ECAD-4081-B282-9667AD904994}"/>
              </a:ext>
            </a:extLst>
          </p:cNvPr>
          <p:cNvCxnSpPr/>
          <p:nvPr/>
        </p:nvCxnSpPr>
        <p:spPr>
          <a:xfrm flipV="1">
            <a:off x="9318625" y="2906358"/>
            <a:ext cx="70303" cy="86748"/>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8648296B-30BC-45B4-9B98-83FAF35E5657}"/>
              </a:ext>
            </a:extLst>
          </p:cNvPr>
          <p:cNvCxnSpPr/>
          <p:nvPr/>
        </p:nvCxnSpPr>
        <p:spPr>
          <a:xfrm flipV="1">
            <a:off x="9388928" y="2804149"/>
            <a:ext cx="70304" cy="102209"/>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DC233E28-39E1-4F7B-8873-0BC8D9A71228}"/>
              </a:ext>
            </a:extLst>
          </p:cNvPr>
          <p:cNvCxnSpPr/>
          <p:nvPr/>
        </p:nvCxnSpPr>
        <p:spPr>
          <a:xfrm flipV="1">
            <a:off x="9459232" y="2697950"/>
            <a:ext cx="70303" cy="106199"/>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2A6DBA6A-3C94-45C6-A06E-8A87D92092AF}"/>
              </a:ext>
            </a:extLst>
          </p:cNvPr>
          <p:cNvCxnSpPr/>
          <p:nvPr/>
        </p:nvCxnSpPr>
        <p:spPr>
          <a:xfrm flipV="1">
            <a:off x="9529535" y="2599680"/>
            <a:ext cx="70305" cy="98270"/>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23" name="Straight Connector 122">
            <a:extLst>
              <a:ext uri="{FF2B5EF4-FFF2-40B4-BE49-F238E27FC236}">
                <a16:creationId xmlns:a16="http://schemas.microsoft.com/office/drawing/2014/main" id="{6C6AB2B7-DE66-41CF-9BF7-CB08890C9C27}"/>
              </a:ext>
            </a:extLst>
          </p:cNvPr>
          <p:cNvCxnSpPr/>
          <p:nvPr/>
        </p:nvCxnSpPr>
        <p:spPr>
          <a:xfrm flipV="1">
            <a:off x="9599840" y="2520368"/>
            <a:ext cx="70303" cy="79312"/>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66B5D1E8-F755-491A-9060-619627A8A6D0}"/>
              </a:ext>
            </a:extLst>
          </p:cNvPr>
          <p:cNvCxnSpPr/>
          <p:nvPr/>
        </p:nvCxnSpPr>
        <p:spPr>
          <a:xfrm flipV="1">
            <a:off x="9670143" y="2468917"/>
            <a:ext cx="70304" cy="51451"/>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25" name="Straight Connector 124">
            <a:extLst>
              <a:ext uri="{FF2B5EF4-FFF2-40B4-BE49-F238E27FC236}">
                <a16:creationId xmlns:a16="http://schemas.microsoft.com/office/drawing/2014/main" id="{595B5ED9-927D-40E2-A8D5-4D2F1FD43717}"/>
              </a:ext>
            </a:extLst>
          </p:cNvPr>
          <p:cNvCxnSpPr/>
          <p:nvPr/>
        </p:nvCxnSpPr>
        <p:spPr>
          <a:xfrm flipV="1">
            <a:off x="9740447" y="2451100"/>
            <a:ext cx="70303" cy="17817"/>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63757186-CD81-414F-97E3-93FEB6A203AD}"/>
              </a:ext>
            </a:extLst>
          </p:cNvPr>
          <p:cNvCxnSpPr/>
          <p:nvPr/>
        </p:nvCxnSpPr>
        <p:spPr>
          <a:xfrm>
            <a:off x="9810750" y="2451100"/>
            <a:ext cx="70303" cy="17817"/>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3904806E-83D0-4050-9ACD-35E8A0AED84E}"/>
              </a:ext>
            </a:extLst>
          </p:cNvPr>
          <p:cNvCxnSpPr/>
          <p:nvPr/>
        </p:nvCxnSpPr>
        <p:spPr>
          <a:xfrm>
            <a:off x="9881053" y="2468917"/>
            <a:ext cx="70304" cy="51451"/>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E9BB9742-3F98-4CFD-AE84-B877601913E5}"/>
              </a:ext>
            </a:extLst>
          </p:cNvPr>
          <p:cNvCxnSpPr/>
          <p:nvPr/>
        </p:nvCxnSpPr>
        <p:spPr>
          <a:xfrm>
            <a:off x="9951357" y="2520368"/>
            <a:ext cx="70303" cy="79312"/>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CFE8124E-773E-4C66-B44F-2BD94318DA85}"/>
              </a:ext>
            </a:extLst>
          </p:cNvPr>
          <p:cNvCxnSpPr/>
          <p:nvPr/>
        </p:nvCxnSpPr>
        <p:spPr>
          <a:xfrm>
            <a:off x="10021660" y="2599680"/>
            <a:ext cx="70305" cy="98270"/>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E93C5D88-E6BF-4C41-B95F-92D0F716E822}"/>
              </a:ext>
            </a:extLst>
          </p:cNvPr>
          <p:cNvCxnSpPr/>
          <p:nvPr/>
        </p:nvCxnSpPr>
        <p:spPr>
          <a:xfrm>
            <a:off x="10091965" y="2697950"/>
            <a:ext cx="70303" cy="106199"/>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CE4121E2-B0C4-494A-89E3-B83735BD2019}"/>
              </a:ext>
            </a:extLst>
          </p:cNvPr>
          <p:cNvCxnSpPr/>
          <p:nvPr/>
        </p:nvCxnSpPr>
        <p:spPr>
          <a:xfrm>
            <a:off x="10162268" y="2804149"/>
            <a:ext cx="70304" cy="102209"/>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88EEA99F-7926-4403-A7DE-42462720B6B0}"/>
              </a:ext>
            </a:extLst>
          </p:cNvPr>
          <p:cNvCxnSpPr/>
          <p:nvPr/>
        </p:nvCxnSpPr>
        <p:spPr>
          <a:xfrm>
            <a:off x="10232572" y="2906358"/>
            <a:ext cx="70303" cy="86748"/>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5AF55B2A-D23B-45E1-AE8D-1A18B69FD088}"/>
              </a:ext>
            </a:extLst>
          </p:cNvPr>
          <p:cNvCxnSpPr/>
          <p:nvPr/>
        </p:nvCxnSpPr>
        <p:spPr>
          <a:xfrm>
            <a:off x="10302875" y="2993106"/>
            <a:ext cx="70303" cy="61552"/>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259818F5-17E3-49DC-A74E-4B7DFFA9A1BC}"/>
              </a:ext>
            </a:extLst>
          </p:cNvPr>
          <p:cNvCxnSpPr/>
          <p:nvPr/>
        </p:nvCxnSpPr>
        <p:spPr>
          <a:xfrm>
            <a:off x="10373178" y="3054658"/>
            <a:ext cx="70304" cy="29446"/>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FFBD9332-A77C-4A4C-B23C-DE9B8367AFF9}"/>
              </a:ext>
            </a:extLst>
          </p:cNvPr>
          <p:cNvCxnSpPr/>
          <p:nvPr/>
        </p:nvCxnSpPr>
        <p:spPr>
          <a:xfrm flipV="1">
            <a:off x="10443482" y="3078140"/>
            <a:ext cx="70303" cy="5964"/>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819EE852-7E9E-49B1-A48B-6906CB21FDC9}"/>
              </a:ext>
            </a:extLst>
          </p:cNvPr>
          <p:cNvCxnSpPr/>
          <p:nvPr/>
        </p:nvCxnSpPr>
        <p:spPr>
          <a:xfrm flipV="1">
            <a:off x="10513785" y="3037435"/>
            <a:ext cx="70305" cy="40705"/>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02E46210-659E-4D76-9A4D-EB30EAEB3B99}"/>
              </a:ext>
            </a:extLst>
          </p:cNvPr>
          <p:cNvCxnSpPr/>
          <p:nvPr/>
        </p:nvCxnSpPr>
        <p:spPr>
          <a:xfrm flipV="1">
            <a:off x="10584090" y="2966558"/>
            <a:ext cx="70303" cy="70877"/>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EF85E8D3-848E-4BA7-8803-48F0545420B7}"/>
              </a:ext>
            </a:extLst>
          </p:cNvPr>
          <p:cNvCxnSpPr/>
          <p:nvPr/>
        </p:nvCxnSpPr>
        <p:spPr>
          <a:xfrm flipV="1">
            <a:off x="10654393" y="2873464"/>
            <a:ext cx="70304" cy="93094"/>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6B60FFE8-DDCA-45CB-93AF-34778EF81DD9}"/>
              </a:ext>
            </a:extLst>
          </p:cNvPr>
          <p:cNvCxnSpPr/>
          <p:nvPr/>
        </p:nvCxnSpPr>
        <p:spPr>
          <a:xfrm flipV="1">
            <a:off x="10724697" y="2768600"/>
            <a:ext cx="70303" cy="104864"/>
          </a:xfrm>
          <a:prstGeom prst="line">
            <a:avLst/>
          </a:prstGeom>
          <a:ln w="2159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1355905B-70FB-4008-8194-0F7CE975D0BC}"/>
              </a:ext>
            </a:extLst>
          </p:cNvPr>
          <p:cNvCxnSpPr/>
          <p:nvPr/>
        </p:nvCxnSpPr>
        <p:spPr>
          <a:xfrm flipV="1">
            <a:off x="2921000" y="3446535"/>
            <a:ext cx="70304" cy="274565"/>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6C5D012F-AE47-4345-80BA-607A83F95F78}"/>
              </a:ext>
            </a:extLst>
          </p:cNvPr>
          <p:cNvCxnSpPr/>
          <p:nvPr/>
        </p:nvCxnSpPr>
        <p:spPr>
          <a:xfrm flipV="1">
            <a:off x="2991304" y="3397752"/>
            <a:ext cx="70303" cy="48783"/>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00877920-8606-4BC3-A9EC-D039822D0A93}"/>
              </a:ext>
            </a:extLst>
          </p:cNvPr>
          <p:cNvCxnSpPr/>
          <p:nvPr/>
        </p:nvCxnSpPr>
        <p:spPr>
          <a:xfrm flipV="1">
            <a:off x="3061607" y="3391892"/>
            <a:ext cx="70304" cy="5860"/>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FDAE0376-FAB5-4E96-9D66-410E382C9856}"/>
              </a:ext>
            </a:extLst>
          </p:cNvPr>
          <p:cNvCxnSpPr/>
          <p:nvPr/>
        </p:nvCxnSpPr>
        <p:spPr>
          <a:xfrm flipV="1">
            <a:off x="3131911" y="3390998"/>
            <a:ext cx="70303" cy="894"/>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44" name="Straight Connector 143">
            <a:extLst>
              <a:ext uri="{FF2B5EF4-FFF2-40B4-BE49-F238E27FC236}">
                <a16:creationId xmlns:a16="http://schemas.microsoft.com/office/drawing/2014/main" id="{8BBE0785-2D1D-4BC7-B24D-8DADC2849BBE}"/>
              </a:ext>
            </a:extLst>
          </p:cNvPr>
          <p:cNvCxnSpPr/>
          <p:nvPr/>
        </p:nvCxnSpPr>
        <p:spPr>
          <a:xfrm flipV="1">
            <a:off x="3202214" y="3390923"/>
            <a:ext cx="70304" cy="75"/>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45" name="Straight Connector 144">
            <a:extLst>
              <a:ext uri="{FF2B5EF4-FFF2-40B4-BE49-F238E27FC236}">
                <a16:creationId xmlns:a16="http://schemas.microsoft.com/office/drawing/2014/main" id="{EDAF0C59-F25B-4ED6-9166-B49972F76CEB}"/>
              </a:ext>
            </a:extLst>
          </p:cNvPr>
          <p:cNvCxnSpPr/>
          <p:nvPr/>
        </p:nvCxnSpPr>
        <p:spPr>
          <a:xfrm>
            <a:off x="3272518" y="3390923"/>
            <a:ext cx="70304" cy="489"/>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46" name="Straight Connector 145">
            <a:extLst>
              <a:ext uri="{FF2B5EF4-FFF2-40B4-BE49-F238E27FC236}">
                <a16:creationId xmlns:a16="http://schemas.microsoft.com/office/drawing/2014/main" id="{6D14C9AF-AA7B-452B-BAB2-99398F03CDEF}"/>
              </a:ext>
            </a:extLst>
          </p:cNvPr>
          <p:cNvCxnSpPr/>
          <p:nvPr/>
        </p:nvCxnSpPr>
        <p:spPr>
          <a:xfrm>
            <a:off x="3342822" y="3391412"/>
            <a:ext cx="70303" cy="3038"/>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47" name="Straight Connector 146">
            <a:extLst>
              <a:ext uri="{FF2B5EF4-FFF2-40B4-BE49-F238E27FC236}">
                <a16:creationId xmlns:a16="http://schemas.microsoft.com/office/drawing/2014/main" id="{3E0625E4-ECA2-405F-BAF5-415D212F93C0}"/>
              </a:ext>
            </a:extLst>
          </p:cNvPr>
          <p:cNvCxnSpPr/>
          <p:nvPr/>
        </p:nvCxnSpPr>
        <p:spPr>
          <a:xfrm>
            <a:off x="3413125" y="3394450"/>
            <a:ext cx="70303" cy="23820"/>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48" name="Straight Connector 147">
            <a:extLst>
              <a:ext uri="{FF2B5EF4-FFF2-40B4-BE49-F238E27FC236}">
                <a16:creationId xmlns:a16="http://schemas.microsoft.com/office/drawing/2014/main" id="{9B4B439D-F98F-44D2-8D97-D5DF3020D329}"/>
              </a:ext>
            </a:extLst>
          </p:cNvPr>
          <p:cNvCxnSpPr/>
          <p:nvPr/>
        </p:nvCxnSpPr>
        <p:spPr>
          <a:xfrm>
            <a:off x="3483428" y="3418270"/>
            <a:ext cx="70304" cy="176315"/>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49" name="Straight Connector 148">
            <a:extLst>
              <a:ext uri="{FF2B5EF4-FFF2-40B4-BE49-F238E27FC236}">
                <a16:creationId xmlns:a16="http://schemas.microsoft.com/office/drawing/2014/main" id="{81638082-DAAB-4445-A7C3-EECDBA5E3A35}"/>
              </a:ext>
            </a:extLst>
          </p:cNvPr>
          <p:cNvCxnSpPr/>
          <p:nvPr/>
        </p:nvCxnSpPr>
        <p:spPr>
          <a:xfrm>
            <a:off x="3553732" y="3594585"/>
            <a:ext cx="70304" cy="346306"/>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50" name="Straight Connector 149">
            <a:extLst>
              <a:ext uri="{FF2B5EF4-FFF2-40B4-BE49-F238E27FC236}">
                <a16:creationId xmlns:a16="http://schemas.microsoft.com/office/drawing/2014/main" id="{AF3C32F0-31BF-4D75-AD27-2351E80F5DAF}"/>
              </a:ext>
            </a:extLst>
          </p:cNvPr>
          <p:cNvCxnSpPr/>
          <p:nvPr/>
        </p:nvCxnSpPr>
        <p:spPr>
          <a:xfrm>
            <a:off x="3624036" y="3940891"/>
            <a:ext cx="70303" cy="96858"/>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51" name="Straight Connector 150">
            <a:extLst>
              <a:ext uri="{FF2B5EF4-FFF2-40B4-BE49-F238E27FC236}">
                <a16:creationId xmlns:a16="http://schemas.microsoft.com/office/drawing/2014/main" id="{17F19829-8727-4A0F-8030-14522F7D0F4A}"/>
              </a:ext>
            </a:extLst>
          </p:cNvPr>
          <p:cNvCxnSpPr/>
          <p:nvPr/>
        </p:nvCxnSpPr>
        <p:spPr>
          <a:xfrm>
            <a:off x="3694339" y="4037749"/>
            <a:ext cx="70304" cy="11677"/>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52" name="Straight Connector 151">
            <a:extLst>
              <a:ext uri="{FF2B5EF4-FFF2-40B4-BE49-F238E27FC236}">
                <a16:creationId xmlns:a16="http://schemas.microsoft.com/office/drawing/2014/main" id="{410592B1-5B88-43AE-A3DA-849D43617282}"/>
              </a:ext>
            </a:extLst>
          </p:cNvPr>
          <p:cNvCxnSpPr/>
          <p:nvPr/>
        </p:nvCxnSpPr>
        <p:spPr>
          <a:xfrm>
            <a:off x="3764643" y="4049426"/>
            <a:ext cx="70304" cy="1629"/>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53" name="Straight Connector 152">
            <a:extLst>
              <a:ext uri="{FF2B5EF4-FFF2-40B4-BE49-F238E27FC236}">
                <a16:creationId xmlns:a16="http://schemas.microsoft.com/office/drawing/2014/main" id="{4C887ECF-DEBF-42E0-BDA2-38CE15313B02}"/>
              </a:ext>
            </a:extLst>
          </p:cNvPr>
          <p:cNvCxnSpPr/>
          <p:nvPr/>
        </p:nvCxnSpPr>
        <p:spPr>
          <a:xfrm>
            <a:off x="3834947" y="4051055"/>
            <a:ext cx="70303" cy="245"/>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54" name="Straight Connector 153">
            <a:extLst>
              <a:ext uri="{FF2B5EF4-FFF2-40B4-BE49-F238E27FC236}">
                <a16:creationId xmlns:a16="http://schemas.microsoft.com/office/drawing/2014/main" id="{0ED22FA6-046A-4700-A98A-1112A02DD30C}"/>
              </a:ext>
            </a:extLst>
          </p:cNvPr>
          <p:cNvCxnSpPr/>
          <p:nvPr/>
        </p:nvCxnSpPr>
        <p:spPr>
          <a:xfrm flipV="1">
            <a:off x="3905250" y="4051055"/>
            <a:ext cx="70303" cy="245"/>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55" name="Straight Connector 154">
            <a:extLst>
              <a:ext uri="{FF2B5EF4-FFF2-40B4-BE49-F238E27FC236}">
                <a16:creationId xmlns:a16="http://schemas.microsoft.com/office/drawing/2014/main" id="{5E5808C7-E864-4DE2-B4B4-DFF8763B6FA0}"/>
              </a:ext>
            </a:extLst>
          </p:cNvPr>
          <p:cNvCxnSpPr/>
          <p:nvPr/>
        </p:nvCxnSpPr>
        <p:spPr>
          <a:xfrm flipV="1">
            <a:off x="3975553" y="4049426"/>
            <a:ext cx="70304" cy="1629"/>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56" name="Straight Connector 155">
            <a:extLst>
              <a:ext uri="{FF2B5EF4-FFF2-40B4-BE49-F238E27FC236}">
                <a16:creationId xmlns:a16="http://schemas.microsoft.com/office/drawing/2014/main" id="{0F43CC27-F7A9-4CF8-8C15-7B1106AEE9AD}"/>
              </a:ext>
            </a:extLst>
          </p:cNvPr>
          <p:cNvCxnSpPr/>
          <p:nvPr/>
        </p:nvCxnSpPr>
        <p:spPr>
          <a:xfrm flipV="1">
            <a:off x="4045857" y="4037749"/>
            <a:ext cx="70304" cy="11677"/>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57" name="Straight Connector 156">
            <a:extLst>
              <a:ext uri="{FF2B5EF4-FFF2-40B4-BE49-F238E27FC236}">
                <a16:creationId xmlns:a16="http://schemas.microsoft.com/office/drawing/2014/main" id="{4EE2CFE5-DD9C-4EB1-8B0D-E7BF27975C71}"/>
              </a:ext>
            </a:extLst>
          </p:cNvPr>
          <p:cNvCxnSpPr/>
          <p:nvPr/>
        </p:nvCxnSpPr>
        <p:spPr>
          <a:xfrm flipV="1">
            <a:off x="4116161" y="3940891"/>
            <a:ext cx="70303" cy="96858"/>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58" name="Straight Connector 157">
            <a:extLst>
              <a:ext uri="{FF2B5EF4-FFF2-40B4-BE49-F238E27FC236}">
                <a16:creationId xmlns:a16="http://schemas.microsoft.com/office/drawing/2014/main" id="{487BB489-5CBB-45BE-82B7-91BD0B772D07}"/>
              </a:ext>
            </a:extLst>
          </p:cNvPr>
          <p:cNvCxnSpPr/>
          <p:nvPr/>
        </p:nvCxnSpPr>
        <p:spPr>
          <a:xfrm flipV="1">
            <a:off x="4186464" y="3594585"/>
            <a:ext cx="70304" cy="346306"/>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59" name="Straight Connector 158">
            <a:extLst>
              <a:ext uri="{FF2B5EF4-FFF2-40B4-BE49-F238E27FC236}">
                <a16:creationId xmlns:a16="http://schemas.microsoft.com/office/drawing/2014/main" id="{803DA0C3-0EC3-4721-9A5F-74EB33A68947}"/>
              </a:ext>
            </a:extLst>
          </p:cNvPr>
          <p:cNvCxnSpPr/>
          <p:nvPr/>
        </p:nvCxnSpPr>
        <p:spPr>
          <a:xfrm flipV="1">
            <a:off x="4256768" y="3418270"/>
            <a:ext cx="70304" cy="176315"/>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60" name="Straight Connector 159">
            <a:extLst>
              <a:ext uri="{FF2B5EF4-FFF2-40B4-BE49-F238E27FC236}">
                <a16:creationId xmlns:a16="http://schemas.microsoft.com/office/drawing/2014/main" id="{F82CEE93-94D5-43AC-84B7-B16257ADC0D8}"/>
              </a:ext>
            </a:extLst>
          </p:cNvPr>
          <p:cNvCxnSpPr/>
          <p:nvPr/>
        </p:nvCxnSpPr>
        <p:spPr>
          <a:xfrm flipV="1">
            <a:off x="4327072" y="3394450"/>
            <a:ext cx="70303" cy="23820"/>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61" name="Straight Connector 160">
            <a:extLst>
              <a:ext uri="{FF2B5EF4-FFF2-40B4-BE49-F238E27FC236}">
                <a16:creationId xmlns:a16="http://schemas.microsoft.com/office/drawing/2014/main" id="{6BCF3AA7-F70E-433F-8A57-D20EEB1CD4D0}"/>
              </a:ext>
            </a:extLst>
          </p:cNvPr>
          <p:cNvCxnSpPr/>
          <p:nvPr/>
        </p:nvCxnSpPr>
        <p:spPr>
          <a:xfrm flipV="1">
            <a:off x="4397375" y="3391412"/>
            <a:ext cx="70303" cy="3038"/>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62" name="Straight Connector 161">
            <a:extLst>
              <a:ext uri="{FF2B5EF4-FFF2-40B4-BE49-F238E27FC236}">
                <a16:creationId xmlns:a16="http://schemas.microsoft.com/office/drawing/2014/main" id="{065D537F-C275-404A-A4D6-E4A6CCFD5971}"/>
              </a:ext>
            </a:extLst>
          </p:cNvPr>
          <p:cNvCxnSpPr/>
          <p:nvPr/>
        </p:nvCxnSpPr>
        <p:spPr>
          <a:xfrm flipV="1">
            <a:off x="4467678" y="3390923"/>
            <a:ext cx="70304" cy="489"/>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63" name="Straight Connector 162">
            <a:extLst>
              <a:ext uri="{FF2B5EF4-FFF2-40B4-BE49-F238E27FC236}">
                <a16:creationId xmlns:a16="http://schemas.microsoft.com/office/drawing/2014/main" id="{B9E523D0-2797-4806-A194-EF0B07CBF42D}"/>
              </a:ext>
            </a:extLst>
          </p:cNvPr>
          <p:cNvCxnSpPr/>
          <p:nvPr/>
        </p:nvCxnSpPr>
        <p:spPr>
          <a:xfrm>
            <a:off x="4537982" y="3390923"/>
            <a:ext cx="70304" cy="75"/>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64" name="Straight Connector 163">
            <a:extLst>
              <a:ext uri="{FF2B5EF4-FFF2-40B4-BE49-F238E27FC236}">
                <a16:creationId xmlns:a16="http://schemas.microsoft.com/office/drawing/2014/main" id="{7C2CA46D-77A7-4444-90E1-5840BE1CF4A4}"/>
              </a:ext>
            </a:extLst>
          </p:cNvPr>
          <p:cNvCxnSpPr/>
          <p:nvPr/>
        </p:nvCxnSpPr>
        <p:spPr>
          <a:xfrm>
            <a:off x="4608286" y="3390998"/>
            <a:ext cx="70303" cy="894"/>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65" name="Straight Connector 164">
            <a:extLst>
              <a:ext uri="{FF2B5EF4-FFF2-40B4-BE49-F238E27FC236}">
                <a16:creationId xmlns:a16="http://schemas.microsoft.com/office/drawing/2014/main" id="{4CB4D70E-A6FF-409F-BAA6-D315B03B426F}"/>
              </a:ext>
            </a:extLst>
          </p:cNvPr>
          <p:cNvCxnSpPr/>
          <p:nvPr/>
        </p:nvCxnSpPr>
        <p:spPr>
          <a:xfrm>
            <a:off x="4678589" y="3391892"/>
            <a:ext cx="70304" cy="5860"/>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66" name="Straight Connector 165">
            <a:extLst>
              <a:ext uri="{FF2B5EF4-FFF2-40B4-BE49-F238E27FC236}">
                <a16:creationId xmlns:a16="http://schemas.microsoft.com/office/drawing/2014/main" id="{6331D3E1-5F9D-4B7A-8A92-284DC7BD09D4}"/>
              </a:ext>
            </a:extLst>
          </p:cNvPr>
          <p:cNvCxnSpPr/>
          <p:nvPr/>
        </p:nvCxnSpPr>
        <p:spPr>
          <a:xfrm>
            <a:off x="4748893" y="3397752"/>
            <a:ext cx="70304" cy="48783"/>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67" name="Straight Connector 166">
            <a:extLst>
              <a:ext uri="{FF2B5EF4-FFF2-40B4-BE49-F238E27FC236}">
                <a16:creationId xmlns:a16="http://schemas.microsoft.com/office/drawing/2014/main" id="{86782BDD-5CCB-46CC-953C-011AACD2B11B}"/>
              </a:ext>
            </a:extLst>
          </p:cNvPr>
          <p:cNvCxnSpPr/>
          <p:nvPr/>
        </p:nvCxnSpPr>
        <p:spPr>
          <a:xfrm>
            <a:off x="4819197" y="3446535"/>
            <a:ext cx="70303" cy="274565"/>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68" name="Straight Connector 167">
            <a:extLst>
              <a:ext uri="{FF2B5EF4-FFF2-40B4-BE49-F238E27FC236}">
                <a16:creationId xmlns:a16="http://schemas.microsoft.com/office/drawing/2014/main" id="{D0530FA3-C4FE-454A-921E-A09657860706}"/>
              </a:ext>
            </a:extLst>
          </p:cNvPr>
          <p:cNvCxnSpPr/>
          <p:nvPr/>
        </p:nvCxnSpPr>
        <p:spPr>
          <a:xfrm>
            <a:off x="4889500" y="3721100"/>
            <a:ext cx="70303" cy="274565"/>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69" name="Straight Connector 168">
            <a:extLst>
              <a:ext uri="{FF2B5EF4-FFF2-40B4-BE49-F238E27FC236}">
                <a16:creationId xmlns:a16="http://schemas.microsoft.com/office/drawing/2014/main" id="{F7371471-CEF4-4ADC-9B30-4D9121861DB0}"/>
              </a:ext>
            </a:extLst>
          </p:cNvPr>
          <p:cNvCxnSpPr/>
          <p:nvPr/>
        </p:nvCxnSpPr>
        <p:spPr>
          <a:xfrm>
            <a:off x="4959803" y="3995665"/>
            <a:ext cx="70304" cy="48783"/>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70" name="Straight Connector 169">
            <a:extLst>
              <a:ext uri="{FF2B5EF4-FFF2-40B4-BE49-F238E27FC236}">
                <a16:creationId xmlns:a16="http://schemas.microsoft.com/office/drawing/2014/main" id="{FC127F19-1373-4823-BC36-A865510843A7}"/>
              </a:ext>
            </a:extLst>
          </p:cNvPr>
          <p:cNvCxnSpPr/>
          <p:nvPr/>
        </p:nvCxnSpPr>
        <p:spPr>
          <a:xfrm>
            <a:off x="5030107" y="4044448"/>
            <a:ext cx="70304" cy="5860"/>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71" name="Straight Connector 170">
            <a:extLst>
              <a:ext uri="{FF2B5EF4-FFF2-40B4-BE49-F238E27FC236}">
                <a16:creationId xmlns:a16="http://schemas.microsoft.com/office/drawing/2014/main" id="{BF9AE357-5273-482D-AE35-A7062A9DD820}"/>
              </a:ext>
            </a:extLst>
          </p:cNvPr>
          <p:cNvCxnSpPr/>
          <p:nvPr/>
        </p:nvCxnSpPr>
        <p:spPr>
          <a:xfrm>
            <a:off x="5100411" y="4050308"/>
            <a:ext cx="70303" cy="894"/>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72" name="Straight Connector 171">
            <a:extLst>
              <a:ext uri="{FF2B5EF4-FFF2-40B4-BE49-F238E27FC236}">
                <a16:creationId xmlns:a16="http://schemas.microsoft.com/office/drawing/2014/main" id="{FC26AE29-F477-4D9D-BA24-2E004D81476B}"/>
              </a:ext>
            </a:extLst>
          </p:cNvPr>
          <p:cNvCxnSpPr/>
          <p:nvPr/>
        </p:nvCxnSpPr>
        <p:spPr>
          <a:xfrm>
            <a:off x="5170714" y="4051202"/>
            <a:ext cx="70304" cy="75"/>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73" name="Straight Connector 172">
            <a:extLst>
              <a:ext uri="{FF2B5EF4-FFF2-40B4-BE49-F238E27FC236}">
                <a16:creationId xmlns:a16="http://schemas.microsoft.com/office/drawing/2014/main" id="{EE045944-57F5-41D8-86D1-46DAA627803A}"/>
              </a:ext>
            </a:extLst>
          </p:cNvPr>
          <p:cNvCxnSpPr/>
          <p:nvPr/>
        </p:nvCxnSpPr>
        <p:spPr>
          <a:xfrm flipV="1">
            <a:off x="5241018" y="4050788"/>
            <a:ext cx="70304" cy="489"/>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74" name="Straight Connector 173">
            <a:extLst>
              <a:ext uri="{FF2B5EF4-FFF2-40B4-BE49-F238E27FC236}">
                <a16:creationId xmlns:a16="http://schemas.microsoft.com/office/drawing/2014/main" id="{9DE886B8-4DEE-4E00-B38E-0F88C21B22E5}"/>
              </a:ext>
            </a:extLst>
          </p:cNvPr>
          <p:cNvCxnSpPr/>
          <p:nvPr/>
        </p:nvCxnSpPr>
        <p:spPr>
          <a:xfrm flipV="1">
            <a:off x="5311322" y="4047750"/>
            <a:ext cx="70303" cy="3038"/>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75" name="Straight Connector 174">
            <a:extLst>
              <a:ext uri="{FF2B5EF4-FFF2-40B4-BE49-F238E27FC236}">
                <a16:creationId xmlns:a16="http://schemas.microsoft.com/office/drawing/2014/main" id="{62C3464B-0086-4E94-98DF-0CAA5BD1BCBA}"/>
              </a:ext>
            </a:extLst>
          </p:cNvPr>
          <p:cNvCxnSpPr/>
          <p:nvPr/>
        </p:nvCxnSpPr>
        <p:spPr>
          <a:xfrm flipV="1">
            <a:off x="5381625" y="4023930"/>
            <a:ext cx="70303" cy="23820"/>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76" name="Straight Connector 175">
            <a:extLst>
              <a:ext uri="{FF2B5EF4-FFF2-40B4-BE49-F238E27FC236}">
                <a16:creationId xmlns:a16="http://schemas.microsoft.com/office/drawing/2014/main" id="{303AD387-7CB6-4B97-9DF2-F27E6CA1EC54}"/>
              </a:ext>
            </a:extLst>
          </p:cNvPr>
          <p:cNvCxnSpPr/>
          <p:nvPr/>
        </p:nvCxnSpPr>
        <p:spPr>
          <a:xfrm flipV="1">
            <a:off x="5451928" y="3847615"/>
            <a:ext cx="70304" cy="176315"/>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77" name="Straight Connector 176">
            <a:extLst>
              <a:ext uri="{FF2B5EF4-FFF2-40B4-BE49-F238E27FC236}">
                <a16:creationId xmlns:a16="http://schemas.microsoft.com/office/drawing/2014/main" id="{D8061933-BF72-404B-A7CA-369355C85C41}"/>
              </a:ext>
            </a:extLst>
          </p:cNvPr>
          <p:cNvCxnSpPr/>
          <p:nvPr/>
        </p:nvCxnSpPr>
        <p:spPr>
          <a:xfrm flipV="1">
            <a:off x="5522232" y="3501309"/>
            <a:ext cx="70304" cy="346306"/>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78" name="Straight Connector 177">
            <a:extLst>
              <a:ext uri="{FF2B5EF4-FFF2-40B4-BE49-F238E27FC236}">
                <a16:creationId xmlns:a16="http://schemas.microsoft.com/office/drawing/2014/main" id="{6D5AB287-BDF6-47CF-B30C-2CB3F5F17827}"/>
              </a:ext>
            </a:extLst>
          </p:cNvPr>
          <p:cNvCxnSpPr/>
          <p:nvPr/>
        </p:nvCxnSpPr>
        <p:spPr>
          <a:xfrm flipV="1">
            <a:off x="5592536" y="3404451"/>
            <a:ext cx="70303" cy="96858"/>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79" name="Straight Connector 178">
            <a:extLst>
              <a:ext uri="{FF2B5EF4-FFF2-40B4-BE49-F238E27FC236}">
                <a16:creationId xmlns:a16="http://schemas.microsoft.com/office/drawing/2014/main" id="{2761DD82-17BF-4EAE-8191-602402F259A7}"/>
              </a:ext>
            </a:extLst>
          </p:cNvPr>
          <p:cNvCxnSpPr/>
          <p:nvPr/>
        </p:nvCxnSpPr>
        <p:spPr>
          <a:xfrm flipV="1">
            <a:off x="5662839" y="3392774"/>
            <a:ext cx="70304" cy="11677"/>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80" name="Straight Connector 179">
            <a:extLst>
              <a:ext uri="{FF2B5EF4-FFF2-40B4-BE49-F238E27FC236}">
                <a16:creationId xmlns:a16="http://schemas.microsoft.com/office/drawing/2014/main" id="{AB0A3BB3-38B7-4E47-8A1A-C5CC3C0A1F68}"/>
              </a:ext>
            </a:extLst>
          </p:cNvPr>
          <p:cNvCxnSpPr/>
          <p:nvPr/>
        </p:nvCxnSpPr>
        <p:spPr>
          <a:xfrm flipV="1">
            <a:off x="5733143" y="3391145"/>
            <a:ext cx="70304" cy="1629"/>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81" name="Straight Connector 180">
            <a:extLst>
              <a:ext uri="{FF2B5EF4-FFF2-40B4-BE49-F238E27FC236}">
                <a16:creationId xmlns:a16="http://schemas.microsoft.com/office/drawing/2014/main" id="{564BA6EB-118A-4DFC-8283-3CD998A5DE7B}"/>
              </a:ext>
            </a:extLst>
          </p:cNvPr>
          <p:cNvCxnSpPr/>
          <p:nvPr/>
        </p:nvCxnSpPr>
        <p:spPr>
          <a:xfrm flipV="1">
            <a:off x="5803447" y="3390900"/>
            <a:ext cx="70303" cy="245"/>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82" name="Straight Connector 181">
            <a:extLst>
              <a:ext uri="{FF2B5EF4-FFF2-40B4-BE49-F238E27FC236}">
                <a16:creationId xmlns:a16="http://schemas.microsoft.com/office/drawing/2014/main" id="{3E6E7371-5F55-4720-BD9C-34B10C2F405D}"/>
              </a:ext>
            </a:extLst>
          </p:cNvPr>
          <p:cNvCxnSpPr/>
          <p:nvPr/>
        </p:nvCxnSpPr>
        <p:spPr>
          <a:xfrm>
            <a:off x="5873750" y="3390900"/>
            <a:ext cx="70303" cy="245"/>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83" name="Straight Connector 182">
            <a:extLst>
              <a:ext uri="{FF2B5EF4-FFF2-40B4-BE49-F238E27FC236}">
                <a16:creationId xmlns:a16="http://schemas.microsoft.com/office/drawing/2014/main" id="{8B38C63A-FC81-4FE0-9F8F-6866FF67ACA1}"/>
              </a:ext>
            </a:extLst>
          </p:cNvPr>
          <p:cNvCxnSpPr/>
          <p:nvPr/>
        </p:nvCxnSpPr>
        <p:spPr>
          <a:xfrm>
            <a:off x="5944053" y="3391145"/>
            <a:ext cx="70304" cy="1629"/>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84" name="Straight Connector 183">
            <a:extLst>
              <a:ext uri="{FF2B5EF4-FFF2-40B4-BE49-F238E27FC236}">
                <a16:creationId xmlns:a16="http://schemas.microsoft.com/office/drawing/2014/main" id="{70DD9494-F2BD-42AB-A6C9-FFBAA411B859}"/>
              </a:ext>
            </a:extLst>
          </p:cNvPr>
          <p:cNvCxnSpPr/>
          <p:nvPr/>
        </p:nvCxnSpPr>
        <p:spPr>
          <a:xfrm>
            <a:off x="6014357" y="3392774"/>
            <a:ext cx="70304" cy="11677"/>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85" name="Straight Connector 184">
            <a:extLst>
              <a:ext uri="{FF2B5EF4-FFF2-40B4-BE49-F238E27FC236}">
                <a16:creationId xmlns:a16="http://schemas.microsoft.com/office/drawing/2014/main" id="{5CFB57C0-63AB-4F30-97C4-ADA00B1E1332}"/>
              </a:ext>
            </a:extLst>
          </p:cNvPr>
          <p:cNvCxnSpPr/>
          <p:nvPr/>
        </p:nvCxnSpPr>
        <p:spPr>
          <a:xfrm>
            <a:off x="6084661" y="3404451"/>
            <a:ext cx="70303" cy="96858"/>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86" name="Straight Connector 185">
            <a:extLst>
              <a:ext uri="{FF2B5EF4-FFF2-40B4-BE49-F238E27FC236}">
                <a16:creationId xmlns:a16="http://schemas.microsoft.com/office/drawing/2014/main" id="{3FE5BE89-3300-49B3-A06B-C0EBD46C16CD}"/>
              </a:ext>
            </a:extLst>
          </p:cNvPr>
          <p:cNvCxnSpPr/>
          <p:nvPr/>
        </p:nvCxnSpPr>
        <p:spPr>
          <a:xfrm>
            <a:off x="6154964" y="3501309"/>
            <a:ext cx="70304" cy="346306"/>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87" name="Straight Connector 186">
            <a:extLst>
              <a:ext uri="{FF2B5EF4-FFF2-40B4-BE49-F238E27FC236}">
                <a16:creationId xmlns:a16="http://schemas.microsoft.com/office/drawing/2014/main" id="{10504CB6-3CF4-45AE-8188-10F2D2FA14E6}"/>
              </a:ext>
            </a:extLst>
          </p:cNvPr>
          <p:cNvCxnSpPr/>
          <p:nvPr/>
        </p:nvCxnSpPr>
        <p:spPr>
          <a:xfrm>
            <a:off x="6225268" y="3847615"/>
            <a:ext cx="70304" cy="176315"/>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88" name="Straight Connector 187">
            <a:extLst>
              <a:ext uri="{FF2B5EF4-FFF2-40B4-BE49-F238E27FC236}">
                <a16:creationId xmlns:a16="http://schemas.microsoft.com/office/drawing/2014/main" id="{040A145A-5DC7-4E6F-A32E-65ED174521BB}"/>
              </a:ext>
            </a:extLst>
          </p:cNvPr>
          <p:cNvCxnSpPr/>
          <p:nvPr/>
        </p:nvCxnSpPr>
        <p:spPr>
          <a:xfrm>
            <a:off x="6295572" y="4023930"/>
            <a:ext cx="70303" cy="23820"/>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89" name="Straight Connector 188">
            <a:extLst>
              <a:ext uri="{FF2B5EF4-FFF2-40B4-BE49-F238E27FC236}">
                <a16:creationId xmlns:a16="http://schemas.microsoft.com/office/drawing/2014/main" id="{21527054-C735-4A97-B713-ECBD1D82E3D9}"/>
              </a:ext>
            </a:extLst>
          </p:cNvPr>
          <p:cNvCxnSpPr/>
          <p:nvPr/>
        </p:nvCxnSpPr>
        <p:spPr>
          <a:xfrm>
            <a:off x="6365875" y="4047750"/>
            <a:ext cx="70303" cy="3038"/>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90" name="Straight Connector 189">
            <a:extLst>
              <a:ext uri="{FF2B5EF4-FFF2-40B4-BE49-F238E27FC236}">
                <a16:creationId xmlns:a16="http://schemas.microsoft.com/office/drawing/2014/main" id="{E3E37630-AAC6-4A41-9686-66DAF526E66A}"/>
              </a:ext>
            </a:extLst>
          </p:cNvPr>
          <p:cNvCxnSpPr/>
          <p:nvPr/>
        </p:nvCxnSpPr>
        <p:spPr>
          <a:xfrm>
            <a:off x="6436178" y="4050788"/>
            <a:ext cx="70304" cy="489"/>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91" name="Straight Connector 190">
            <a:extLst>
              <a:ext uri="{FF2B5EF4-FFF2-40B4-BE49-F238E27FC236}">
                <a16:creationId xmlns:a16="http://schemas.microsoft.com/office/drawing/2014/main" id="{DA5FB7A8-5316-4F82-9FD8-E70458BCDF54}"/>
              </a:ext>
            </a:extLst>
          </p:cNvPr>
          <p:cNvCxnSpPr/>
          <p:nvPr/>
        </p:nvCxnSpPr>
        <p:spPr>
          <a:xfrm flipV="1">
            <a:off x="6506482" y="4051202"/>
            <a:ext cx="70303" cy="75"/>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92" name="Straight Connector 191">
            <a:extLst>
              <a:ext uri="{FF2B5EF4-FFF2-40B4-BE49-F238E27FC236}">
                <a16:creationId xmlns:a16="http://schemas.microsoft.com/office/drawing/2014/main" id="{092D32F5-EF1F-475E-AA6F-5DC757793936}"/>
              </a:ext>
            </a:extLst>
          </p:cNvPr>
          <p:cNvCxnSpPr/>
          <p:nvPr/>
        </p:nvCxnSpPr>
        <p:spPr>
          <a:xfrm flipV="1">
            <a:off x="6576785" y="4050308"/>
            <a:ext cx="70305" cy="894"/>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93" name="Straight Connector 192">
            <a:extLst>
              <a:ext uri="{FF2B5EF4-FFF2-40B4-BE49-F238E27FC236}">
                <a16:creationId xmlns:a16="http://schemas.microsoft.com/office/drawing/2014/main" id="{BE175272-03E0-47DE-8072-2D1DE914C91B}"/>
              </a:ext>
            </a:extLst>
          </p:cNvPr>
          <p:cNvCxnSpPr/>
          <p:nvPr/>
        </p:nvCxnSpPr>
        <p:spPr>
          <a:xfrm flipV="1">
            <a:off x="6647090" y="4044448"/>
            <a:ext cx="70303" cy="5860"/>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94" name="Straight Connector 193">
            <a:extLst>
              <a:ext uri="{FF2B5EF4-FFF2-40B4-BE49-F238E27FC236}">
                <a16:creationId xmlns:a16="http://schemas.microsoft.com/office/drawing/2014/main" id="{B6F92706-725C-4FCA-83BC-C4637F0AFA95}"/>
              </a:ext>
            </a:extLst>
          </p:cNvPr>
          <p:cNvCxnSpPr/>
          <p:nvPr/>
        </p:nvCxnSpPr>
        <p:spPr>
          <a:xfrm flipV="1">
            <a:off x="6717393" y="3995665"/>
            <a:ext cx="70304" cy="48783"/>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95" name="Straight Connector 194">
            <a:extLst>
              <a:ext uri="{FF2B5EF4-FFF2-40B4-BE49-F238E27FC236}">
                <a16:creationId xmlns:a16="http://schemas.microsoft.com/office/drawing/2014/main" id="{DF7FC02B-97B8-4903-A6C4-AFB0826F6521}"/>
              </a:ext>
            </a:extLst>
          </p:cNvPr>
          <p:cNvCxnSpPr/>
          <p:nvPr/>
        </p:nvCxnSpPr>
        <p:spPr>
          <a:xfrm flipV="1">
            <a:off x="6787697" y="3721100"/>
            <a:ext cx="70303" cy="274565"/>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96" name="Straight Connector 195">
            <a:extLst>
              <a:ext uri="{FF2B5EF4-FFF2-40B4-BE49-F238E27FC236}">
                <a16:creationId xmlns:a16="http://schemas.microsoft.com/office/drawing/2014/main" id="{26625813-11EA-442B-9276-093A69F468C6}"/>
              </a:ext>
            </a:extLst>
          </p:cNvPr>
          <p:cNvCxnSpPr/>
          <p:nvPr/>
        </p:nvCxnSpPr>
        <p:spPr>
          <a:xfrm flipV="1">
            <a:off x="6858000" y="3446535"/>
            <a:ext cx="70303" cy="274565"/>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97" name="Straight Connector 196">
            <a:extLst>
              <a:ext uri="{FF2B5EF4-FFF2-40B4-BE49-F238E27FC236}">
                <a16:creationId xmlns:a16="http://schemas.microsoft.com/office/drawing/2014/main" id="{EF222514-3E19-48EB-871D-0351B99FA7DF}"/>
              </a:ext>
            </a:extLst>
          </p:cNvPr>
          <p:cNvCxnSpPr/>
          <p:nvPr/>
        </p:nvCxnSpPr>
        <p:spPr>
          <a:xfrm flipV="1">
            <a:off x="6928303" y="3397752"/>
            <a:ext cx="70304" cy="48783"/>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98" name="Straight Connector 197">
            <a:extLst>
              <a:ext uri="{FF2B5EF4-FFF2-40B4-BE49-F238E27FC236}">
                <a16:creationId xmlns:a16="http://schemas.microsoft.com/office/drawing/2014/main" id="{2E7F8FD2-3D6C-4014-A7F3-431FA3E71671}"/>
              </a:ext>
            </a:extLst>
          </p:cNvPr>
          <p:cNvCxnSpPr/>
          <p:nvPr/>
        </p:nvCxnSpPr>
        <p:spPr>
          <a:xfrm flipV="1">
            <a:off x="6998607" y="3391892"/>
            <a:ext cx="70303" cy="5860"/>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99" name="Straight Connector 198">
            <a:extLst>
              <a:ext uri="{FF2B5EF4-FFF2-40B4-BE49-F238E27FC236}">
                <a16:creationId xmlns:a16="http://schemas.microsoft.com/office/drawing/2014/main" id="{6D3D9115-091F-4507-BA37-033C5709FF99}"/>
              </a:ext>
            </a:extLst>
          </p:cNvPr>
          <p:cNvCxnSpPr/>
          <p:nvPr/>
        </p:nvCxnSpPr>
        <p:spPr>
          <a:xfrm flipV="1">
            <a:off x="7068910" y="3390998"/>
            <a:ext cx="70305" cy="894"/>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00" name="Straight Connector 199">
            <a:extLst>
              <a:ext uri="{FF2B5EF4-FFF2-40B4-BE49-F238E27FC236}">
                <a16:creationId xmlns:a16="http://schemas.microsoft.com/office/drawing/2014/main" id="{87233963-5854-4825-BEED-FED39F33B8CA}"/>
              </a:ext>
            </a:extLst>
          </p:cNvPr>
          <p:cNvCxnSpPr/>
          <p:nvPr/>
        </p:nvCxnSpPr>
        <p:spPr>
          <a:xfrm flipV="1">
            <a:off x="7139215" y="3390923"/>
            <a:ext cx="70303" cy="75"/>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01" name="Straight Connector 200">
            <a:extLst>
              <a:ext uri="{FF2B5EF4-FFF2-40B4-BE49-F238E27FC236}">
                <a16:creationId xmlns:a16="http://schemas.microsoft.com/office/drawing/2014/main" id="{6DC59605-3986-4F3B-85CE-766042500A86}"/>
              </a:ext>
            </a:extLst>
          </p:cNvPr>
          <p:cNvCxnSpPr/>
          <p:nvPr/>
        </p:nvCxnSpPr>
        <p:spPr>
          <a:xfrm>
            <a:off x="7209518" y="3390923"/>
            <a:ext cx="70304" cy="489"/>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02" name="Straight Connector 201">
            <a:extLst>
              <a:ext uri="{FF2B5EF4-FFF2-40B4-BE49-F238E27FC236}">
                <a16:creationId xmlns:a16="http://schemas.microsoft.com/office/drawing/2014/main" id="{F168A8E3-60EB-47B8-A795-AE6C12DE04B2}"/>
              </a:ext>
            </a:extLst>
          </p:cNvPr>
          <p:cNvCxnSpPr/>
          <p:nvPr/>
        </p:nvCxnSpPr>
        <p:spPr>
          <a:xfrm>
            <a:off x="7279822" y="3391412"/>
            <a:ext cx="70303" cy="3038"/>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03" name="Straight Connector 202">
            <a:extLst>
              <a:ext uri="{FF2B5EF4-FFF2-40B4-BE49-F238E27FC236}">
                <a16:creationId xmlns:a16="http://schemas.microsoft.com/office/drawing/2014/main" id="{FA406E06-9F05-416D-99A8-32BD11D327FF}"/>
              </a:ext>
            </a:extLst>
          </p:cNvPr>
          <p:cNvCxnSpPr/>
          <p:nvPr/>
        </p:nvCxnSpPr>
        <p:spPr>
          <a:xfrm>
            <a:off x="7350125" y="3394450"/>
            <a:ext cx="70303" cy="23820"/>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04" name="Straight Connector 203">
            <a:extLst>
              <a:ext uri="{FF2B5EF4-FFF2-40B4-BE49-F238E27FC236}">
                <a16:creationId xmlns:a16="http://schemas.microsoft.com/office/drawing/2014/main" id="{3C35F5E6-EFC6-42D2-AFA7-3DB3B3C79F8E}"/>
              </a:ext>
            </a:extLst>
          </p:cNvPr>
          <p:cNvCxnSpPr/>
          <p:nvPr/>
        </p:nvCxnSpPr>
        <p:spPr>
          <a:xfrm>
            <a:off x="7420428" y="3418270"/>
            <a:ext cx="70304" cy="176315"/>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05" name="Straight Connector 204">
            <a:extLst>
              <a:ext uri="{FF2B5EF4-FFF2-40B4-BE49-F238E27FC236}">
                <a16:creationId xmlns:a16="http://schemas.microsoft.com/office/drawing/2014/main" id="{A03E95DA-EC4F-4BC4-8B61-D763D0175055}"/>
              </a:ext>
            </a:extLst>
          </p:cNvPr>
          <p:cNvCxnSpPr/>
          <p:nvPr/>
        </p:nvCxnSpPr>
        <p:spPr>
          <a:xfrm>
            <a:off x="7490732" y="3594585"/>
            <a:ext cx="70303" cy="346306"/>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06" name="Straight Connector 205">
            <a:extLst>
              <a:ext uri="{FF2B5EF4-FFF2-40B4-BE49-F238E27FC236}">
                <a16:creationId xmlns:a16="http://schemas.microsoft.com/office/drawing/2014/main" id="{D168E65F-BE62-42CD-ABB3-4E8D3DA7F9E0}"/>
              </a:ext>
            </a:extLst>
          </p:cNvPr>
          <p:cNvCxnSpPr/>
          <p:nvPr/>
        </p:nvCxnSpPr>
        <p:spPr>
          <a:xfrm>
            <a:off x="7561035" y="3940891"/>
            <a:ext cx="70305" cy="96858"/>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07" name="Straight Connector 206">
            <a:extLst>
              <a:ext uri="{FF2B5EF4-FFF2-40B4-BE49-F238E27FC236}">
                <a16:creationId xmlns:a16="http://schemas.microsoft.com/office/drawing/2014/main" id="{4AD86B08-E266-481D-A791-4DD441251097}"/>
              </a:ext>
            </a:extLst>
          </p:cNvPr>
          <p:cNvCxnSpPr/>
          <p:nvPr/>
        </p:nvCxnSpPr>
        <p:spPr>
          <a:xfrm>
            <a:off x="7631340" y="4037749"/>
            <a:ext cx="70303" cy="11677"/>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08" name="Straight Connector 207">
            <a:extLst>
              <a:ext uri="{FF2B5EF4-FFF2-40B4-BE49-F238E27FC236}">
                <a16:creationId xmlns:a16="http://schemas.microsoft.com/office/drawing/2014/main" id="{A556C185-BAB5-4947-94CE-BFE700E87873}"/>
              </a:ext>
            </a:extLst>
          </p:cNvPr>
          <p:cNvCxnSpPr/>
          <p:nvPr/>
        </p:nvCxnSpPr>
        <p:spPr>
          <a:xfrm>
            <a:off x="7701643" y="4049426"/>
            <a:ext cx="70304" cy="1629"/>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09" name="Straight Connector 208">
            <a:extLst>
              <a:ext uri="{FF2B5EF4-FFF2-40B4-BE49-F238E27FC236}">
                <a16:creationId xmlns:a16="http://schemas.microsoft.com/office/drawing/2014/main" id="{C5BA6B0C-6AF5-4CF4-BEF0-F135DD1F45D4}"/>
              </a:ext>
            </a:extLst>
          </p:cNvPr>
          <p:cNvCxnSpPr/>
          <p:nvPr/>
        </p:nvCxnSpPr>
        <p:spPr>
          <a:xfrm>
            <a:off x="7771947" y="4051055"/>
            <a:ext cx="70303" cy="245"/>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10" name="Straight Connector 209">
            <a:extLst>
              <a:ext uri="{FF2B5EF4-FFF2-40B4-BE49-F238E27FC236}">
                <a16:creationId xmlns:a16="http://schemas.microsoft.com/office/drawing/2014/main" id="{10B0FD4C-8945-48E5-A6B4-533F626FD886}"/>
              </a:ext>
            </a:extLst>
          </p:cNvPr>
          <p:cNvCxnSpPr/>
          <p:nvPr/>
        </p:nvCxnSpPr>
        <p:spPr>
          <a:xfrm flipV="1">
            <a:off x="7842250" y="4051055"/>
            <a:ext cx="70303" cy="245"/>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11" name="Straight Connector 210">
            <a:extLst>
              <a:ext uri="{FF2B5EF4-FFF2-40B4-BE49-F238E27FC236}">
                <a16:creationId xmlns:a16="http://schemas.microsoft.com/office/drawing/2014/main" id="{CB137C07-37F4-4A26-B85C-4C6C9D5D5398}"/>
              </a:ext>
            </a:extLst>
          </p:cNvPr>
          <p:cNvCxnSpPr/>
          <p:nvPr/>
        </p:nvCxnSpPr>
        <p:spPr>
          <a:xfrm flipV="1">
            <a:off x="7912553" y="4049426"/>
            <a:ext cx="70304" cy="1629"/>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12" name="Straight Connector 211">
            <a:extLst>
              <a:ext uri="{FF2B5EF4-FFF2-40B4-BE49-F238E27FC236}">
                <a16:creationId xmlns:a16="http://schemas.microsoft.com/office/drawing/2014/main" id="{E67110FC-7EC2-4FF0-AD3F-8E99FB3C42C9}"/>
              </a:ext>
            </a:extLst>
          </p:cNvPr>
          <p:cNvCxnSpPr/>
          <p:nvPr/>
        </p:nvCxnSpPr>
        <p:spPr>
          <a:xfrm flipV="1">
            <a:off x="7982857" y="4037749"/>
            <a:ext cx="70303" cy="11677"/>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13" name="Straight Connector 212">
            <a:extLst>
              <a:ext uri="{FF2B5EF4-FFF2-40B4-BE49-F238E27FC236}">
                <a16:creationId xmlns:a16="http://schemas.microsoft.com/office/drawing/2014/main" id="{415D4CDC-8B3C-4715-A3F7-8E1341A14ECF}"/>
              </a:ext>
            </a:extLst>
          </p:cNvPr>
          <p:cNvCxnSpPr/>
          <p:nvPr/>
        </p:nvCxnSpPr>
        <p:spPr>
          <a:xfrm flipV="1">
            <a:off x="8053160" y="3940891"/>
            <a:ext cx="70305" cy="96858"/>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14" name="Straight Connector 213">
            <a:extLst>
              <a:ext uri="{FF2B5EF4-FFF2-40B4-BE49-F238E27FC236}">
                <a16:creationId xmlns:a16="http://schemas.microsoft.com/office/drawing/2014/main" id="{3DFB7B14-AD28-4467-B4F1-A03783193DCF}"/>
              </a:ext>
            </a:extLst>
          </p:cNvPr>
          <p:cNvCxnSpPr/>
          <p:nvPr/>
        </p:nvCxnSpPr>
        <p:spPr>
          <a:xfrm flipV="1">
            <a:off x="8123465" y="3594585"/>
            <a:ext cx="70303" cy="346306"/>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15" name="Straight Connector 214">
            <a:extLst>
              <a:ext uri="{FF2B5EF4-FFF2-40B4-BE49-F238E27FC236}">
                <a16:creationId xmlns:a16="http://schemas.microsoft.com/office/drawing/2014/main" id="{861B3A4A-D6A1-4BFD-91D6-AD2F7C58E7CE}"/>
              </a:ext>
            </a:extLst>
          </p:cNvPr>
          <p:cNvCxnSpPr/>
          <p:nvPr/>
        </p:nvCxnSpPr>
        <p:spPr>
          <a:xfrm flipV="1">
            <a:off x="8193768" y="3418270"/>
            <a:ext cx="70304" cy="176315"/>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16" name="Straight Connector 215">
            <a:extLst>
              <a:ext uri="{FF2B5EF4-FFF2-40B4-BE49-F238E27FC236}">
                <a16:creationId xmlns:a16="http://schemas.microsoft.com/office/drawing/2014/main" id="{CF0D2514-2172-4D54-8222-BD5E1F3B97FF}"/>
              </a:ext>
            </a:extLst>
          </p:cNvPr>
          <p:cNvCxnSpPr/>
          <p:nvPr/>
        </p:nvCxnSpPr>
        <p:spPr>
          <a:xfrm flipV="1">
            <a:off x="8264072" y="3394450"/>
            <a:ext cx="70303" cy="23820"/>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17" name="Straight Connector 216">
            <a:extLst>
              <a:ext uri="{FF2B5EF4-FFF2-40B4-BE49-F238E27FC236}">
                <a16:creationId xmlns:a16="http://schemas.microsoft.com/office/drawing/2014/main" id="{037F3BCC-7851-4F9D-930E-2835EDE3793B}"/>
              </a:ext>
            </a:extLst>
          </p:cNvPr>
          <p:cNvCxnSpPr/>
          <p:nvPr/>
        </p:nvCxnSpPr>
        <p:spPr>
          <a:xfrm flipV="1">
            <a:off x="8334375" y="3391412"/>
            <a:ext cx="70303" cy="3038"/>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18" name="Straight Connector 217">
            <a:extLst>
              <a:ext uri="{FF2B5EF4-FFF2-40B4-BE49-F238E27FC236}">
                <a16:creationId xmlns:a16="http://schemas.microsoft.com/office/drawing/2014/main" id="{A5357A24-60DB-4BCB-958E-2B893CA50647}"/>
              </a:ext>
            </a:extLst>
          </p:cNvPr>
          <p:cNvCxnSpPr/>
          <p:nvPr/>
        </p:nvCxnSpPr>
        <p:spPr>
          <a:xfrm flipV="1">
            <a:off x="8404678" y="3390923"/>
            <a:ext cx="70304" cy="489"/>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19" name="Straight Connector 218">
            <a:extLst>
              <a:ext uri="{FF2B5EF4-FFF2-40B4-BE49-F238E27FC236}">
                <a16:creationId xmlns:a16="http://schemas.microsoft.com/office/drawing/2014/main" id="{41BAD43E-F9F0-4571-9BD2-E42C062F6989}"/>
              </a:ext>
            </a:extLst>
          </p:cNvPr>
          <p:cNvCxnSpPr/>
          <p:nvPr/>
        </p:nvCxnSpPr>
        <p:spPr>
          <a:xfrm>
            <a:off x="8474982" y="3390923"/>
            <a:ext cx="70303" cy="75"/>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20" name="Straight Connector 219">
            <a:extLst>
              <a:ext uri="{FF2B5EF4-FFF2-40B4-BE49-F238E27FC236}">
                <a16:creationId xmlns:a16="http://schemas.microsoft.com/office/drawing/2014/main" id="{3A7D950E-F4A5-494E-8FF1-0CCA53FF6F0A}"/>
              </a:ext>
            </a:extLst>
          </p:cNvPr>
          <p:cNvCxnSpPr/>
          <p:nvPr/>
        </p:nvCxnSpPr>
        <p:spPr>
          <a:xfrm>
            <a:off x="8545285" y="3390998"/>
            <a:ext cx="70305" cy="894"/>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21" name="Straight Connector 220">
            <a:extLst>
              <a:ext uri="{FF2B5EF4-FFF2-40B4-BE49-F238E27FC236}">
                <a16:creationId xmlns:a16="http://schemas.microsoft.com/office/drawing/2014/main" id="{2961D4DE-A3BC-4333-A0F5-938DA9E690EF}"/>
              </a:ext>
            </a:extLst>
          </p:cNvPr>
          <p:cNvCxnSpPr/>
          <p:nvPr/>
        </p:nvCxnSpPr>
        <p:spPr>
          <a:xfrm>
            <a:off x="8615590" y="3391892"/>
            <a:ext cx="70303" cy="5860"/>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22" name="Straight Connector 221">
            <a:extLst>
              <a:ext uri="{FF2B5EF4-FFF2-40B4-BE49-F238E27FC236}">
                <a16:creationId xmlns:a16="http://schemas.microsoft.com/office/drawing/2014/main" id="{29315E2B-B64E-4D77-B74A-3760154B9C21}"/>
              </a:ext>
            </a:extLst>
          </p:cNvPr>
          <p:cNvCxnSpPr/>
          <p:nvPr/>
        </p:nvCxnSpPr>
        <p:spPr>
          <a:xfrm>
            <a:off x="8685893" y="3397752"/>
            <a:ext cx="70304" cy="48783"/>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23" name="Straight Connector 222">
            <a:extLst>
              <a:ext uri="{FF2B5EF4-FFF2-40B4-BE49-F238E27FC236}">
                <a16:creationId xmlns:a16="http://schemas.microsoft.com/office/drawing/2014/main" id="{5DEC52B4-C2A7-4094-9FDC-E3CE70B55325}"/>
              </a:ext>
            </a:extLst>
          </p:cNvPr>
          <p:cNvCxnSpPr/>
          <p:nvPr/>
        </p:nvCxnSpPr>
        <p:spPr>
          <a:xfrm>
            <a:off x="8756197" y="3446535"/>
            <a:ext cx="70303" cy="274565"/>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24" name="Straight Connector 223">
            <a:extLst>
              <a:ext uri="{FF2B5EF4-FFF2-40B4-BE49-F238E27FC236}">
                <a16:creationId xmlns:a16="http://schemas.microsoft.com/office/drawing/2014/main" id="{1CDB630F-1863-47E1-8D85-8F94B5386CC4}"/>
              </a:ext>
            </a:extLst>
          </p:cNvPr>
          <p:cNvCxnSpPr/>
          <p:nvPr/>
        </p:nvCxnSpPr>
        <p:spPr>
          <a:xfrm>
            <a:off x="8826500" y="3721100"/>
            <a:ext cx="70303" cy="274565"/>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25" name="Straight Connector 224">
            <a:extLst>
              <a:ext uri="{FF2B5EF4-FFF2-40B4-BE49-F238E27FC236}">
                <a16:creationId xmlns:a16="http://schemas.microsoft.com/office/drawing/2014/main" id="{083F2BD2-B211-4F68-91E9-8DC791BCA437}"/>
              </a:ext>
            </a:extLst>
          </p:cNvPr>
          <p:cNvCxnSpPr/>
          <p:nvPr/>
        </p:nvCxnSpPr>
        <p:spPr>
          <a:xfrm>
            <a:off x="8896803" y="3995665"/>
            <a:ext cx="70304" cy="48783"/>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26" name="Straight Connector 225">
            <a:extLst>
              <a:ext uri="{FF2B5EF4-FFF2-40B4-BE49-F238E27FC236}">
                <a16:creationId xmlns:a16="http://schemas.microsoft.com/office/drawing/2014/main" id="{AABF0700-73E0-4D1E-A7B8-0D244A89207E}"/>
              </a:ext>
            </a:extLst>
          </p:cNvPr>
          <p:cNvCxnSpPr/>
          <p:nvPr/>
        </p:nvCxnSpPr>
        <p:spPr>
          <a:xfrm>
            <a:off x="8967107" y="4044448"/>
            <a:ext cx="70303" cy="5860"/>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27" name="Straight Connector 226">
            <a:extLst>
              <a:ext uri="{FF2B5EF4-FFF2-40B4-BE49-F238E27FC236}">
                <a16:creationId xmlns:a16="http://schemas.microsoft.com/office/drawing/2014/main" id="{458E6970-D4D6-4C09-BB21-390F20CF1F80}"/>
              </a:ext>
            </a:extLst>
          </p:cNvPr>
          <p:cNvCxnSpPr/>
          <p:nvPr/>
        </p:nvCxnSpPr>
        <p:spPr>
          <a:xfrm>
            <a:off x="9037410" y="4050308"/>
            <a:ext cx="70305" cy="894"/>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28" name="Straight Connector 227">
            <a:extLst>
              <a:ext uri="{FF2B5EF4-FFF2-40B4-BE49-F238E27FC236}">
                <a16:creationId xmlns:a16="http://schemas.microsoft.com/office/drawing/2014/main" id="{FBC4343C-83F2-4D7C-B8CC-BE58F14EA47F}"/>
              </a:ext>
            </a:extLst>
          </p:cNvPr>
          <p:cNvCxnSpPr/>
          <p:nvPr/>
        </p:nvCxnSpPr>
        <p:spPr>
          <a:xfrm>
            <a:off x="9107715" y="4051202"/>
            <a:ext cx="70303" cy="75"/>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29" name="Straight Connector 228">
            <a:extLst>
              <a:ext uri="{FF2B5EF4-FFF2-40B4-BE49-F238E27FC236}">
                <a16:creationId xmlns:a16="http://schemas.microsoft.com/office/drawing/2014/main" id="{0551ABCE-4209-4CFF-9BA7-4E946A5F23FE}"/>
              </a:ext>
            </a:extLst>
          </p:cNvPr>
          <p:cNvCxnSpPr/>
          <p:nvPr/>
        </p:nvCxnSpPr>
        <p:spPr>
          <a:xfrm flipV="1">
            <a:off x="9178018" y="4050788"/>
            <a:ext cx="70304" cy="489"/>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30" name="Straight Connector 229">
            <a:extLst>
              <a:ext uri="{FF2B5EF4-FFF2-40B4-BE49-F238E27FC236}">
                <a16:creationId xmlns:a16="http://schemas.microsoft.com/office/drawing/2014/main" id="{F26D8F31-24E3-4AA8-A276-4A9C14C277AD}"/>
              </a:ext>
            </a:extLst>
          </p:cNvPr>
          <p:cNvCxnSpPr/>
          <p:nvPr/>
        </p:nvCxnSpPr>
        <p:spPr>
          <a:xfrm flipV="1">
            <a:off x="9248322" y="4047750"/>
            <a:ext cx="70303" cy="3038"/>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31" name="Straight Connector 230">
            <a:extLst>
              <a:ext uri="{FF2B5EF4-FFF2-40B4-BE49-F238E27FC236}">
                <a16:creationId xmlns:a16="http://schemas.microsoft.com/office/drawing/2014/main" id="{E5F58EBC-373D-4CBF-8CDA-CC6D3925B56F}"/>
              </a:ext>
            </a:extLst>
          </p:cNvPr>
          <p:cNvCxnSpPr/>
          <p:nvPr/>
        </p:nvCxnSpPr>
        <p:spPr>
          <a:xfrm flipV="1">
            <a:off x="9318625" y="4023930"/>
            <a:ext cx="70303" cy="23820"/>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32" name="Straight Connector 231">
            <a:extLst>
              <a:ext uri="{FF2B5EF4-FFF2-40B4-BE49-F238E27FC236}">
                <a16:creationId xmlns:a16="http://schemas.microsoft.com/office/drawing/2014/main" id="{5DC37D33-96BE-4F21-A0FC-0A7BF154DFBF}"/>
              </a:ext>
            </a:extLst>
          </p:cNvPr>
          <p:cNvCxnSpPr/>
          <p:nvPr/>
        </p:nvCxnSpPr>
        <p:spPr>
          <a:xfrm flipV="1">
            <a:off x="9388928" y="3847615"/>
            <a:ext cx="70304" cy="176315"/>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33" name="Straight Connector 232">
            <a:extLst>
              <a:ext uri="{FF2B5EF4-FFF2-40B4-BE49-F238E27FC236}">
                <a16:creationId xmlns:a16="http://schemas.microsoft.com/office/drawing/2014/main" id="{FC4A1FDA-4304-4967-8670-7BE954EE4A2E}"/>
              </a:ext>
            </a:extLst>
          </p:cNvPr>
          <p:cNvCxnSpPr/>
          <p:nvPr/>
        </p:nvCxnSpPr>
        <p:spPr>
          <a:xfrm flipV="1">
            <a:off x="9459232" y="3501309"/>
            <a:ext cx="70303" cy="346306"/>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34" name="Straight Connector 233">
            <a:extLst>
              <a:ext uri="{FF2B5EF4-FFF2-40B4-BE49-F238E27FC236}">
                <a16:creationId xmlns:a16="http://schemas.microsoft.com/office/drawing/2014/main" id="{E9E88786-7879-4598-A7F0-260E926D99C1}"/>
              </a:ext>
            </a:extLst>
          </p:cNvPr>
          <p:cNvCxnSpPr/>
          <p:nvPr/>
        </p:nvCxnSpPr>
        <p:spPr>
          <a:xfrm flipV="1">
            <a:off x="9529535" y="3404451"/>
            <a:ext cx="70305" cy="96858"/>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35" name="Straight Connector 234">
            <a:extLst>
              <a:ext uri="{FF2B5EF4-FFF2-40B4-BE49-F238E27FC236}">
                <a16:creationId xmlns:a16="http://schemas.microsoft.com/office/drawing/2014/main" id="{4B401603-6147-4680-AE9F-FD08554B605C}"/>
              </a:ext>
            </a:extLst>
          </p:cNvPr>
          <p:cNvCxnSpPr/>
          <p:nvPr/>
        </p:nvCxnSpPr>
        <p:spPr>
          <a:xfrm flipV="1">
            <a:off x="9599840" y="3392774"/>
            <a:ext cx="70303" cy="11677"/>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36" name="Straight Connector 235">
            <a:extLst>
              <a:ext uri="{FF2B5EF4-FFF2-40B4-BE49-F238E27FC236}">
                <a16:creationId xmlns:a16="http://schemas.microsoft.com/office/drawing/2014/main" id="{891CFF4B-7F33-4E09-9390-713612CE1297}"/>
              </a:ext>
            </a:extLst>
          </p:cNvPr>
          <p:cNvCxnSpPr/>
          <p:nvPr/>
        </p:nvCxnSpPr>
        <p:spPr>
          <a:xfrm flipV="1">
            <a:off x="9670143" y="3391145"/>
            <a:ext cx="70304" cy="1629"/>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37" name="Straight Connector 236">
            <a:extLst>
              <a:ext uri="{FF2B5EF4-FFF2-40B4-BE49-F238E27FC236}">
                <a16:creationId xmlns:a16="http://schemas.microsoft.com/office/drawing/2014/main" id="{68543E3D-B07D-4774-A4B5-230E665E6945}"/>
              </a:ext>
            </a:extLst>
          </p:cNvPr>
          <p:cNvCxnSpPr/>
          <p:nvPr/>
        </p:nvCxnSpPr>
        <p:spPr>
          <a:xfrm flipV="1">
            <a:off x="9740447" y="3390900"/>
            <a:ext cx="70303" cy="245"/>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38" name="Straight Connector 237">
            <a:extLst>
              <a:ext uri="{FF2B5EF4-FFF2-40B4-BE49-F238E27FC236}">
                <a16:creationId xmlns:a16="http://schemas.microsoft.com/office/drawing/2014/main" id="{7840C433-03FE-42BC-AE42-1D3E599349AD}"/>
              </a:ext>
            </a:extLst>
          </p:cNvPr>
          <p:cNvCxnSpPr/>
          <p:nvPr/>
        </p:nvCxnSpPr>
        <p:spPr>
          <a:xfrm>
            <a:off x="9810750" y="3390900"/>
            <a:ext cx="70303" cy="245"/>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39" name="Straight Connector 238">
            <a:extLst>
              <a:ext uri="{FF2B5EF4-FFF2-40B4-BE49-F238E27FC236}">
                <a16:creationId xmlns:a16="http://schemas.microsoft.com/office/drawing/2014/main" id="{5240F2DD-4C8A-4CB6-BF9E-A75AAE1EA422}"/>
              </a:ext>
            </a:extLst>
          </p:cNvPr>
          <p:cNvCxnSpPr/>
          <p:nvPr/>
        </p:nvCxnSpPr>
        <p:spPr>
          <a:xfrm>
            <a:off x="9881053" y="3391145"/>
            <a:ext cx="70304" cy="1629"/>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40" name="Straight Connector 239">
            <a:extLst>
              <a:ext uri="{FF2B5EF4-FFF2-40B4-BE49-F238E27FC236}">
                <a16:creationId xmlns:a16="http://schemas.microsoft.com/office/drawing/2014/main" id="{72647B70-E446-4184-8D46-600CBF81BEF4}"/>
              </a:ext>
            </a:extLst>
          </p:cNvPr>
          <p:cNvCxnSpPr/>
          <p:nvPr/>
        </p:nvCxnSpPr>
        <p:spPr>
          <a:xfrm>
            <a:off x="9951357" y="3392774"/>
            <a:ext cx="70303" cy="11677"/>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41" name="Straight Connector 240">
            <a:extLst>
              <a:ext uri="{FF2B5EF4-FFF2-40B4-BE49-F238E27FC236}">
                <a16:creationId xmlns:a16="http://schemas.microsoft.com/office/drawing/2014/main" id="{C837CD45-31DA-485A-A998-03CFAC58AA2D}"/>
              </a:ext>
            </a:extLst>
          </p:cNvPr>
          <p:cNvCxnSpPr/>
          <p:nvPr/>
        </p:nvCxnSpPr>
        <p:spPr>
          <a:xfrm>
            <a:off x="10021660" y="3404451"/>
            <a:ext cx="70305" cy="96858"/>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42" name="Straight Connector 241">
            <a:extLst>
              <a:ext uri="{FF2B5EF4-FFF2-40B4-BE49-F238E27FC236}">
                <a16:creationId xmlns:a16="http://schemas.microsoft.com/office/drawing/2014/main" id="{6DC74C93-137E-4DC1-856D-A87EB09498C0}"/>
              </a:ext>
            </a:extLst>
          </p:cNvPr>
          <p:cNvCxnSpPr/>
          <p:nvPr/>
        </p:nvCxnSpPr>
        <p:spPr>
          <a:xfrm>
            <a:off x="10091965" y="3501309"/>
            <a:ext cx="70303" cy="346306"/>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43" name="Straight Connector 242">
            <a:extLst>
              <a:ext uri="{FF2B5EF4-FFF2-40B4-BE49-F238E27FC236}">
                <a16:creationId xmlns:a16="http://schemas.microsoft.com/office/drawing/2014/main" id="{D7CBE32A-179A-4417-8382-0082CF5FDF2F}"/>
              </a:ext>
            </a:extLst>
          </p:cNvPr>
          <p:cNvCxnSpPr/>
          <p:nvPr/>
        </p:nvCxnSpPr>
        <p:spPr>
          <a:xfrm>
            <a:off x="10162268" y="3847615"/>
            <a:ext cx="70304" cy="176315"/>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44" name="Straight Connector 243">
            <a:extLst>
              <a:ext uri="{FF2B5EF4-FFF2-40B4-BE49-F238E27FC236}">
                <a16:creationId xmlns:a16="http://schemas.microsoft.com/office/drawing/2014/main" id="{622E2D51-0C59-4668-9B30-613B763569B7}"/>
              </a:ext>
            </a:extLst>
          </p:cNvPr>
          <p:cNvCxnSpPr/>
          <p:nvPr/>
        </p:nvCxnSpPr>
        <p:spPr>
          <a:xfrm>
            <a:off x="10232572" y="4023930"/>
            <a:ext cx="70303" cy="23820"/>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45" name="Straight Connector 244">
            <a:extLst>
              <a:ext uri="{FF2B5EF4-FFF2-40B4-BE49-F238E27FC236}">
                <a16:creationId xmlns:a16="http://schemas.microsoft.com/office/drawing/2014/main" id="{81101AC9-2261-40A6-A562-50238F75FC4D}"/>
              </a:ext>
            </a:extLst>
          </p:cNvPr>
          <p:cNvCxnSpPr/>
          <p:nvPr/>
        </p:nvCxnSpPr>
        <p:spPr>
          <a:xfrm>
            <a:off x="10302875" y="4047750"/>
            <a:ext cx="70303" cy="3038"/>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46" name="Straight Connector 245">
            <a:extLst>
              <a:ext uri="{FF2B5EF4-FFF2-40B4-BE49-F238E27FC236}">
                <a16:creationId xmlns:a16="http://schemas.microsoft.com/office/drawing/2014/main" id="{6C6760B5-4016-4A63-8A61-745953366996}"/>
              </a:ext>
            </a:extLst>
          </p:cNvPr>
          <p:cNvCxnSpPr/>
          <p:nvPr/>
        </p:nvCxnSpPr>
        <p:spPr>
          <a:xfrm>
            <a:off x="10373178" y="4050788"/>
            <a:ext cx="70304" cy="489"/>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47" name="Straight Connector 246">
            <a:extLst>
              <a:ext uri="{FF2B5EF4-FFF2-40B4-BE49-F238E27FC236}">
                <a16:creationId xmlns:a16="http://schemas.microsoft.com/office/drawing/2014/main" id="{5DE03357-B503-493B-B330-33AC488F4C36}"/>
              </a:ext>
            </a:extLst>
          </p:cNvPr>
          <p:cNvCxnSpPr/>
          <p:nvPr/>
        </p:nvCxnSpPr>
        <p:spPr>
          <a:xfrm flipV="1">
            <a:off x="10443482" y="4051202"/>
            <a:ext cx="70303" cy="75"/>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48" name="Straight Connector 247">
            <a:extLst>
              <a:ext uri="{FF2B5EF4-FFF2-40B4-BE49-F238E27FC236}">
                <a16:creationId xmlns:a16="http://schemas.microsoft.com/office/drawing/2014/main" id="{1245FEC6-87BD-49DF-86D7-31D073481B96}"/>
              </a:ext>
            </a:extLst>
          </p:cNvPr>
          <p:cNvCxnSpPr/>
          <p:nvPr/>
        </p:nvCxnSpPr>
        <p:spPr>
          <a:xfrm flipV="1">
            <a:off x="10513785" y="4050308"/>
            <a:ext cx="70305" cy="894"/>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49" name="Straight Connector 248">
            <a:extLst>
              <a:ext uri="{FF2B5EF4-FFF2-40B4-BE49-F238E27FC236}">
                <a16:creationId xmlns:a16="http://schemas.microsoft.com/office/drawing/2014/main" id="{CDD1E7E4-234E-43D3-8FE3-C2DEE8D6A730}"/>
              </a:ext>
            </a:extLst>
          </p:cNvPr>
          <p:cNvCxnSpPr/>
          <p:nvPr/>
        </p:nvCxnSpPr>
        <p:spPr>
          <a:xfrm flipV="1">
            <a:off x="10584090" y="4044448"/>
            <a:ext cx="70303" cy="5860"/>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50" name="Straight Connector 249">
            <a:extLst>
              <a:ext uri="{FF2B5EF4-FFF2-40B4-BE49-F238E27FC236}">
                <a16:creationId xmlns:a16="http://schemas.microsoft.com/office/drawing/2014/main" id="{3673F682-B7C3-45BF-BF03-EA8700822BCD}"/>
              </a:ext>
            </a:extLst>
          </p:cNvPr>
          <p:cNvCxnSpPr/>
          <p:nvPr/>
        </p:nvCxnSpPr>
        <p:spPr>
          <a:xfrm flipV="1">
            <a:off x="10654393" y="3995665"/>
            <a:ext cx="70304" cy="48783"/>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251" name="Straight Connector 250">
            <a:extLst>
              <a:ext uri="{FF2B5EF4-FFF2-40B4-BE49-F238E27FC236}">
                <a16:creationId xmlns:a16="http://schemas.microsoft.com/office/drawing/2014/main" id="{082C95D0-EFEA-4ACA-8E4A-D3D390899D28}"/>
              </a:ext>
            </a:extLst>
          </p:cNvPr>
          <p:cNvCxnSpPr/>
          <p:nvPr/>
        </p:nvCxnSpPr>
        <p:spPr>
          <a:xfrm flipV="1">
            <a:off x="10724697" y="3721100"/>
            <a:ext cx="70303" cy="274565"/>
          </a:xfrm>
          <a:prstGeom prst="line">
            <a:avLst/>
          </a:prstGeom>
          <a:ln w="21590">
            <a:solidFill>
              <a:srgbClr val="FF64A5"/>
            </a:solidFill>
          </a:ln>
        </p:spPr>
        <p:style>
          <a:lnRef idx="1">
            <a:schemeClr val="accent1"/>
          </a:lnRef>
          <a:fillRef idx="0">
            <a:schemeClr val="accent1"/>
          </a:fillRef>
          <a:effectRef idx="0">
            <a:schemeClr val="accent1"/>
          </a:effectRef>
          <a:fontRef idx="minor">
            <a:schemeClr val="tx1"/>
          </a:fontRef>
        </p:style>
      </p:cxnSp>
      <p:sp>
        <p:nvSpPr>
          <p:cNvPr id="252" name="TextBox 251">
            <a:extLst>
              <a:ext uri="{FF2B5EF4-FFF2-40B4-BE49-F238E27FC236}">
                <a16:creationId xmlns:a16="http://schemas.microsoft.com/office/drawing/2014/main" id="{B86EF35A-3CCF-4CAD-81FB-558A33C9F40B}"/>
              </a:ext>
            </a:extLst>
          </p:cNvPr>
          <p:cNvSpPr txBox="1"/>
          <p:nvPr/>
        </p:nvSpPr>
        <p:spPr>
          <a:xfrm>
            <a:off x="889000" y="4419600"/>
            <a:ext cx="10414000" cy="292388"/>
          </a:xfrm>
          <a:prstGeom prst="rect">
            <a:avLst/>
          </a:prstGeom>
          <a:noFill/>
        </p:spPr>
        <p:txBody>
          <a:bodyPr vert="horz" wrap="square" lIns="0" tIns="0" rIns="0" bIns="0" rtlCol="0">
            <a:spAutoFit/>
          </a:bodyPr>
          <a:lstStyle/>
          <a:p>
            <a:r>
              <a:rPr lang="en-US" sz="1900">
                <a:solidFill>
                  <a:srgbClr val="CCDDEC"/>
                </a:solidFill>
                <a:latin typeface="Aptos"/>
              </a:rPr>
              <a:t>Tanh compresses high peaks smoothly. That nonlinear change creates extra harmonics.</a:t>
            </a:r>
          </a:p>
        </p:txBody>
      </p:sp>
      <p:sp>
        <p:nvSpPr>
          <p:cNvPr id="253" name="Rectangle 252">
            <a:extLst>
              <a:ext uri="{FF2B5EF4-FFF2-40B4-BE49-F238E27FC236}">
                <a16:creationId xmlns:a16="http://schemas.microsoft.com/office/drawing/2014/main" id="{CCE60DD6-B753-4061-9B42-A200F0DE1A10}"/>
              </a:ext>
            </a:extLst>
          </p:cNvPr>
          <p:cNvSpPr/>
          <p:nvPr/>
        </p:nvSpPr>
        <p:spPr>
          <a:xfrm>
            <a:off x="863600" y="5156200"/>
            <a:ext cx="10464800" cy="558800"/>
          </a:xfrm>
          <a:prstGeom prst="rect">
            <a:avLst/>
          </a:prstGeom>
          <a:solidFill>
            <a:srgbClr val="0F2235"/>
          </a:solidFill>
          <a:ln w="10160">
            <a:solidFill>
              <a:srgbClr val="264B6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4" name="TextBox 253">
            <a:extLst>
              <a:ext uri="{FF2B5EF4-FFF2-40B4-BE49-F238E27FC236}">
                <a16:creationId xmlns:a16="http://schemas.microsoft.com/office/drawing/2014/main" id="{C60A744B-0A2D-435C-BC0B-0469377D94E2}"/>
              </a:ext>
            </a:extLst>
          </p:cNvPr>
          <p:cNvSpPr txBox="1"/>
          <p:nvPr/>
        </p:nvSpPr>
        <p:spPr>
          <a:xfrm>
            <a:off x="1066800" y="5283200"/>
            <a:ext cx="10058400" cy="204671"/>
          </a:xfrm>
          <a:prstGeom prst="rect">
            <a:avLst/>
          </a:prstGeom>
          <a:noFill/>
        </p:spPr>
        <p:txBody>
          <a:bodyPr vert="horz" wrap="square" lIns="0" tIns="0" rIns="0" bIns="0" rtlCol="0">
            <a:spAutoFit/>
          </a:bodyPr>
          <a:lstStyle/>
          <a:p>
            <a:r>
              <a:rPr lang="en-US" sz="1330">
                <a:solidFill>
                  <a:srgbClr val="37D9E9"/>
                </a:solidFill>
                <a:latin typeface="Consolas" panose="020B0609020204030204" pitchFamily="49" charset="0"/>
              </a:rPr>
              <a:t>drive = 1 + 24 * amount; output = tanh(drive * audio) / tanh(drive)</a:t>
            </a:r>
          </a:p>
        </p:txBody>
      </p:sp>
      <p:sp>
        <p:nvSpPr>
          <p:cNvPr id="255" name="TextBox 254">
            <a:extLst>
              <a:ext uri="{FF2B5EF4-FFF2-40B4-BE49-F238E27FC236}">
                <a16:creationId xmlns:a16="http://schemas.microsoft.com/office/drawing/2014/main" id="{CE0F5EDE-AB4F-429C-97C4-936A8BE756FA}"/>
              </a:ext>
            </a:extLst>
          </p:cNvPr>
          <p:cNvSpPr txBox="1"/>
          <p:nvPr/>
        </p:nvSpPr>
        <p:spPr>
          <a:xfrm>
            <a:off x="889000" y="5918200"/>
            <a:ext cx="1841500" cy="169277"/>
          </a:xfrm>
          <a:prstGeom prst="rect">
            <a:avLst/>
          </a:prstGeom>
          <a:noFill/>
        </p:spPr>
        <p:txBody>
          <a:bodyPr vert="horz" wrap="square" lIns="0" tIns="0" rIns="0" bIns="0" rtlCol="0">
            <a:spAutoFit/>
          </a:bodyPr>
          <a:lstStyle/>
          <a:p>
            <a:r>
              <a:rPr lang="en-US" sz="1100" b="1">
                <a:solidFill>
                  <a:srgbClr val="FF64A5"/>
                </a:solidFill>
                <a:latin typeface="Bahnschrift" panose="020B0502040204020203" pitchFamily="34" charset="0"/>
              </a:rPr>
              <a:t>TRY IN THE APP</a:t>
            </a:r>
          </a:p>
        </p:txBody>
      </p:sp>
      <p:sp>
        <p:nvSpPr>
          <p:cNvPr id="256" name="TextBox 255">
            <a:extLst>
              <a:ext uri="{FF2B5EF4-FFF2-40B4-BE49-F238E27FC236}">
                <a16:creationId xmlns:a16="http://schemas.microsoft.com/office/drawing/2014/main" id="{3478C77A-9B39-4952-8C1D-57CAD77C9095}"/>
              </a:ext>
            </a:extLst>
          </p:cNvPr>
          <p:cNvSpPr txBox="1"/>
          <p:nvPr/>
        </p:nvSpPr>
        <p:spPr>
          <a:xfrm>
            <a:off x="2794000" y="5880100"/>
            <a:ext cx="8483600" cy="230832"/>
          </a:xfrm>
          <a:prstGeom prst="rect">
            <a:avLst/>
          </a:prstGeom>
          <a:noFill/>
        </p:spPr>
        <p:txBody>
          <a:bodyPr vert="horz" wrap="square" lIns="0" tIns="0" rIns="0" bIns="0" rtlCol="0">
            <a:spAutoFit/>
          </a:bodyPr>
          <a:lstStyle/>
          <a:p>
            <a:r>
              <a:rPr lang="en-US" sz="1500">
                <a:solidFill>
                  <a:srgbClr val="CCDDEC"/>
                </a:solidFill>
                <a:latin typeface="Aptos"/>
              </a:rPr>
              <a:t>Choose Distortion; raise amount and compare the spectrum.</a:t>
            </a:r>
          </a:p>
        </p:txBody>
      </p:sp>
      <p:sp>
        <p:nvSpPr>
          <p:cNvPr id="257" name="Rectangle 256">
            <a:extLst>
              <a:ext uri="{FF2B5EF4-FFF2-40B4-BE49-F238E27FC236}">
                <a16:creationId xmlns:a16="http://schemas.microsoft.com/office/drawing/2014/main" id="{2FC09D8A-8B50-48F8-B59D-BDAFFAFE595B}"/>
              </a:ext>
            </a:extLst>
          </p:cNvPr>
          <p:cNvSpPr/>
          <p:nvPr/>
        </p:nvSpPr>
        <p:spPr>
          <a:xfrm>
            <a:off x="533400" y="381000"/>
            <a:ext cx="50800" cy="495300"/>
          </a:xfrm>
          <a:prstGeom prst="rect">
            <a:avLst/>
          </a:prstGeom>
          <a:solidFill>
            <a:srgbClr val="37D9E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8" name="TextBox 257">
            <a:extLst>
              <a:ext uri="{FF2B5EF4-FFF2-40B4-BE49-F238E27FC236}">
                <a16:creationId xmlns:a16="http://schemas.microsoft.com/office/drawing/2014/main" id="{BBF41D83-0894-43B8-9702-A9C7D368A836}"/>
              </a:ext>
            </a:extLst>
          </p:cNvPr>
          <p:cNvSpPr txBox="1"/>
          <p:nvPr/>
        </p:nvSpPr>
        <p:spPr>
          <a:xfrm>
            <a:off x="9779000" y="927100"/>
            <a:ext cx="1676400" cy="138499"/>
          </a:xfrm>
          <a:prstGeom prst="rect">
            <a:avLst/>
          </a:prstGeom>
          <a:noFill/>
        </p:spPr>
        <p:txBody>
          <a:bodyPr vert="horz" wrap="square" lIns="0" tIns="0" rIns="0" bIns="0" rtlCol="0">
            <a:spAutoFit/>
          </a:bodyPr>
          <a:lstStyle/>
          <a:p>
            <a:pPr algn="r"/>
            <a:r>
              <a:rPr lang="en-US" sz="900">
                <a:solidFill>
                  <a:srgbClr val="85A0B8"/>
                </a:solidFill>
                <a:latin typeface="Bahnschrift" panose="020B0502040204020203" pitchFamily="34" charset="0"/>
              </a:rPr>
              <a:t>ANALYSIS  /  11</a:t>
            </a:r>
          </a:p>
        </p:txBody>
      </p:sp>
      <p:sp>
        <p:nvSpPr>
          <p:cNvPr id="259" name="TextBox 258">
            <a:extLst>
              <a:ext uri="{FF2B5EF4-FFF2-40B4-BE49-F238E27FC236}">
                <a16:creationId xmlns:a16="http://schemas.microsoft.com/office/drawing/2014/main" id="{CAAB7B61-416A-4169-BCD0-7BD1694F1FF5}"/>
              </a:ext>
            </a:extLst>
          </p:cNvPr>
          <p:cNvSpPr txBox="1"/>
          <p:nvPr/>
        </p:nvSpPr>
        <p:spPr>
          <a:xfrm>
            <a:off x="9994900" y="2108200"/>
            <a:ext cx="1117600" cy="138499"/>
          </a:xfrm>
          <a:prstGeom prst="rect">
            <a:avLst/>
          </a:prstGeom>
          <a:noFill/>
        </p:spPr>
        <p:txBody>
          <a:bodyPr vert="horz" wrap="square" lIns="0" tIns="0" rIns="0" bIns="0" rtlCol="0">
            <a:spAutoFit/>
          </a:bodyPr>
          <a:lstStyle/>
          <a:p>
            <a:r>
              <a:rPr lang="en-US" sz="900" b="1">
                <a:solidFill>
                  <a:srgbClr val="85A0B8"/>
                </a:solidFill>
                <a:latin typeface="Bahnschrift" panose="020B0502040204020203" pitchFamily="34" charset="0"/>
              </a:rPr>
              <a:t>SCHEMATIC</a:t>
            </a:r>
          </a:p>
        </p:txBody>
      </p:sp>
    </p:spTree>
    <p:extLst>
      <p:ext uri="{BB962C8B-B14F-4D97-AF65-F5344CB8AC3E}">
        <p14:creationId xmlns:p14="http://schemas.microsoft.com/office/powerpoint/2010/main" val="17642093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435B12C-D8F6-4FB2-AA03-AB246F004A9C}"/>
              </a:ext>
            </a:extLst>
          </p:cNvPr>
          <p:cNvSpPr/>
          <p:nvPr/>
        </p:nvSpPr>
        <p:spPr>
          <a:xfrm>
            <a:off x="0" y="0"/>
            <a:ext cx="12192000" cy="6858000"/>
          </a:xfrm>
          <a:prstGeom prst="rect">
            <a:avLst/>
          </a:prstGeom>
          <a:solidFill>
            <a:srgbClr val="08122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6C70FEE7-7A7F-487A-B94C-9FCF00CFE494}"/>
              </a:ext>
            </a:extLst>
          </p:cNvPr>
          <p:cNvSpPr txBox="1"/>
          <p:nvPr/>
        </p:nvSpPr>
        <p:spPr>
          <a:xfrm>
            <a:off x="685800" y="368300"/>
            <a:ext cx="10795000" cy="492443"/>
          </a:xfrm>
          <a:prstGeom prst="rect">
            <a:avLst/>
          </a:prstGeom>
          <a:noFill/>
        </p:spPr>
        <p:txBody>
          <a:bodyPr vert="horz" wrap="square" lIns="0" tIns="0" rIns="0" bIns="0" rtlCol="0">
            <a:spAutoFit/>
          </a:bodyPr>
          <a:lstStyle/>
          <a:p>
            <a:r>
              <a:rPr lang="en-US" sz="3200" b="1">
                <a:solidFill>
                  <a:srgbClr val="EEF6FF"/>
                </a:solidFill>
                <a:latin typeface="Bahnschrift" panose="020B0502040204020203" pitchFamily="34" charset="0"/>
              </a:rPr>
              <a:t>Musical onsets and pitch</a:t>
            </a:r>
          </a:p>
        </p:txBody>
      </p:sp>
      <p:cxnSp>
        <p:nvCxnSpPr>
          <p:cNvPr id="4" name="Straight Connector 3">
            <a:extLst>
              <a:ext uri="{FF2B5EF4-FFF2-40B4-BE49-F238E27FC236}">
                <a16:creationId xmlns:a16="http://schemas.microsoft.com/office/drawing/2014/main" id="{4A49BF5B-F57A-4F71-9192-6A5690E538C2}"/>
              </a:ext>
            </a:extLst>
          </p:cNvPr>
          <p:cNvCxnSpPr/>
          <p:nvPr/>
        </p:nvCxnSpPr>
        <p:spPr>
          <a:xfrm>
            <a:off x="685800" y="1168400"/>
            <a:ext cx="10820400" cy="0"/>
          </a:xfrm>
          <a:prstGeom prst="line">
            <a:avLst/>
          </a:prstGeom>
          <a:ln w="17780">
            <a:solidFill>
              <a:srgbClr val="37D9E9"/>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6843B60D-A13F-4278-8291-9DFA0A247A50}"/>
              </a:ext>
            </a:extLst>
          </p:cNvPr>
          <p:cNvSpPr txBox="1"/>
          <p:nvPr/>
        </p:nvSpPr>
        <p:spPr>
          <a:xfrm>
            <a:off x="685800" y="6502400"/>
            <a:ext cx="3810000" cy="153888"/>
          </a:xfrm>
          <a:prstGeom prst="rect">
            <a:avLst/>
          </a:prstGeom>
          <a:noFill/>
        </p:spPr>
        <p:txBody>
          <a:bodyPr vert="horz" wrap="square" lIns="0" tIns="0" rIns="0" bIns="0" rtlCol="0">
            <a:spAutoFit/>
          </a:bodyPr>
          <a:lstStyle/>
          <a:p>
            <a:r>
              <a:rPr lang="en-US" sz="1000" b="1">
                <a:solidFill>
                  <a:srgbClr val="85A0B8"/>
                </a:solidFill>
                <a:latin typeface="Aptos"/>
              </a:rPr>
              <a:t>SIGNAL STUDIO</a:t>
            </a:r>
          </a:p>
        </p:txBody>
      </p:sp>
      <p:sp>
        <p:nvSpPr>
          <p:cNvPr id="6" name="TextBox 5">
            <a:extLst>
              <a:ext uri="{FF2B5EF4-FFF2-40B4-BE49-F238E27FC236}">
                <a16:creationId xmlns:a16="http://schemas.microsoft.com/office/drawing/2014/main" id="{74467141-AB74-4656-BCC3-41764FE26989}"/>
              </a:ext>
            </a:extLst>
          </p:cNvPr>
          <p:cNvSpPr txBox="1"/>
          <p:nvPr/>
        </p:nvSpPr>
        <p:spPr>
          <a:xfrm>
            <a:off x="11430000" y="6502400"/>
            <a:ext cx="444500" cy="153888"/>
          </a:xfrm>
          <a:prstGeom prst="rect">
            <a:avLst/>
          </a:prstGeom>
          <a:noFill/>
        </p:spPr>
        <p:txBody>
          <a:bodyPr vert="horz" wrap="square" lIns="0" tIns="0" rIns="0" bIns="0" rtlCol="0">
            <a:spAutoFit/>
          </a:bodyPr>
          <a:lstStyle/>
          <a:p>
            <a:pPr algn="r"/>
            <a:r>
              <a:rPr lang="en-US" sz="1000" b="1">
                <a:solidFill>
                  <a:srgbClr val="37D9E9"/>
                </a:solidFill>
                <a:latin typeface="Bahnschrift" panose="020B0502040204020203" pitchFamily="34" charset="0"/>
              </a:rPr>
              <a:t>12</a:t>
            </a:r>
          </a:p>
        </p:txBody>
      </p:sp>
      <p:pic>
        <p:nvPicPr>
          <p:cNvPr id="8" name="Picture 7">
            <a:extLst>
              <a:ext uri="{FF2B5EF4-FFF2-40B4-BE49-F238E27FC236}">
                <a16:creationId xmlns:a16="http://schemas.microsoft.com/office/drawing/2014/main" id="{C10C11F0-9CE4-48AE-A390-2DBC4118F9F2}"/>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81000" y="1346200"/>
            <a:ext cx="11430000" cy="4648200"/>
          </a:xfrm>
          <a:prstGeom prst="rect">
            <a:avLst/>
          </a:prstGeom>
        </p:spPr>
      </p:pic>
      <p:sp>
        <p:nvSpPr>
          <p:cNvPr id="9" name="TextBox 8">
            <a:extLst>
              <a:ext uri="{FF2B5EF4-FFF2-40B4-BE49-F238E27FC236}">
                <a16:creationId xmlns:a16="http://schemas.microsoft.com/office/drawing/2014/main" id="{139BC269-CC51-4F71-9996-0BA88561C55C}"/>
              </a:ext>
            </a:extLst>
          </p:cNvPr>
          <p:cNvSpPr txBox="1"/>
          <p:nvPr/>
        </p:nvSpPr>
        <p:spPr>
          <a:xfrm>
            <a:off x="673100" y="6045200"/>
            <a:ext cx="10845800" cy="276999"/>
          </a:xfrm>
          <a:prstGeom prst="rect">
            <a:avLst/>
          </a:prstGeom>
          <a:noFill/>
        </p:spPr>
        <p:txBody>
          <a:bodyPr vert="horz" wrap="square" lIns="0" tIns="0" rIns="0" bIns="0" rtlCol="0">
            <a:spAutoFit/>
          </a:bodyPr>
          <a:lstStyle/>
          <a:p>
            <a:r>
              <a:rPr lang="en-US">
                <a:solidFill>
                  <a:srgbClr val="CCDDEC"/>
                </a:solidFill>
                <a:latin typeface="Aptos"/>
              </a:rPr>
              <a:t>Onsets: positive STFT magnitude changes.   Pitch: frequency = sample rate / repeating lag.</a:t>
            </a:r>
          </a:p>
        </p:txBody>
      </p:sp>
      <p:sp>
        <p:nvSpPr>
          <p:cNvPr id="7" name="Rectangle 6">
            <a:extLst>
              <a:ext uri="{FF2B5EF4-FFF2-40B4-BE49-F238E27FC236}">
                <a16:creationId xmlns:a16="http://schemas.microsoft.com/office/drawing/2014/main" id="{8F008345-2AD1-4516-88E4-5EA1B7148465}"/>
              </a:ext>
            </a:extLst>
          </p:cNvPr>
          <p:cNvSpPr/>
          <p:nvPr/>
        </p:nvSpPr>
        <p:spPr>
          <a:xfrm>
            <a:off x="533400" y="381000"/>
            <a:ext cx="50800" cy="495300"/>
          </a:xfrm>
          <a:prstGeom prst="rect">
            <a:avLst/>
          </a:prstGeom>
          <a:solidFill>
            <a:srgbClr val="37D9E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49FDF348-6A83-4FBF-9D6D-8EB10842F82A}"/>
              </a:ext>
            </a:extLst>
          </p:cNvPr>
          <p:cNvSpPr txBox="1"/>
          <p:nvPr/>
        </p:nvSpPr>
        <p:spPr>
          <a:xfrm>
            <a:off x="9779000" y="927100"/>
            <a:ext cx="1676400" cy="230832"/>
          </a:xfrm>
          <a:prstGeom prst="rect">
            <a:avLst/>
          </a:prstGeom>
          <a:noFill/>
        </p:spPr>
        <p:txBody>
          <a:bodyPr vert="horz" rtlCol="0">
            <a:spAutoFit/>
          </a:bodyPr>
          <a:lstStyle/>
          <a:p>
            <a:pPr algn="r"/>
            <a:r>
              <a:rPr lang="en-US" sz="900">
                <a:solidFill>
                  <a:srgbClr val="85A0B8"/>
                </a:solidFill>
                <a:latin typeface="Bahnschrift" panose="020B0502040204020203" pitchFamily="34" charset="0"/>
              </a:rPr>
              <a:t>ANALYSIS  /  12</a:t>
            </a:r>
          </a:p>
        </p:txBody>
      </p:sp>
    </p:spTree>
    <p:extLst>
      <p:ext uri="{BB962C8B-B14F-4D97-AF65-F5344CB8AC3E}">
        <p14:creationId xmlns:p14="http://schemas.microsoft.com/office/powerpoint/2010/main" val="42282618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B5BA698-1FEE-487B-9104-A6A16A73E5E1}"/>
              </a:ext>
            </a:extLst>
          </p:cNvPr>
          <p:cNvSpPr/>
          <p:nvPr/>
        </p:nvSpPr>
        <p:spPr>
          <a:xfrm>
            <a:off x="0" y="0"/>
            <a:ext cx="12192000" cy="6858000"/>
          </a:xfrm>
          <a:prstGeom prst="rect">
            <a:avLst/>
          </a:prstGeom>
          <a:solidFill>
            <a:srgbClr val="08122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E15CC62A-3840-401F-AEEC-9DBA25CF1668}"/>
              </a:ext>
            </a:extLst>
          </p:cNvPr>
          <p:cNvSpPr txBox="1"/>
          <p:nvPr/>
        </p:nvSpPr>
        <p:spPr>
          <a:xfrm>
            <a:off x="685800" y="368300"/>
            <a:ext cx="10795000" cy="492443"/>
          </a:xfrm>
          <a:prstGeom prst="rect">
            <a:avLst/>
          </a:prstGeom>
          <a:noFill/>
        </p:spPr>
        <p:txBody>
          <a:bodyPr vert="horz" wrap="square" lIns="0" tIns="0" rIns="0" bIns="0" rtlCol="0">
            <a:spAutoFit/>
          </a:bodyPr>
          <a:lstStyle/>
          <a:p>
            <a:r>
              <a:rPr lang="en-US" sz="3200" b="1">
                <a:solidFill>
                  <a:srgbClr val="EEF6FF"/>
                </a:solidFill>
                <a:latin typeface="Bahnschrift" panose="020B0502040204020203" pitchFamily="34" charset="0"/>
              </a:rPr>
              <a:t>Similarity, alignment and echo</a:t>
            </a:r>
          </a:p>
        </p:txBody>
      </p:sp>
      <p:cxnSp>
        <p:nvCxnSpPr>
          <p:cNvPr id="4" name="Straight Connector 3">
            <a:extLst>
              <a:ext uri="{FF2B5EF4-FFF2-40B4-BE49-F238E27FC236}">
                <a16:creationId xmlns:a16="http://schemas.microsoft.com/office/drawing/2014/main" id="{201FAF34-1F3A-4C0D-B9A5-64FC8E2EFEAE}"/>
              </a:ext>
            </a:extLst>
          </p:cNvPr>
          <p:cNvCxnSpPr/>
          <p:nvPr/>
        </p:nvCxnSpPr>
        <p:spPr>
          <a:xfrm>
            <a:off x="685800" y="1168400"/>
            <a:ext cx="10820400" cy="0"/>
          </a:xfrm>
          <a:prstGeom prst="line">
            <a:avLst/>
          </a:prstGeom>
          <a:ln w="17780">
            <a:solidFill>
              <a:srgbClr val="37D9E9"/>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13635DE6-14A5-4497-BB98-766E78CB6C70}"/>
              </a:ext>
            </a:extLst>
          </p:cNvPr>
          <p:cNvSpPr txBox="1"/>
          <p:nvPr/>
        </p:nvSpPr>
        <p:spPr>
          <a:xfrm>
            <a:off x="685800" y="6502400"/>
            <a:ext cx="3810000" cy="153888"/>
          </a:xfrm>
          <a:prstGeom prst="rect">
            <a:avLst/>
          </a:prstGeom>
          <a:noFill/>
        </p:spPr>
        <p:txBody>
          <a:bodyPr vert="horz" wrap="square" lIns="0" tIns="0" rIns="0" bIns="0" rtlCol="0">
            <a:spAutoFit/>
          </a:bodyPr>
          <a:lstStyle/>
          <a:p>
            <a:r>
              <a:rPr lang="en-US" sz="1000" b="1">
                <a:solidFill>
                  <a:srgbClr val="85A0B8"/>
                </a:solidFill>
                <a:latin typeface="Aptos"/>
              </a:rPr>
              <a:t>SIGNAL STUDIO</a:t>
            </a:r>
          </a:p>
        </p:txBody>
      </p:sp>
      <p:sp>
        <p:nvSpPr>
          <p:cNvPr id="6" name="TextBox 5">
            <a:extLst>
              <a:ext uri="{FF2B5EF4-FFF2-40B4-BE49-F238E27FC236}">
                <a16:creationId xmlns:a16="http://schemas.microsoft.com/office/drawing/2014/main" id="{6C34C6C0-B422-415A-9D17-325150F98128}"/>
              </a:ext>
            </a:extLst>
          </p:cNvPr>
          <p:cNvSpPr txBox="1"/>
          <p:nvPr/>
        </p:nvSpPr>
        <p:spPr>
          <a:xfrm>
            <a:off x="11430000" y="6502400"/>
            <a:ext cx="444500" cy="153888"/>
          </a:xfrm>
          <a:prstGeom prst="rect">
            <a:avLst/>
          </a:prstGeom>
          <a:noFill/>
        </p:spPr>
        <p:txBody>
          <a:bodyPr vert="horz" wrap="square" lIns="0" tIns="0" rIns="0" bIns="0" rtlCol="0">
            <a:spAutoFit/>
          </a:bodyPr>
          <a:lstStyle/>
          <a:p>
            <a:pPr algn="r"/>
            <a:r>
              <a:rPr lang="en-US" sz="1000" b="1">
                <a:solidFill>
                  <a:srgbClr val="37D9E9"/>
                </a:solidFill>
                <a:latin typeface="Bahnschrift" panose="020B0502040204020203" pitchFamily="34" charset="0"/>
              </a:rPr>
              <a:t>13</a:t>
            </a:r>
          </a:p>
        </p:txBody>
      </p:sp>
      <p:sp>
        <p:nvSpPr>
          <p:cNvPr id="7" name="TextBox 6">
            <a:extLst>
              <a:ext uri="{FF2B5EF4-FFF2-40B4-BE49-F238E27FC236}">
                <a16:creationId xmlns:a16="http://schemas.microsoft.com/office/drawing/2014/main" id="{987F3B86-0290-4252-80F1-65A6633E9D7A}"/>
              </a:ext>
            </a:extLst>
          </p:cNvPr>
          <p:cNvSpPr txBox="1"/>
          <p:nvPr/>
        </p:nvSpPr>
        <p:spPr>
          <a:xfrm>
            <a:off x="774700" y="1536700"/>
            <a:ext cx="10414000" cy="384721"/>
          </a:xfrm>
          <a:prstGeom prst="rect">
            <a:avLst/>
          </a:prstGeom>
          <a:noFill/>
        </p:spPr>
        <p:txBody>
          <a:bodyPr vert="horz" wrap="square" lIns="0" tIns="0" rIns="0" bIns="0" rtlCol="0">
            <a:spAutoFit/>
          </a:bodyPr>
          <a:lstStyle/>
          <a:p>
            <a:r>
              <a:rPr lang="en-US" sz="2500" b="1">
                <a:solidFill>
                  <a:srgbClr val="37D9E9"/>
                </a:solidFill>
                <a:latin typeface="Bahnschrift" panose="020B0502040204020203" pitchFamily="34" charset="0"/>
              </a:rPr>
              <a:t>Compare clips by lining up their loudness patterns first.</a:t>
            </a:r>
          </a:p>
        </p:txBody>
      </p:sp>
      <p:sp>
        <p:nvSpPr>
          <p:cNvPr id="8" name="TextBox 7">
            <a:extLst>
              <a:ext uri="{FF2B5EF4-FFF2-40B4-BE49-F238E27FC236}">
                <a16:creationId xmlns:a16="http://schemas.microsoft.com/office/drawing/2014/main" id="{62A7EF65-C2F0-4B4E-9244-4E862BB22E18}"/>
              </a:ext>
            </a:extLst>
          </p:cNvPr>
          <p:cNvSpPr txBox="1"/>
          <p:nvPr/>
        </p:nvSpPr>
        <p:spPr>
          <a:xfrm>
            <a:off x="825500" y="2438400"/>
            <a:ext cx="1270000" cy="276999"/>
          </a:xfrm>
          <a:prstGeom prst="rect">
            <a:avLst/>
          </a:prstGeom>
          <a:noFill/>
        </p:spPr>
        <p:txBody>
          <a:bodyPr vert="horz" wrap="square" lIns="0" tIns="0" rIns="0" bIns="0" rtlCol="0">
            <a:spAutoFit/>
          </a:bodyPr>
          <a:lstStyle/>
          <a:p>
            <a:r>
              <a:rPr lang="en-US" b="1">
                <a:solidFill>
                  <a:srgbClr val="CCDDEC"/>
                </a:solidFill>
                <a:latin typeface="Aptos"/>
              </a:rPr>
              <a:t>Clip A</a:t>
            </a:r>
          </a:p>
        </p:txBody>
      </p:sp>
      <p:sp>
        <p:nvSpPr>
          <p:cNvPr id="9" name="TextBox 8">
            <a:extLst>
              <a:ext uri="{FF2B5EF4-FFF2-40B4-BE49-F238E27FC236}">
                <a16:creationId xmlns:a16="http://schemas.microsoft.com/office/drawing/2014/main" id="{178438CC-83E7-4BEC-94DE-B3C88DB17A6B}"/>
              </a:ext>
            </a:extLst>
          </p:cNvPr>
          <p:cNvSpPr txBox="1"/>
          <p:nvPr/>
        </p:nvSpPr>
        <p:spPr>
          <a:xfrm>
            <a:off x="825500" y="3302000"/>
            <a:ext cx="1270000" cy="276999"/>
          </a:xfrm>
          <a:prstGeom prst="rect">
            <a:avLst/>
          </a:prstGeom>
          <a:noFill/>
        </p:spPr>
        <p:txBody>
          <a:bodyPr vert="horz" wrap="square" lIns="0" tIns="0" rIns="0" bIns="0" rtlCol="0">
            <a:spAutoFit/>
          </a:bodyPr>
          <a:lstStyle/>
          <a:p>
            <a:r>
              <a:rPr lang="en-US" b="1">
                <a:solidFill>
                  <a:srgbClr val="CCDDEC"/>
                </a:solidFill>
                <a:latin typeface="Aptos"/>
              </a:rPr>
              <a:t>Clip B</a:t>
            </a:r>
          </a:p>
        </p:txBody>
      </p:sp>
      <p:cxnSp>
        <p:nvCxnSpPr>
          <p:cNvPr id="10" name="Straight Connector 9">
            <a:extLst>
              <a:ext uri="{FF2B5EF4-FFF2-40B4-BE49-F238E27FC236}">
                <a16:creationId xmlns:a16="http://schemas.microsoft.com/office/drawing/2014/main" id="{AE8D54E3-D5A3-4BB5-B007-3F6E2E1AFD33}"/>
              </a:ext>
            </a:extLst>
          </p:cNvPr>
          <p:cNvCxnSpPr/>
          <p:nvPr/>
        </p:nvCxnSpPr>
        <p:spPr>
          <a:xfrm>
            <a:off x="1981200" y="2984500"/>
            <a:ext cx="9067800" cy="0"/>
          </a:xfrm>
          <a:prstGeom prst="line">
            <a:avLst/>
          </a:prstGeom>
          <a:ln w="19050">
            <a:solidFill>
              <a:srgbClr val="264B63"/>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252608B-A3E6-438D-82DC-0CC2377FA092}"/>
              </a:ext>
            </a:extLst>
          </p:cNvPr>
          <p:cNvCxnSpPr/>
          <p:nvPr/>
        </p:nvCxnSpPr>
        <p:spPr>
          <a:xfrm>
            <a:off x="1981200" y="3848100"/>
            <a:ext cx="9067800" cy="0"/>
          </a:xfrm>
          <a:prstGeom prst="line">
            <a:avLst/>
          </a:prstGeom>
          <a:ln w="19050">
            <a:solidFill>
              <a:srgbClr val="264B63"/>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6AFC2C37-9EF4-425A-85D5-CEC6DE2D9D86}"/>
              </a:ext>
            </a:extLst>
          </p:cNvPr>
          <p:cNvCxnSpPr/>
          <p:nvPr/>
        </p:nvCxnSpPr>
        <p:spPr>
          <a:xfrm>
            <a:off x="3733800" y="2298700"/>
            <a:ext cx="0" cy="685800"/>
          </a:xfrm>
          <a:prstGeom prst="line">
            <a:avLst/>
          </a:prstGeom>
          <a:ln w="101600">
            <a:solidFill>
              <a:srgbClr val="264B63"/>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FC37D88A-5F93-471A-9AAC-2B278C9591EC}"/>
              </a:ext>
            </a:extLst>
          </p:cNvPr>
          <p:cNvCxnSpPr/>
          <p:nvPr/>
        </p:nvCxnSpPr>
        <p:spPr>
          <a:xfrm>
            <a:off x="4521200" y="3289300"/>
            <a:ext cx="0" cy="558800"/>
          </a:xfrm>
          <a:prstGeom prst="line">
            <a:avLst/>
          </a:prstGeom>
          <a:ln w="10160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EBDDCBB3-8F05-4F02-93A8-A0B7A7C2B3B4}"/>
              </a:ext>
            </a:extLst>
          </p:cNvPr>
          <p:cNvCxnSpPr/>
          <p:nvPr/>
        </p:nvCxnSpPr>
        <p:spPr>
          <a:xfrm>
            <a:off x="5905500" y="2298700"/>
            <a:ext cx="0" cy="685800"/>
          </a:xfrm>
          <a:prstGeom prst="line">
            <a:avLst/>
          </a:prstGeom>
          <a:ln w="101600">
            <a:solidFill>
              <a:srgbClr val="264B63"/>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0ECCCE47-D457-4C19-B971-8641677FB010}"/>
              </a:ext>
            </a:extLst>
          </p:cNvPr>
          <p:cNvCxnSpPr/>
          <p:nvPr/>
        </p:nvCxnSpPr>
        <p:spPr>
          <a:xfrm>
            <a:off x="6692900" y="3289300"/>
            <a:ext cx="0" cy="558800"/>
          </a:xfrm>
          <a:prstGeom prst="line">
            <a:avLst/>
          </a:prstGeom>
          <a:ln w="10160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1598A7CF-3BE3-45EF-8011-C23883120D6E}"/>
              </a:ext>
            </a:extLst>
          </p:cNvPr>
          <p:cNvCxnSpPr/>
          <p:nvPr/>
        </p:nvCxnSpPr>
        <p:spPr>
          <a:xfrm>
            <a:off x="8064500" y="2298700"/>
            <a:ext cx="0" cy="685800"/>
          </a:xfrm>
          <a:prstGeom prst="line">
            <a:avLst/>
          </a:prstGeom>
          <a:ln w="101600">
            <a:solidFill>
              <a:srgbClr val="264B63"/>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A3A315AF-8ED2-4FA4-8C3D-4A07955A2C5B}"/>
              </a:ext>
            </a:extLst>
          </p:cNvPr>
          <p:cNvCxnSpPr/>
          <p:nvPr/>
        </p:nvCxnSpPr>
        <p:spPr>
          <a:xfrm>
            <a:off x="8851900" y="3289300"/>
            <a:ext cx="0" cy="558800"/>
          </a:xfrm>
          <a:prstGeom prst="line">
            <a:avLst/>
          </a:prstGeom>
          <a:ln w="101600">
            <a:solidFill>
              <a:srgbClr val="FF64A5"/>
            </a:solidFill>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347F73AF-71C0-422D-A639-80D6430AE002}"/>
              </a:ext>
            </a:extLst>
          </p:cNvPr>
          <p:cNvSpPr txBox="1"/>
          <p:nvPr/>
        </p:nvSpPr>
        <p:spPr>
          <a:xfrm>
            <a:off x="2108200" y="4267200"/>
            <a:ext cx="9398000" cy="307777"/>
          </a:xfrm>
          <a:prstGeom prst="rect">
            <a:avLst/>
          </a:prstGeom>
          <a:noFill/>
        </p:spPr>
        <p:txBody>
          <a:bodyPr vert="horz" wrap="square" lIns="0" tIns="0" rIns="0" bIns="0" rtlCol="0">
            <a:spAutoFit/>
          </a:bodyPr>
          <a:lstStyle/>
          <a:p>
            <a:r>
              <a:rPr lang="en-US" sz="2000">
                <a:solidFill>
                  <a:srgbClr val="CCDDEC"/>
                </a:solidFill>
                <a:latin typeface="Aptos"/>
              </a:rPr>
              <a:t>A shift brings matching events together before subtraction or correlation.</a:t>
            </a:r>
          </a:p>
        </p:txBody>
      </p:sp>
      <p:cxnSp>
        <p:nvCxnSpPr>
          <p:cNvPr id="19" name="Straight Connector 18">
            <a:extLst>
              <a:ext uri="{FF2B5EF4-FFF2-40B4-BE49-F238E27FC236}">
                <a16:creationId xmlns:a16="http://schemas.microsoft.com/office/drawing/2014/main" id="{69748472-D746-4BAF-A4C9-18FE15903928}"/>
              </a:ext>
            </a:extLst>
          </p:cNvPr>
          <p:cNvCxnSpPr/>
          <p:nvPr/>
        </p:nvCxnSpPr>
        <p:spPr>
          <a:xfrm>
            <a:off x="850900" y="4940300"/>
            <a:ext cx="10490200" cy="0"/>
          </a:xfrm>
          <a:prstGeom prst="line">
            <a:avLst/>
          </a:prstGeom>
          <a:ln w="12700">
            <a:solidFill>
              <a:srgbClr val="264B63"/>
            </a:solidFill>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CC7CE7F5-D005-4BA4-A835-1F534C298CF0}"/>
              </a:ext>
            </a:extLst>
          </p:cNvPr>
          <p:cNvSpPr txBox="1"/>
          <p:nvPr/>
        </p:nvSpPr>
        <p:spPr>
          <a:xfrm>
            <a:off x="825500" y="5194300"/>
            <a:ext cx="10541000" cy="646331"/>
          </a:xfrm>
          <a:prstGeom prst="rect">
            <a:avLst/>
          </a:prstGeom>
          <a:noFill/>
        </p:spPr>
        <p:txBody>
          <a:bodyPr vert="horz" wrap="square" lIns="0" tIns="0" rIns="0" bIns="0" rtlCol="0">
            <a:spAutoFit/>
          </a:bodyPr>
          <a:lstStyle/>
          <a:p>
            <a:r>
              <a:rPr lang="en-US" sz="2100">
                <a:solidFill>
                  <a:srgbClr val="CCDDEC"/>
                </a:solidFill>
                <a:latin typeface="Aptos"/>
              </a:rPr>
              <a:t>Echo detection slides one signal against itself. A secondary autocorrelation peak gives a candidate delay.</a:t>
            </a:r>
          </a:p>
        </p:txBody>
      </p:sp>
      <p:sp>
        <p:nvSpPr>
          <p:cNvPr id="21" name="TextBox 20">
            <a:extLst>
              <a:ext uri="{FF2B5EF4-FFF2-40B4-BE49-F238E27FC236}">
                <a16:creationId xmlns:a16="http://schemas.microsoft.com/office/drawing/2014/main" id="{387E966C-9797-419E-8D4F-54B695ED1DCA}"/>
              </a:ext>
            </a:extLst>
          </p:cNvPr>
          <p:cNvSpPr txBox="1"/>
          <p:nvPr/>
        </p:nvSpPr>
        <p:spPr>
          <a:xfrm>
            <a:off x="825500" y="6057900"/>
            <a:ext cx="10541000" cy="261610"/>
          </a:xfrm>
          <a:prstGeom prst="rect">
            <a:avLst/>
          </a:prstGeom>
          <a:noFill/>
        </p:spPr>
        <p:txBody>
          <a:bodyPr vert="horz" wrap="square" lIns="0" tIns="0" rIns="0" bIns="0" rtlCol="0">
            <a:spAutoFit/>
          </a:bodyPr>
          <a:lstStyle/>
          <a:p>
            <a:r>
              <a:rPr lang="en-US" sz="1700">
                <a:solidFill>
                  <a:srgbClr val="85A0B8"/>
                </a:solidFill>
                <a:latin typeface="Aptos"/>
              </a:rPr>
              <a:t>Repeated music can produce a similar peak, so a detected delay is evidence of repetition.</a:t>
            </a:r>
          </a:p>
        </p:txBody>
      </p:sp>
      <p:sp>
        <p:nvSpPr>
          <p:cNvPr id="22" name="Rectangle 21">
            <a:extLst>
              <a:ext uri="{FF2B5EF4-FFF2-40B4-BE49-F238E27FC236}">
                <a16:creationId xmlns:a16="http://schemas.microsoft.com/office/drawing/2014/main" id="{E47278C7-62FF-4FAD-AF33-44C9CA4BD343}"/>
              </a:ext>
            </a:extLst>
          </p:cNvPr>
          <p:cNvSpPr/>
          <p:nvPr/>
        </p:nvSpPr>
        <p:spPr>
          <a:xfrm>
            <a:off x="533400" y="381000"/>
            <a:ext cx="50800" cy="495300"/>
          </a:xfrm>
          <a:prstGeom prst="rect">
            <a:avLst/>
          </a:prstGeom>
          <a:solidFill>
            <a:srgbClr val="37D9E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4F20897D-F9AE-4740-8D96-DE0A62C15659}"/>
              </a:ext>
            </a:extLst>
          </p:cNvPr>
          <p:cNvSpPr txBox="1"/>
          <p:nvPr/>
        </p:nvSpPr>
        <p:spPr>
          <a:xfrm>
            <a:off x="9779000" y="927100"/>
            <a:ext cx="1676400" cy="230832"/>
          </a:xfrm>
          <a:prstGeom prst="rect">
            <a:avLst/>
          </a:prstGeom>
          <a:noFill/>
        </p:spPr>
        <p:txBody>
          <a:bodyPr vert="horz" rtlCol="0">
            <a:spAutoFit/>
          </a:bodyPr>
          <a:lstStyle/>
          <a:p>
            <a:pPr algn="r"/>
            <a:r>
              <a:rPr lang="en-US" sz="900">
                <a:solidFill>
                  <a:srgbClr val="85A0B8"/>
                </a:solidFill>
                <a:latin typeface="Bahnschrift" panose="020B0502040204020203" pitchFamily="34" charset="0"/>
              </a:rPr>
              <a:t>ANALYSIS  /  13</a:t>
            </a:r>
          </a:p>
        </p:txBody>
      </p:sp>
    </p:spTree>
    <p:extLst>
      <p:ext uri="{BB962C8B-B14F-4D97-AF65-F5344CB8AC3E}">
        <p14:creationId xmlns:p14="http://schemas.microsoft.com/office/powerpoint/2010/main" val="5949136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CBFF145-D528-4C83-9EEB-195633308246}"/>
              </a:ext>
            </a:extLst>
          </p:cNvPr>
          <p:cNvSpPr/>
          <p:nvPr/>
        </p:nvSpPr>
        <p:spPr>
          <a:xfrm>
            <a:off x="0" y="0"/>
            <a:ext cx="12192000" cy="6858000"/>
          </a:xfrm>
          <a:prstGeom prst="rect">
            <a:avLst/>
          </a:prstGeom>
          <a:solidFill>
            <a:srgbClr val="08122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1880F267-C0EB-47FD-923F-DFCB143C0DE5}"/>
              </a:ext>
            </a:extLst>
          </p:cNvPr>
          <p:cNvSpPr txBox="1"/>
          <p:nvPr/>
        </p:nvSpPr>
        <p:spPr>
          <a:xfrm>
            <a:off x="685800" y="368300"/>
            <a:ext cx="10795000" cy="430887"/>
          </a:xfrm>
          <a:prstGeom prst="rect">
            <a:avLst/>
          </a:prstGeom>
          <a:noFill/>
        </p:spPr>
        <p:txBody>
          <a:bodyPr vert="horz" wrap="square" lIns="0" tIns="0" rIns="0" bIns="0" rtlCol="0">
            <a:spAutoFit/>
          </a:bodyPr>
          <a:lstStyle/>
          <a:p>
            <a:r>
              <a:rPr lang="en-US" sz="2800" b="1">
                <a:solidFill>
                  <a:srgbClr val="EEF6FF"/>
                </a:solidFill>
                <a:latin typeface="Bahnschrift" panose="020B0502040204020203" pitchFamily="34" charset="0"/>
              </a:rPr>
              <a:t>Encryption: protect the whole audio file</a:t>
            </a:r>
          </a:p>
        </p:txBody>
      </p:sp>
      <p:cxnSp>
        <p:nvCxnSpPr>
          <p:cNvPr id="4" name="Straight Connector 3">
            <a:extLst>
              <a:ext uri="{FF2B5EF4-FFF2-40B4-BE49-F238E27FC236}">
                <a16:creationId xmlns:a16="http://schemas.microsoft.com/office/drawing/2014/main" id="{5CB08722-0840-4DE7-BB42-6BBA53345BCE}"/>
              </a:ext>
            </a:extLst>
          </p:cNvPr>
          <p:cNvCxnSpPr/>
          <p:nvPr/>
        </p:nvCxnSpPr>
        <p:spPr>
          <a:xfrm>
            <a:off x="685800" y="1168400"/>
            <a:ext cx="10820400" cy="0"/>
          </a:xfrm>
          <a:prstGeom prst="line">
            <a:avLst/>
          </a:prstGeom>
          <a:ln w="17780">
            <a:solidFill>
              <a:srgbClr val="37D9E9"/>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140542D6-21B9-4BD3-B80A-A5514A4F224A}"/>
              </a:ext>
            </a:extLst>
          </p:cNvPr>
          <p:cNvSpPr txBox="1"/>
          <p:nvPr/>
        </p:nvSpPr>
        <p:spPr>
          <a:xfrm>
            <a:off x="685800" y="6502400"/>
            <a:ext cx="3810000" cy="153888"/>
          </a:xfrm>
          <a:prstGeom prst="rect">
            <a:avLst/>
          </a:prstGeom>
          <a:noFill/>
        </p:spPr>
        <p:txBody>
          <a:bodyPr vert="horz" wrap="square" lIns="0" tIns="0" rIns="0" bIns="0" rtlCol="0">
            <a:spAutoFit/>
          </a:bodyPr>
          <a:lstStyle/>
          <a:p>
            <a:r>
              <a:rPr lang="en-US" sz="1000" b="1">
                <a:solidFill>
                  <a:srgbClr val="85A0B8"/>
                </a:solidFill>
                <a:latin typeface="Aptos"/>
              </a:rPr>
              <a:t>SIGNAL STUDIO</a:t>
            </a:r>
          </a:p>
        </p:txBody>
      </p:sp>
      <p:sp>
        <p:nvSpPr>
          <p:cNvPr id="6" name="TextBox 5">
            <a:extLst>
              <a:ext uri="{FF2B5EF4-FFF2-40B4-BE49-F238E27FC236}">
                <a16:creationId xmlns:a16="http://schemas.microsoft.com/office/drawing/2014/main" id="{732A7762-47FD-4C62-9676-36E970FCB20B}"/>
              </a:ext>
            </a:extLst>
          </p:cNvPr>
          <p:cNvSpPr txBox="1"/>
          <p:nvPr/>
        </p:nvSpPr>
        <p:spPr>
          <a:xfrm>
            <a:off x="11430000" y="6502400"/>
            <a:ext cx="444500" cy="153888"/>
          </a:xfrm>
          <a:prstGeom prst="rect">
            <a:avLst/>
          </a:prstGeom>
          <a:noFill/>
        </p:spPr>
        <p:txBody>
          <a:bodyPr vert="horz" wrap="square" lIns="0" tIns="0" rIns="0" bIns="0" rtlCol="0">
            <a:spAutoFit/>
          </a:bodyPr>
          <a:lstStyle/>
          <a:p>
            <a:pPr algn="r"/>
            <a:r>
              <a:rPr lang="en-US" sz="1000" b="1">
                <a:solidFill>
                  <a:srgbClr val="37D9E9"/>
                </a:solidFill>
                <a:latin typeface="Bahnschrift" panose="020B0502040204020203" pitchFamily="34" charset="0"/>
              </a:rPr>
              <a:t>14</a:t>
            </a:r>
          </a:p>
        </p:txBody>
      </p:sp>
      <p:sp>
        <p:nvSpPr>
          <p:cNvPr id="24" name="TextBox 23">
            <a:extLst>
              <a:ext uri="{FF2B5EF4-FFF2-40B4-BE49-F238E27FC236}">
                <a16:creationId xmlns:a16="http://schemas.microsoft.com/office/drawing/2014/main" id="{F2C6A286-986E-4D69-A6F2-5A3B102F5A68}"/>
              </a:ext>
            </a:extLst>
          </p:cNvPr>
          <p:cNvSpPr txBox="1"/>
          <p:nvPr/>
        </p:nvSpPr>
        <p:spPr>
          <a:xfrm>
            <a:off x="889000" y="1549400"/>
            <a:ext cx="7620000" cy="230832"/>
          </a:xfrm>
          <a:prstGeom prst="rect">
            <a:avLst/>
          </a:prstGeom>
          <a:noFill/>
        </p:spPr>
        <p:txBody>
          <a:bodyPr vert="horz" wrap="square" lIns="0" tIns="0" rIns="0" bIns="0" rtlCol="0">
            <a:spAutoFit/>
          </a:bodyPr>
          <a:lstStyle/>
          <a:p>
            <a:r>
              <a:rPr lang="en-US" sz="1500" b="1">
                <a:solidFill>
                  <a:srgbClr val="37D9E9"/>
                </a:solidFill>
                <a:latin typeface="Bahnschrift" panose="020B0502040204020203" pitchFamily="34" charset="0"/>
              </a:rPr>
              <a:t>FOLLOW THE BYTES</a:t>
            </a:r>
          </a:p>
        </p:txBody>
      </p:sp>
      <p:sp>
        <p:nvSpPr>
          <p:cNvPr id="25" name="Rectangle 24">
            <a:extLst>
              <a:ext uri="{FF2B5EF4-FFF2-40B4-BE49-F238E27FC236}">
                <a16:creationId xmlns:a16="http://schemas.microsoft.com/office/drawing/2014/main" id="{795F3F40-CE8B-4186-AE66-45D32AB81B09}"/>
              </a:ext>
            </a:extLst>
          </p:cNvPr>
          <p:cNvSpPr/>
          <p:nvPr/>
        </p:nvSpPr>
        <p:spPr>
          <a:xfrm>
            <a:off x="863600" y="2032000"/>
            <a:ext cx="10464800" cy="2260600"/>
          </a:xfrm>
          <a:prstGeom prst="rect">
            <a:avLst/>
          </a:prstGeom>
          <a:solidFill>
            <a:srgbClr val="0F2235"/>
          </a:solidFill>
          <a:ln w="10160">
            <a:solidFill>
              <a:srgbClr val="264B6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70DDEF1F-F36C-4D2E-BA61-10B41673BFC2}"/>
              </a:ext>
            </a:extLst>
          </p:cNvPr>
          <p:cNvSpPr txBox="1"/>
          <p:nvPr/>
        </p:nvSpPr>
        <p:spPr>
          <a:xfrm>
            <a:off x="1193800" y="2603500"/>
            <a:ext cx="2794000" cy="323165"/>
          </a:xfrm>
          <a:prstGeom prst="rect">
            <a:avLst/>
          </a:prstGeom>
          <a:noFill/>
        </p:spPr>
        <p:txBody>
          <a:bodyPr vert="horz" wrap="square" lIns="0" tIns="0" rIns="0" bIns="0" rtlCol="0">
            <a:spAutoFit/>
          </a:bodyPr>
          <a:lstStyle/>
          <a:p>
            <a:r>
              <a:rPr lang="en-US" sz="2100" b="1">
                <a:solidFill>
                  <a:srgbClr val="37D9E9"/>
                </a:solidFill>
                <a:latin typeface="Bahnschrift" panose="020B0502040204020203" pitchFamily="34" charset="0"/>
              </a:rPr>
              <a:t>ORIGINAL FILE</a:t>
            </a:r>
          </a:p>
        </p:txBody>
      </p:sp>
      <p:sp>
        <p:nvSpPr>
          <p:cNvPr id="27" name="TextBox 26">
            <a:extLst>
              <a:ext uri="{FF2B5EF4-FFF2-40B4-BE49-F238E27FC236}">
                <a16:creationId xmlns:a16="http://schemas.microsoft.com/office/drawing/2014/main" id="{DA95E22C-FDBA-400E-BEF2-653AA75627A3}"/>
              </a:ext>
            </a:extLst>
          </p:cNvPr>
          <p:cNvSpPr txBox="1"/>
          <p:nvPr/>
        </p:nvSpPr>
        <p:spPr>
          <a:xfrm>
            <a:off x="1193800" y="3149600"/>
            <a:ext cx="2806700" cy="230832"/>
          </a:xfrm>
          <a:prstGeom prst="rect">
            <a:avLst/>
          </a:prstGeom>
          <a:noFill/>
        </p:spPr>
        <p:txBody>
          <a:bodyPr vert="horz" wrap="square" lIns="0" tIns="0" rIns="0" bIns="0" rtlCol="0">
            <a:spAutoFit/>
          </a:bodyPr>
          <a:lstStyle/>
          <a:p>
            <a:r>
              <a:rPr lang="en-US" sz="1500">
                <a:solidFill>
                  <a:srgbClr val="CCDDEC"/>
                </a:solidFill>
                <a:latin typeface="Aptos"/>
              </a:rPr>
              <a:t>bytes + filename</a:t>
            </a:r>
          </a:p>
        </p:txBody>
      </p:sp>
      <p:cxnSp>
        <p:nvCxnSpPr>
          <p:cNvPr id="28" name="Straight Connector 27">
            <a:extLst>
              <a:ext uri="{FF2B5EF4-FFF2-40B4-BE49-F238E27FC236}">
                <a16:creationId xmlns:a16="http://schemas.microsoft.com/office/drawing/2014/main" id="{11561974-34A0-4CBB-AD97-5AF11C56B6DE}"/>
              </a:ext>
            </a:extLst>
          </p:cNvPr>
          <p:cNvCxnSpPr/>
          <p:nvPr/>
        </p:nvCxnSpPr>
        <p:spPr>
          <a:xfrm>
            <a:off x="3937000" y="2844800"/>
            <a:ext cx="508000" cy="0"/>
          </a:xfrm>
          <a:prstGeom prst="line">
            <a:avLst/>
          </a:prstGeom>
          <a:ln w="22860">
            <a:solidFill>
              <a:srgbClr val="85A0B8"/>
            </a:solidFill>
            <a:tailEnd type="arrow"/>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D5E5C7C1-26E0-482E-81B7-1A4F4DAE5D66}"/>
              </a:ext>
            </a:extLst>
          </p:cNvPr>
          <p:cNvSpPr txBox="1"/>
          <p:nvPr/>
        </p:nvSpPr>
        <p:spPr>
          <a:xfrm>
            <a:off x="4749800" y="2603500"/>
            <a:ext cx="2794000" cy="323165"/>
          </a:xfrm>
          <a:prstGeom prst="rect">
            <a:avLst/>
          </a:prstGeom>
          <a:noFill/>
        </p:spPr>
        <p:txBody>
          <a:bodyPr vert="horz" wrap="square" lIns="0" tIns="0" rIns="0" bIns="0" rtlCol="0">
            <a:spAutoFit/>
          </a:bodyPr>
          <a:lstStyle/>
          <a:p>
            <a:r>
              <a:rPr lang="en-US" sz="2100" b="1">
                <a:solidFill>
                  <a:srgbClr val="FF64A5"/>
                </a:solidFill>
                <a:latin typeface="Bahnschrift" panose="020B0502040204020203" pitchFamily="34" charset="0"/>
              </a:rPr>
              <a:t>AES-GCM</a:t>
            </a:r>
          </a:p>
        </p:txBody>
      </p:sp>
      <p:sp>
        <p:nvSpPr>
          <p:cNvPr id="30" name="TextBox 29">
            <a:extLst>
              <a:ext uri="{FF2B5EF4-FFF2-40B4-BE49-F238E27FC236}">
                <a16:creationId xmlns:a16="http://schemas.microsoft.com/office/drawing/2014/main" id="{F580D8AE-E1C6-4644-B7B9-184D63D514D8}"/>
              </a:ext>
            </a:extLst>
          </p:cNvPr>
          <p:cNvSpPr txBox="1"/>
          <p:nvPr/>
        </p:nvSpPr>
        <p:spPr>
          <a:xfrm>
            <a:off x="4749800" y="3149600"/>
            <a:ext cx="2806700" cy="230832"/>
          </a:xfrm>
          <a:prstGeom prst="rect">
            <a:avLst/>
          </a:prstGeom>
          <a:noFill/>
        </p:spPr>
        <p:txBody>
          <a:bodyPr vert="horz" wrap="square" lIns="0" tIns="0" rIns="0" bIns="0" rtlCol="0">
            <a:spAutoFit/>
          </a:bodyPr>
          <a:lstStyle/>
          <a:p>
            <a:r>
              <a:rPr lang="en-US" sz="1500">
                <a:solidFill>
                  <a:srgbClr val="CCDDEC"/>
                </a:solidFill>
                <a:latin typeface="Aptos"/>
              </a:rPr>
              <a:t>password-derived key</a:t>
            </a:r>
          </a:p>
        </p:txBody>
      </p:sp>
      <p:cxnSp>
        <p:nvCxnSpPr>
          <p:cNvPr id="31" name="Straight Connector 30">
            <a:extLst>
              <a:ext uri="{FF2B5EF4-FFF2-40B4-BE49-F238E27FC236}">
                <a16:creationId xmlns:a16="http://schemas.microsoft.com/office/drawing/2014/main" id="{A443D7E5-6642-4138-AF6D-D73E9D4F95A1}"/>
              </a:ext>
            </a:extLst>
          </p:cNvPr>
          <p:cNvCxnSpPr/>
          <p:nvPr/>
        </p:nvCxnSpPr>
        <p:spPr>
          <a:xfrm>
            <a:off x="7493000" y="2844800"/>
            <a:ext cx="533400" cy="0"/>
          </a:xfrm>
          <a:prstGeom prst="line">
            <a:avLst/>
          </a:prstGeom>
          <a:ln w="22860">
            <a:solidFill>
              <a:srgbClr val="85A0B8"/>
            </a:solidFill>
            <a:tailEnd type="arrow"/>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0A3548D2-03CC-467D-8445-FCBF91D5BCA1}"/>
              </a:ext>
            </a:extLst>
          </p:cNvPr>
          <p:cNvSpPr txBox="1"/>
          <p:nvPr/>
        </p:nvSpPr>
        <p:spPr>
          <a:xfrm>
            <a:off x="8331200" y="2603500"/>
            <a:ext cx="2794000" cy="323165"/>
          </a:xfrm>
          <a:prstGeom prst="rect">
            <a:avLst/>
          </a:prstGeom>
          <a:noFill/>
        </p:spPr>
        <p:txBody>
          <a:bodyPr vert="horz" wrap="square" lIns="0" tIns="0" rIns="0" bIns="0" rtlCol="0">
            <a:spAutoFit/>
          </a:bodyPr>
          <a:lstStyle/>
          <a:p>
            <a:r>
              <a:rPr lang="en-US" sz="2100" b="1">
                <a:solidFill>
                  <a:srgbClr val="37D9E9"/>
                </a:solidFill>
                <a:latin typeface="Bahnschrift" panose="020B0502040204020203" pitchFamily="34" charset="0"/>
              </a:rPr>
              <a:t>ENCRYPTED WAV</a:t>
            </a:r>
          </a:p>
        </p:txBody>
      </p:sp>
      <p:sp>
        <p:nvSpPr>
          <p:cNvPr id="33" name="TextBox 32">
            <a:extLst>
              <a:ext uri="{FF2B5EF4-FFF2-40B4-BE49-F238E27FC236}">
                <a16:creationId xmlns:a16="http://schemas.microsoft.com/office/drawing/2014/main" id="{11573C76-B1B2-43EB-8F89-5CDF0624C69A}"/>
              </a:ext>
            </a:extLst>
          </p:cNvPr>
          <p:cNvSpPr txBox="1"/>
          <p:nvPr/>
        </p:nvSpPr>
        <p:spPr>
          <a:xfrm>
            <a:off x="8331200" y="3149600"/>
            <a:ext cx="2806700" cy="230832"/>
          </a:xfrm>
          <a:prstGeom prst="rect">
            <a:avLst/>
          </a:prstGeom>
          <a:noFill/>
        </p:spPr>
        <p:txBody>
          <a:bodyPr vert="horz" wrap="square" lIns="0" tIns="0" rIns="0" bIns="0" rtlCol="0">
            <a:spAutoFit/>
          </a:bodyPr>
          <a:lstStyle/>
          <a:p>
            <a:r>
              <a:rPr lang="en-US" sz="1500">
                <a:solidFill>
                  <a:srgbClr val="CCDDEC"/>
                </a:solidFill>
                <a:latin typeface="Aptos"/>
              </a:rPr>
              <a:t>ciphertext as PCM samples</a:t>
            </a:r>
          </a:p>
        </p:txBody>
      </p:sp>
      <p:sp>
        <p:nvSpPr>
          <p:cNvPr id="34" name="TextBox 33">
            <a:extLst>
              <a:ext uri="{FF2B5EF4-FFF2-40B4-BE49-F238E27FC236}">
                <a16:creationId xmlns:a16="http://schemas.microsoft.com/office/drawing/2014/main" id="{CF1AFBF3-E00F-4BC4-AE3E-553466C6015B}"/>
              </a:ext>
            </a:extLst>
          </p:cNvPr>
          <p:cNvSpPr txBox="1"/>
          <p:nvPr/>
        </p:nvSpPr>
        <p:spPr>
          <a:xfrm>
            <a:off x="901700" y="4495800"/>
            <a:ext cx="10388600" cy="276999"/>
          </a:xfrm>
          <a:prstGeom prst="rect">
            <a:avLst/>
          </a:prstGeom>
          <a:noFill/>
        </p:spPr>
        <p:txBody>
          <a:bodyPr vert="horz" wrap="square" lIns="0" tIns="0" rIns="0" bIns="0" rtlCol="0">
            <a:spAutoFit/>
          </a:bodyPr>
          <a:lstStyle/>
          <a:p>
            <a:r>
              <a:rPr lang="en-US">
                <a:solidFill>
                  <a:srgbClr val="CCDDEC"/>
                </a:solidFill>
                <a:latin typeface="Aptos"/>
              </a:rPr>
              <a:t>The carrier sounds like noise, but its PCM bytes must stay unchanged for decryption.</a:t>
            </a:r>
          </a:p>
        </p:txBody>
      </p:sp>
      <p:sp>
        <p:nvSpPr>
          <p:cNvPr id="35" name="Rectangle 34">
            <a:extLst>
              <a:ext uri="{FF2B5EF4-FFF2-40B4-BE49-F238E27FC236}">
                <a16:creationId xmlns:a16="http://schemas.microsoft.com/office/drawing/2014/main" id="{914A13D1-C1F1-4BD3-BEBE-9F9CB74448CC}"/>
              </a:ext>
            </a:extLst>
          </p:cNvPr>
          <p:cNvSpPr/>
          <p:nvPr/>
        </p:nvSpPr>
        <p:spPr>
          <a:xfrm>
            <a:off x="863600" y="5156200"/>
            <a:ext cx="10464800" cy="558800"/>
          </a:xfrm>
          <a:prstGeom prst="rect">
            <a:avLst/>
          </a:prstGeom>
          <a:solidFill>
            <a:srgbClr val="0F2235"/>
          </a:solidFill>
          <a:ln w="10160">
            <a:solidFill>
              <a:srgbClr val="264B6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BEAA8047-866C-46AA-A863-57B09A44F7D7}"/>
              </a:ext>
            </a:extLst>
          </p:cNvPr>
          <p:cNvSpPr txBox="1"/>
          <p:nvPr/>
        </p:nvSpPr>
        <p:spPr>
          <a:xfrm>
            <a:off x="1066800" y="5283200"/>
            <a:ext cx="10058400" cy="200055"/>
          </a:xfrm>
          <a:prstGeom prst="rect">
            <a:avLst/>
          </a:prstGeom>
          <a:noFill/>
        </p:spPr>
        <p:txBody>
          <a:bodyPr vert="horz" wrap="square" lIns="0" tIns="0" rIns="0" bIns="0" rtlCol="0">
            <a:spAutoFit/>
          </a:bodyPr>
          <a:lstStyle/>
          <a:p>
            <a:r>
              <a:rPr lang="en-US" sz="1300">
                <a:solidFill>
                  <a:srgbClr val="37D9E9"/>
                </a:solidFill>
                <a:latin typeface="Consolas" panose="020B0609020204030204" pitchFamily="49" charset="0"/>
              </a:rPr>
              <a:t>ciphertext = aesgcm.encrypt(nonce, plaintext, None); carrier = np.frombuffer(packed, dtype=np.int16)</a:t>
            </a:r>
          </a:p>
        </p:txBody>
      </p:sp>
      <p:sp>
        <p:nvSpPr>
          <p:cNvPr id="37" name="TextBox 36">
            <a:extLst>
              <a:ext uri="{FF2B5EF4-FFF2-40B4-BE49-F238E27FC236}">
                <a16:creationId xmlns:a16="http://schemas.microsoft.com/office/drawing/2014/main" id="{E826033E-CAEF-4FBF-BD00-2AB6B30D76BF}"/>
              </a:ext>
            </a:extLst>
          </p:cNvPr>
          <p:cNvSpPr txBox="1"/>
          <p:nvPr/>
        </p:nvSpPr>
        <p:spPr>
          <a:xfrm>
            <a:off x="889000" y="5918200"/>
            <a:ext cx="1841500" cy="169277"/>
          </a:xfrm>
          <a:prstGeom prst="rect">
            <a:avLst/>
          </a:prstGeom>
          <a:noFill/>
        </p:spPr>
        <p:txBody>
          <a:bodyPr vert="horz" wrap="square" lIns="0" tIns="0" rIns="0" bIns="0" rtlCol="0">
            <a:spAutoFit/>
          </a:bodyPr>
          <a:lstStyle/>
          <a:p>
            <a:r>
              <a:rPr lang="en-US" sz="1100" b="1">
                <a:solidFill>
                  <a:srgbClr val="FF64A5"/>
                </a:solidFill>
                <a:latin typeface="Bahnschrift" panose="020B0502040204020203" pitchFamily="34" charset="0"/>
              </a:rPr>
              <a:t>TRY IN THE APP</a:t>
            </a:r>
          </a:p>
        </p:txBody>
      </p:sp>
      <p:sp>
        <p:nvSpPr>
          <p:cNvPr id="38" name="TextBox 37">
            <a:extLst>
              <a:ext uri="{FF2B5EF4-FFF2-40B4-BE49-F238E27FC236}">
                <a16:creationId xmlns:a16="http://schemas.microsoft.com/office/drawing/2014/main" id="{3E43B21F-D59C-466B-9CD3-85D1C98B505B}"/>
              </a:ext>
            </a:extLst>
          </p:cNvPr>
          <p:cNvSpPr txBox="1"/>
          <p:nvPr/>
        </p:nvSpPr>
        <p:spPr>
          <a:xfrm>
            <a:off x="2794000" y="5880100"/>
            <a:ext cx="8483600" cy="230832"/>
          </a:xfrm>
          <a:prstGeom prst="rect">
            <a:avLst/>
          </a:prstGeom>
          <a:noFill/>
        </p:spPr>
        <p:txBody>
          <a:bodyPr vert="horz" wrap="square" lIns="0" tIns="0" rIns="0" bIns="0" rtlCol="0">
            <a:spAutoFit/>
          </a:bodyPr>
          <a:lstStyle/>
          <a:p>
            <a:r>
              <a:rPr lang="en-US" sz="1500">
                <a:solidFill>
                  <a:srgbClr val="CCDDEC"/>
                </a:solidFill>
                <a:latin typeface="Aptos"/>
              </a:rPr>
              <a:t>Encrypt → download the WAV → decrypt using the same password.</a:t>
            </a:r>
          </a:p>
        </p:txBody>
      </p:sp>
      <p:sp>
        <p:nvSpPr>
          <p:cNvPr id="39" name="Rectangle 38">
            <a:extLst>
              <a:ext uri="{FF2B5EF4-FFF2-40B4-BE49-F238E27FC236}">
                <a16:creationId xmlns:a16="http://schemas.microsoft.com/office/drawing/2014/main" id="{97988F1A-D3BE-4311-B2C4-67A124415642}"/>
              </a:ext>
            </a:extLst>
          </p:cNvPr>
          <p:cNvSpPr/>
          <p:nvPr/>
        </p:nvSpPr>
        <p:spPr>
          <a:xfrm>
            <a:off x="533400" y="381000"/>
            <a:ext cx="50800" cy="495300"/>
          </a:xfrm>
          <a:prstGeom prst="rect">
            <a:avLst/>
          </a:prstGeom>
          <a:solidFill>
            <a:srgbClr val="37D9E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extBox 39">
            <a:extLst>
              <a:ext uri="{FF2B5EF4-FFF2-40B4-BE49-F238E27FC236}">
                <a16:creationId xmlns:a16="http://schemas.microsoft.com/office/drawing/2014/main" id="{5EC16063-CDB2-4B65-BC92-F718FBFFAD04}"/>
              </a:ext>
            </a:extLst>
          </p:cNvPr>
          <p:cNvSpPr txBox="1"/>
          <p:nvPr/>
        </p:nvSpPr>
        <p:spPr>
          <a:xfrm>
            <a:off x="9779000" y="927100"/>
            <a:ext cx="1676400" cy="138499"/>
          </a:xfrm>
          <a:prstGeom prst="rect">
            <a:avLst/>
          </a:prstGeom>
          <a:noFill/>
        </p:spPr>
        <p:txBody>
          <a:bodyPr vert="horz" wrap="square" lIns="0" tIns="0" rIns="0" bIns="0" rtlCol="0">
            <a:spAutoFit/>
          </a:bodyPr>
          <a:lstStyle/>
          <a:p>
            <a:pPr algn="r"/>
            <a:r>
              <a:rPr lang="en-US" sz="900">
                <a:solidFill>
                  <a:srgbClr val="85A0B8"/>
                </a:solidFill>
                <a:latin typeface="Bahnschrift" panose="020B0502040204020203" pitchFamily="34" charset="0"/>
              </a:rPr>
              <a:t>ANALYSIS  /  14</a:t>
            </a:r>
          </a:p>
        </p:txBody>
      </p:sp>
      <p:sp>
        <p:nvSpPr>
          <p:cNvPr id="41" name="TextBox 40">
            <a:extLst>
              <a:ext uri="{FF2B5EF4-FFF2-40B4-BE49-F238E27FC236}">
                <a16:creationId xmlns:a16="http://schemas.microsoft.com/office/drawing/2014/main" id="{87FDB134-0781-41B4-B6E0-C8AC716123B5}"/>
              </a:ext>
            </a:extLst>
          </p:cNvPr>
          <p:cNvSpPr txBox="1"/>
          <p:nvPr/>
        </p:nvSpPr>
        <p:spPr>
          <a:xfrm>
            <a:off x="9994900" y="2108200"/>
            <a:ext cx="1117600" cy="138499"/>
          </a:xfrm>
          <a:prstGeom prst="rect">
            <a:avLst/>
          </a:prstGeom>
          <a:noFill/>
        </p:spPr>
        <p:txBody>
          <a:bodyPr vert="horz" wrap="square" lIns="0" tIns="0" rIns="0" bIns="0" rtlCol="0">
            <a:spAutoFit/>
          </a:bodyPr>
          <a:lstStyle/>
          <a:p>
            <a:r>
              <a:rPr lang="en-US" sz="900" b="1">
                <a:solidFill>
                  <a:srgbClr val="85A0B8"/>
                </a:solidFill>
                <a:latin typeface="Bahnschrift" panose="020B0502040204020203" pitchFamily="34" charset="0"/>
              </a:rPr>
              <a:t>SCHEMATIC</a:t>
            </a:r>
          </a:p>
        </p:txBody>
      </p:sp>
    </p:spTree>
    <p:extLst>
      <p:ext uri="{BB962C8B-B14F-4D97-AF65-F5344CB8AC3E}">
        <p14:creationId xmlns:p14="http://schemas.microsoft.com/office/powerpoint/2010/main" val="34443136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CBFF145-D528-4C83-9EEB-195633308246}"/>
              </a:ext>
            </a:extLst>
          </p:cNvPr>
          <p:cNvSpPr/>
          <p:nvPr/>
        </p:nvSpPr>
        <p:spPr>
          <a:xfrm>
            <a:off x="0" y="0"/>
            <a:ext cx="12192000" cy="6858000"/>
          </a:xfrm>
          <a:prstGeom prst="rect">
            <a:avLst/>
          </a:prstGeom>
          <a:solidFill>
            <a:srgbClr val="08122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1880F267-C0EB-47FD-923F-DFCB143C0DE5}"/>
              </a:ext>
            </a:extLst>
          </p:cNvPr>
          <p:cNvSpPr txBox="1"/>
          <p:nvPr/>
        </p:nvSpPr>
        <p:spPr>
          <a:xfrm>
            <a:off x="685800" y="368300"/>
            <a:ext cx="10795000" cy="430887"/>
          </a:xfrm>
          <a:prstGeom prst="rect">
            <a:avLst/>
          </a:prstGeom>
          <a:noFill/>
        </p:spPr>
        <p:txBody>
          <a:bodyPr vert="horz" wrap="square" lIns="0" tIns="0" rIns="0" bIns="0" rtlCol="0">
            <a:spAutoFit/>
          </a:bodyPr>
          <a:lstStyle/>
          <a:p>
            <a:r>
              <a:rPr lang="en-US" sz="2800" b="1">
                <a:solidFill>
                  <a:srgbClr val="EEF6FF"/>
                </a:solidFill>
                <a:latin typeface="Bahnschrift" panose="020B0502040204020203" pitchFamily="34" charset="0"/>
              </a:rPr>
              <a:t>Steganography: hide text in sound</a:t>
            </a:r>
          </a:p>
        </p:txBody>
      </p:sp>
      <p:cxnSp>
        <p:nvCxnSpPr>
          <p:cNvPr id="4" name="Straight Connector 3">
            <a:extLst>
              <a:ext uri="{FF2B5EF4-FFF2-40B4-BE49-F238E27FC236}">
                <a16:creationId xmlns:a16="http://schemas.microsoft.com/office/drawing/2014/main" id="{5CB08722-0840-4DE7-BB42-6BBA53345BCE}"/>
              </a:ext>
            </a:extLst>
          </p:cNvPr>
          <p:cNvCxnSpPr/>
          <p:nvPr/>
        </p:nvCxnSpPr>
        <p:spPr>
          <a:xfrm>
            <a:off x="685800" y="1168400"/>
            <a:ext cx="10820400" cy="0"/>
          </a:xfrm>
          <a:prstGeom prst="line">
            <a:avLst/>
          </a:prstGeom>
          <a:ln w="17780">
            <a:solidFill>
              <a:srgbClr val="37D9E9"/>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140542D6-21B9-4BD3-B80A-A5514A4F224A}"/>
              </a:ext>
            </a:extLst>
          </p:cNvPr>
          <p:cNvSpPr txBox="1"/>
          <p:nvPr/>
        </p:nvSpPr>
        <p:spPr>
          <a:xfrm>
            <a:off x="685800" y="6502400"/>
            <a:ext cx="3810000" cy="153888"/>
          </a:xfrm>
          <a:prstGeom prst="rect">
            <a:avLst/>
          </a:prstGeom>
          <a:noFill/>
        </p:spPr>
        <p:txBody>
          <a:bodyPr vert="horz" wrap="square" lIns="0" tIns="0" rIns="0" bIns="0" rtlCol="0">
            <a:spAutoFit/>
          </a:bodyPr>
          <a:lstStyle/>
          <a:p>
            <a:r>
              <a:rPr lang="en-US" sz="1000" b="1">
                <a:solidFill>
                  <a:srgbClr val="85A0B8"/>
                </a:solidFill>
                <a:latin typeface="Aptos"/>
              </a:rPr>
              <a:t>SIGNAL STUDIO</a:t>
            </a:r>
          </a:p>
        </p:txBody>
      </p:sp>
      <p:sp>
        <p:nvSpPr>
          <p:cNvPr id="6" name="TextBox 5">
            <a:extLst>
              <a:ext uri="{FF2B5EF4-FFF2-40B4-BE49-F238E27FC236}">
                <a16:creationId xmlns:a16="http://schemas.microsoft.com/office/drawing/2014/main" id="{732A7762-47FD-4C62-9676-36E970FCB20B}"/>
              </a:ext>
            </a:extLst>
          </p:cNvPr>
          <p:cNvSpPr txBox="1"/>
          <p:nvPr/>
        </p:nvSpPr>
        <p:spPr>
          <a:xfrm>
            <a:off x="11430000" y="6502400"/>
            <a:ext cx="444500" cy="153888"/>
          </a:xfrm>
          <a:prstGeom prst="rect">
            <a:avLst/>
          </a:prstGeom>
          <a:noFill/>
        </p:spPr>
        <p:txBody>
          <a:bodyPr vert="horz" wrap="square" lIns="0" tIns="0" rIns="0" bIns="0" rtlCol="0">
            <a:spAutoFit/>
          </a:bodyPr>
          <a:lstStyle/>
          <a:p>
            <a:pPr algn="r"/>
            <a:r>
              <a:rPr lang="en-US" sz="1000" b="1">
                <a:solidFill>
                  <a:srgbClr val="37D9E9"/>
                </a:solidFill>
                <a:latin typeface="Bahnschrift" panose="020B0502040204020203" pitchFamily="34" charset="0"/>
              </a:rPr>
              <a:t>15</a:t>
            </a:r>
          </a:p>
        </p:txBody>
      </p:sp>
      <p:sp>
        <p:nvSpPr>
          <p:cNvPr id="24" name="TextBox 23">
            <a:extLst>
              <a:ext uri="{FF2B5EF4-FFF2-40B4-BE49-F238E27FC236}">
                <a16:creationId xmlns:a16="http://schemas.microsoft.com/office/drawing/2014/main" id="{44CD026D-63AE-44E5-88A8-FD1BA61740B9}"/>
              </a:ext>
            </a:extLst>
          </p:cNvPr>
          <p:cNvSpPr txBox="1"/>
          <p:nvPr/>
        </p:nvSpPr>
        <p:spPr>
          <a:xfrm>
            <a:off x="889000" y="1549400"/>
            <a:ext cx="8890000" cy="230832"/>
          </a:xfrm>
          <a:prstGeom prst="rect">
            <a:avLst/>
          </a:prstGeom>
          <a:noFill/>
        </p:spPr>
        <p:txBody>
          <a:bodyPr vert="horz" wrap="square" lIns="0" tIns="0" rIns="0" bIns="0" rtlCol="0">
            <a:spAutoFit/>
          </a:bodyPr>
          <a:lstStyle/>
          <a:p>
            <a:r>
              <a:rPr lang="en-US" sz="1500" b="1">
                <a:solidFill>
                  <a:srgbClr val="37D9E9"/>
                </a:solidFill>
                <a:latin typeface="Bahnschrift" panose="020B0502040204020203" pitchFamily="34" charset="0"/>
              </a:rPr>
              <a:t>SMALL CHANGES IN FFT MAGNITUDES</a:t>
            </a:r>
          </a:p>
        </p:txBody>
      </p:sp>
      <p:sp>
        <p:nvSpPr>
          <p:cNvPr id="25" name="Rectangle 24">
            <a:extLst>
              <a:ext uri="{FF2B5EF4-FFF2-40B4-BE49-F238E27FC236}">
                <a16:creationId xmlns:a16="http://schemas.microsoft.com/office/drawing/2014/main" id="{81858890-85E1-4DB5-B5EE-8D7386672965}"/>
              </a:ext>
            </a:extLst>
          </p:cNvPr>
          <p:cNvSpPr/>
          <p:nvPr/>
        </p:nvSpPr>
        <p:spPr>
          <a:xfrm>
            <a:off x="863600" y="2032000"/>
            <a:ext cx="10464800" cy="2260600"/>
          </a:xfrm>
          <a:prstGeom prst="rect">
            <a:avLst/>
          </a:prstGeom>
          <a:solidFill>
            <a:srgbClr val="0F2235"/>
          </a:solidFill>
          <a:ln w="10160">
            <a:solidFill>
              <a:srgbClr val="264B6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356F9554-E195-4150-94B3-F8B48C418C60}"/>
              </a:ext>
            </a:extLst>
          </p:cNvPr>
          <p:cNvSpPr txBox="1"/>
          <p:nvPr/>
        </p:nvSpPr>
        <p:spPr>
          <a:xfrm>
            <a:off x="1092200" y="2387600"/>
            <a:ext cx="1841500" cy="230832"/>
          </a:xfrm>
          <a:prstGeom prst="rect">
            <a:avLst/>
          </a:prstGeom>
          <a:noFill/>
        </p:spPr>
        <p:txBody>
          <a:bodyPr vert="horz" wrap="square" lIns="0" tIns="0" rIns="0" bIns="0" rtlCol="0">
            <a:spAutoFit/>
          </a:bodyPr>
          <a:lstStyle/>
          <a:p>
            <a:r>
              <a:rPr lang="en-US" sz="1500">
                <a:solidFill>
                  <a:srgbClr val="CCDDEC"/>
                </a:solidFill>
                <a:latin typeface="Aptos"/>
              </a:rPr>
              <a:t>message bits</a:t>
            </a:r>
          </a:p>
        </p:txBody>
      </p:sp>
      <p:sp>
        <p:nvSpPr>
          <p:cNvPr id="27" name="TextBox 26">
            <a:extLst>
              <a:ext uri="{FF2B5EF4-FFF2-40B4-BE49-F238E27FC236}">
                <a16:creationId xmlns:a16="http://schemas.microsoft.com/office/drawing/2014/main" id="{93B55598-2A68-48A7-92A3-0F4AB352C67B}"/>
              </a:ext>
            </a:extLst>
          </p:cNvPr>
          <p:cNvSpPr txBox="1"/>
          <p:nvPr/>
        </p:nvSpPr>
        <p:spPr>
          <a:xfrm>
            <a:off x="1104900" y="2768600"/>
            <a:ext cx="2159000" cy="353943"/>
          </a:xfrm>
          <a:prstGeom prst="rect">
            <a:avLst/>
          </a:prstGeom>
          <a:noFill/>
        </p:spPr>
        <p:txBody>
          <a:bodyPr vert="horz" wrap="square" lIns="0" tIns="0" rIns="0" bIns="0" rtlCol="0">
            <a:spAutoFit/>
          </a:bodyPr>
          <a:lstStyle/>
          <a:p>
            <a:r>
              <a:rPr lang="en-US" sz="2300" b="1">
                <a:solidFill>
                  <a:srgbClr val="FF64A5"/>
                </a:solidFill>
                <a:latin typeface="Consolas" panose="020B0609020204030204" pitchFamily="49" charset="0"/>
              </a:rPr>
              <a:t>0  1  1  0</a:t>
            </a:r>
          </a:p>
        </p:txBody>
      </p:sp>
      <p:cxnSp>
        <p:nvCxnSpPr>
          <p:cNvPr id="28" name="Straight Connector 27">
            <a:extLst>
              <a:ext uri="{FF2B5EF4-FFF2-40B4-BE49-F238E27FC236}">
                <a16:creationId xmlns:a16="http://schemas.microsoft.com/office/drawing/2014/main" id="{B8E16BE6-DB7A-4E1A-9FF5-F1B0AA007FD8}"/>
              </a:ext>
            </a:extLst>
          </p:cNvPr>
          <p:cNvCxnSpPr/>
          <p:nvPr/>
        </p:nvCxnSpPr>
        <p:spPr>
          <a:xfrm>
            <a:off x="3302000" y="3035300"/>
            <a:ext cx="787400" cy="0"/>
          </a:xfrm>
          <a:prstGeom prst="line">
            <a:avLst/>
          </a:prstGeom>
          <a:ln w="22860">
            <a:solidFill>
              <a:srgbClr val="85A0B8"/>
            </a:solidFill>
            <a:tailEnd type="arrow"/>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C69BF0D6-1F79-4E12-BC98-DA3793C4919A}"/>
              </a:ext>
            </a:extLst>
          </p:cNvPr>
          <p:cNvSpPr txBox="1"/>
          <p:nvPr/>
        </p:nvSpPr>
        <p:spPr>
          <a:xfrm>
            <a:off x="4318000" y="2349500"/>
            <a:ext cx="2921000" cy="230832"/>
          </a:xfrm>
          <a:prstGeom prst="rect">
            <a:avLst/>
          </a:prstGeom>
          <a:noFill/>
        </p:spPr>
        <p:txBody>
          <a:bodyPr vert="horz" wrap="square" lIns="0" tIns="0" rIns="0" bIns="0" rtlCol="0">
            <a:spAutoFit/>
          </a:bodyPr>
          <a:lstStyle/>
          <a:p>
            <a:r>
              <a:rPr lang="en-US" sz="1500">
                <a:solidFill>
                  <a:srgbClr val="CCDDEC"/>
                </a:solidFill>
                <a:latin typeface="Aptos"/>
              </a:rPr>
              <a:t>selected FFT bins</a:t>
            </a:r>
          </a:p>
        </p:txBody>
      </p:sp>
      <p:cxnSp>
        <p:nvCxnSpPr>
          <p:cNvPr id="30" name="Straight Connector 29">
            <a:extLst>
              <a:ext uri="{FF2B5EF4-FFF2-40B4-BE49-F238E27FC236}">
                <a16:creationId xmlns:a16="http://schemas.microsoft.com/office/drawing/2014/main" id="{68F60209-C985-4F8D-B01E-B9003DE2AFB4}"/>
              </a:ext>
            </a:extLst>
          </p:cNvPr>
          <p:cNvCxnSpPr/>
          <p:nvPr/>
        </p:nvCxnSpPr>
        <p:spPr>
          <a:xfrm flipV="1">
            <a:off x="4445000" y="3365500"/>
            <a:ext cx="0" cy="406400"/>
          </a:xfrm>
          <a:prstGeom prst="line">
            <a:avLst/>
          </a:prstGeom>
          <a:ln w="10160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6AB4A266-5AEF-4D07-8BBB-F92D0CB43F8F}"/>
              </a:ext>
            </a:extLst>
          </p:cNvPr>
          <p:cNvCxnSpPr/>
          <p:nvPr/>
        </p:nvCxnSpPr>
        <p:spPr>
          <a:xfrm flipV="1">
            <a:off x="4775200" y="2984500"/>
            <a:ext cx="0" cy="787400"/>
          </a:xfrm>
          <a:prstGeom prst="line">
            <a:avLst/>
          </a:prstGeom>
          <a:ln w="10160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072A8B83-15AC-4573-BD8F-2F1E52CA1211}"/>
              </a:ext>
            </a:extLst>
          </p:cNvPr>
          <p:cNvCxnSpPr/>
          <p:nvPr/>
        </p:nvCxnSpPr>
        <p:spPr>
          <a:xfrm flipV="1">
            <a:off x="5105400" y="3263900"/>
            <a:ext cx="0" cy="508000"/>
          </a:xfrm>
          <a:prstGeom prst="line">
            <a:avLst/>
          </a:prstGeom>
          <a:ln w="10160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DDAE939B-EF90-4974-9467-42E516045136}"/>
              </a:ext>
            </a:extLst>
          </p:cNvPr>
          <p:cNvCxnSpPr/>
          <p:nvPr/>
        </p:nvCxnSpPr>
        <p:spPr>
          <a:xfrm flipV="1">
            <a:off x="5435600" y="2832100"/>
            <a:ext cx="0" cy="939800"/>
          </a:xfrm>
          <a:prstGeom prst="line">
            <a:avLst/>
          </a:prstGeom>
          <a:ln w="10160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65730166-40A8-446F-B6B4-FB367447381A}"/>
              </a:ext>
            </a:extLst>
          </p:cNvPr>
          <p:cNvCxnSpPr/>
          <p:nvPr/>
        </p:nvCxnSpPr>
        <p:spPr>
          <a:xfrm flipV="1">
            <a:off x="5765800" y="3149600"/>
            <a:ext cx="0" cy="622300"/>
          </a:xfrm>
          <a:prstGeom prst="line">
            <a:avLst/>
          </a:prstGeom>
          <a:ln w="10160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E6EBFD71-FC98-4A19-A3DC-5564ABD7CCCB}"/>
              </a:ext>
            </a:extLst>
          </p:cNvPr>
          <p:cNvCxnSpPr/>
          <p:nvPr/>
        </p:nvCxnSpPr>
        <p:spPr>
          <a:xfrm flipV="1">
            <a:off x="6096000" y="2921000"/>
            <a:ext cx="0" cy="850900"/>
          </a:xfrm>
          <a:prstGeom prst="line">
            <a:avLst/>
          </a:prstGeom>
          <a:ln w="10160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000132EC-9D1D-4A48-A79A-B9A0C1E89A28}"/>
              </a:ext>
            </a:extLst>
          </p:cNvPr>
          <p:cNvCxnSpPr/>
          <p:nvPr/>
        </p:nvCxnSpPr>
        <p:spPr>
          <a:xfrm flipV="1">
            <a:off x="6426200" y="3302000"/>
            <a:ext cx="0" cy="469900"/>
          </a:xfrm>
          <a:prstGeom prst="line">
            <a:avLst/>
          </a:prstGeom>
          <a:ln w="101600">
            <a:solidFill>
              <a:srgbClr val="FF64A5"/>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3E1C4350-9677-42C1-BC71-F0314F4E9145}"/>
              </a:ext>
            </a:extLst>
          </p:cNvPr>
          <p:cNvCxnSpPr/>
          <p:nvPr/>
        </p:nvCxnSpPr>
        <p:spPr>
          <a:xfrm flipV="1">
            <a:off x="6756400" y="3073400"/>
            <a:ext cx="0" cy="698500"/>
          </a:xfrm>
          <a:prstGeom prst="line">
            <a:avLst/>
          </a:prstGeom>
          <a:ln w="101600">
            <a:solidFill>
              <a:srgbClr val="37D9E9"/>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448F348E-2817-4051-8A0D-EF2176C4E462}"/>
              </a:ext>
            </a:extLst>
          </p:cNvPr>
          <p:cNvCxnSpPr/>
          <p:nvPr/>
        </p:nvCxnSpPr>
        <p:spPr>
          <a:xfrm>
            <a:off x="7429500" y="3035300"/>
            <a:ext cx="723900" cy="0"/>
          </a:xfrm>
          <a:prstGeom prst="line">
            <a:avLst/>
          </a:prstGeom>
          <a:ln w="22860">
            <a:solidFill>
              <a:srgbClr val="85A0B8"/>
            </a:solidFill>
            <a:tailEnd type="arrow"/>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2866594D-0432-41A7-9321-AB8479511E11}"/>
              </a:ext>
            </a:extLst>
          </p:cNvPr>
          <p:cNvSpPr txBox="1"/>
          <p:nvPr/>
        </p:nvSpPr>
        <p:spPr>
          <a:xfrm>
            <a:off x="8394700" y="2616200"/>
            <a:ext cx="2603500" cy="323165"/>
          </a:xfrm>
          <a:prstGeom prst="rect">
            <a:avLst/>
          </a:prstGeom>
          <a:noFill/>
        </p:spPr>
        <p:txBody>
          <a:bodyPr vert="horz" wrap="square" lIns="0" tIns="0" rIns="0" bIns="0" rtlCol="0">
            <a:spAutoFit/>
          </a:bodyPr>
          <a:lstStyle/>
          <a:p>
            <a:r>
              <a:rPr lang="en-US" sz="2100" b="1">
                <a:solidFill>
                  <a:srgbClr val="37D9E9"/>
                </a:solidFill>
                <a:latin typeface="Bahnschrift" panose="020B0502040204020203" pitchFamily="34" charset="0"/>
              </a:rPr>
              <a:t>playable WAV</a:t>
            </a:r>
          </a:p>
        </p:txBody>
      </p:sp>
      <p:sp>
        <p:nvSpPr>
          <p:cNvPr id="40" name="TextBox 39">
            <a:extLst>
              <a:ext uri="{FF2B5EF4-FFF2-40B4-BE49-F238E27FC236}">
                <a16:creationId xmlns:a16="http://schemas.microsoft.com/office/drawing/2014/main" id="{8508A1CB-0494-4853-837C-E923F3322567}"/>
              </a:ext>
            </a:extLst>
          </p:cNvPr>
          <p:cNvSpPr txBox="1"/>
          <p:nvPr/>
        </p:nvSpPr>
        <p:spPr>
          <a:xfrm>
            <a:off x="901700" y="4470400"/>
            <a:ext cx="10388600" cy="276999"/>
          </a:xfrm>
          <a:prstGeom prst="rect">
            <a:avLst/>
          </a:prstGeom>
          <a:noFill/>
        </p:spPr>
        <p:txBody>
          <a:bodyPr vert="horz" wrap="square" lIns="0" tIns="0" rIns="0" bIns="0" rtlCol="0">
            <a:spAutoFit/>
          </a:bodyPr>
          <a:lstStyle/>
          <a:p>
            <a:r>
              <a:rPr lang="en-US">
                <a:solidFill>
                  <a:srgbClr val="CCDDEC"/>
                </a:solidFill>
                <a:latin typeface="Aptos"/>
              </a:rPr>
              <a:t>Bit 0 uses an even magnitude step; bit 1 uses an odd step. Phase is kept.</a:t>
            </a:r>
          </a:p>
        </p:txBody>
      </p:sp>
      <p:sp>
        <p:nvSpPr>
          <p:cNvPr id="41" name="Rectangle 40">
            <a:extLst>
              <a:ext uri="{FF2B5EF4-FFF2-40B4-BE49-F238E27FC236}">
                <a16:creationId xmlns:a16="http://schemas.microsoft.com/office/drawing/2014/main" id="{7FBB6FF8-3963-4E1C-950B-738578631977}"/>
              </a:ext>
            </a:extLst>
          </p:cNvPr>
          <p:cNvSpPr/>
          <p:nvPr/>
        </p:nvSpPr>
        <p:spPr>
          <a:xfrm>
            <a:off x="863600" y="5156200"/>
            <a:ext cx="10464800" cy="558800"/>
          </a:xfrm>
          <a:prstGeom prst="rect">
            <a:avLst/>
          </a:prstGeom>
          <a:solidFill>
            <a:srgbClr val="0F2235"/>
          </a:solidFill>
          <a:ln w="10160">
            <a:solidFill>
              <a:srgbClr val="264B6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TextBox 41">
            <a:extLst>
              <a:ext uri="{FF2B5EF4-FFF2-40B4-BE49-F238E27FC236}">
                <a16:creationId xmlns:a16="http://schemas.microsoft.com/office/drawing/2014/main" id="{0B2FB32A-DD81-4086-9809-4104A769920A}"/>
              </a:ext>
            </a:extLst>
          </p:cNvPr>
          <p:cNvSpPr txBox="1"/>
          <p:nvPr/>
        </p:nvSpPr>
        <p:spPr>
          <a:xfrm>
            <a:off x="1066800" y="5283200"/>
            <a:ext cx="10058400" cy="203133"/>
          </a:xfrm>
          <a:prstGeom prst="rect">
            <a:avLst/>
          </a:prstGeom>
          <a:noFill/>
        </p:spPr>
        <p:txBody>
          <a:bodyPr vert="horz" wrap="square" lIns="0" tIns="0" rIns="0" bIns="0" rtlCol="0">
            <a:spAutoFit/>
          </a:bodyPr>
          <a:lstStyle/>
          <a:p>
            <a:r>
              <a:rPr lang="en-US" sz="1320">
                <a:solidFill>
                  <a:srgbClr val="37D9E9"/>
                </a:solidFill>
                <a:latin typeface="Consolas" panose="020B0609020204030204" pitchFamily="49" charset="0"/>
              </a:rPr>
              <a:t>new_mag = quantize(abs(X[k]), bit, delta); X[k] = new_mag * exp(1j * phase)</a:t>
            </a:r>
          </a:p>
        </p:txBody>
      </p:sp>
      <p:sp>
        <p:nvSpPr>
          <p:cNvPr id="43" name="TextBox 42">
            <a:extLst>
              <a:ext uri="{FF2B5EF4-FFF2-40B4-BE49-F238E27FC236}">
                <a16:creationId xmlns:a16="http://schemas.microsoft.com/office/drawing/2014/main" id="{C728DAB2-11E6-49FB-B4B5-35EF3C9D9FE5}"/>
              </a:ext>
            </a:extLst>
          </p:cNvPr>
          <p:cNvSpPr txBox="1"/>
          <p:nvPr/>
        </p:nvSpPr>
        <p:spPr>
          <a:xfrm>
            <a:off x="889000" y="5918200"/>
            <a:ext cx="1841500" cy="169277"/>
          </a:xfrm>
          <a:prstGeom prst="rect">
            <a:avLst/>
          </a:prstGeom>
          <a:noFill/>
        </p:spPr>
        <p:txBody>
          <a:bodyPr vert="horz" wrap="square" lIns="0" tIns="0" rIns="0" bIns="0" rtlCol="0">
            <a:spAutoFit/>
          </a:bodyPr>
          <a:lstStyle/>
          <a:p>
            <a:r>
              <a:rPr lang="en-US" sz="1100" b="1">
                <a:solidFill>
                  <a:srgbClr val="FF64A5"/>
                </a:solidFill>
                <a:latin typeface="Bahnschrift" panose="020B0502040204020203" pitchFamily="34" charset="0"/>
              </a:rPr>
              <a:t>TRY IN THE APP</a:t>
            </a:r>
          </a:p>
        </p:txBody>
      </p:sp>
      <p:sp>
        <p:nvSpPr>
          <p:cNvPr id="44" name="TextBox 43">
            <a:extLst>
              <a:ext uri="{FF2B5EF4-FFF2-40B4-BE49-F238E27FC236}">
                <a16:creationId xmlns:a16="http://schemas.microsoft.com/office/drawing/2014/main" id="{10050FE5-6C69-441E-932E-5FB917073AFB}"/>
              </a:ext>
            </a:extLst>
          </p:cNvPr>
          <p:cNvSpPr txBox="1"/>
          <p:nvPr/>
        </p:nvSpPr>
        <p:spPr>
          <a:xfrm>
            <a:off x="2794000" y="5880100"/>
            <a:ext cx="8483600" cy="230832"/>
          </a:xfrm>
          <a:prstGeom prst="rect">
            <a:avLst/>
          </a:prstGeom>
          <a:noFill/>
        </p:spPr>
        <p:txBody>
          <a:bodyPr vert="horz" wrap="square" lIns="0" tIns="0" rIns="0" bIns="0" rtlCol="0">
            <a:spAutoFit/>
          </a:bodyPr>
          <a:lstStyle/>
          <a:p>
            <a:r>
              <a:rPr lang="en-US" sz="1500">
                <a:solidFill>
                  <a:srgbClr val="CCDDEC"/>
                </a:solidFill>
                <a:latin typeface="Aptos"/>
              </a:rPr>
              <a:t>Hide a short message, save the WAV, then extract the text.</a:t>
            </a:r>
          </a:p>
        </p:txBody>
      </p:sp>
      <p:sp>
        <p:nvSpPr>
          <p:cNvPr id="45" name="Rectangle 44">
            <a:extLst>
              <a:ext uri="{FF2B5EF4-FFF2-40B4-BE49-F238E27FC236}">
                <a16:creationId xmlns:a16="http://schemas.microsoft.com/office/drawing/2014/main" id="{0D23FCC7-F94D-474D-9B46-2704D2BAE0F1}"/>
              </a:ext>
            </a:extLst>
          </p:cNvPr>
          <p:cNvSpPr/>
          <p:nvPr/>
        </p:nvSpPr>
        <p:spPr>
          <a:xfrm>
            <a:off x="533400" y="381000"/>
            <a:ext cx="50800" cy="495300"/>
          </a:xfrm>
          <a:prstGeom prst="rect">
            <a:avLst/>
          </a:prstGeom>
          <a:solidFill>
            <a:srgbClr val="37D9E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TextBox 45">
            <a:extLst>
              <a:ext uri="{FF2B5EF4-FFF2-40B4-BE49-F238E27FC236}">
                <a16:creationId xmlns:a16="http://schemas.microsoft.com/office/drawing/2014/main" id="{413E17AF-762C-4C80-A70B-700C2A519B00}"/>
              </a:ext>
            </a:extLst>
          </p:cNvPr>
          <p:cNvSpPr txBox="1"/>
          <p:nvPr/>
        </p:nvSpPr>
        <p:spPr>
          <a:xfrm>
            <a:off x="9779000" y="927100"/>
            <a:ext cx="1676400" cy="138499"/>
          </a:xfrm>
          <a:prstGeom prst="rect">
            <a:avLst/>
          </a:prstGeom>
          <a:noFill/>
        </p:spPr>
        <p:txBody>
          <a:bodyPr vert="horz" wrap="square" lIns="0" tIns="0" rIns="0" bIns="0" rtlCol="0">
            <a:spAutoFit/>
          </a:bodyPr>
          <a:lstStyle/>
          <a:p>
            <a:pPr algn="r"/>
            <a:r>
              <a:rPr lang="en-US" sz="900">
                <a:solidFill>
                  <a:srgbClr val="85A0B8"/>
                </a:solidFill>
                <a:latin typeface="Bahnschrift" panose="020B0502040204020203" pitchFamily="34" charset="0"/>
              </a:rPr>
              <a:t>ANALYSIS  /  15</a:t>
            </a:r>
          </a:p>
        </p:txBody>
      </p:sp>
      <p:sp>
        <p:nvSpPr>
          <p:cNvPr id="47" name="TextBox 46">
            <a:extLst>
              <a:ext uri="{FF2B5EF4-FFF2-40B4-BE49-F238E27FC236}">
                <a16:creationId xmlns:a16="http://schemas.microsoft.com/office/drawing/2014/main" id="{3CBF3B12-8762-4AB3-AFAA-0DCD735CF11F}"/>
              </a:ext>
            </a:extLst>
          </p:cNvPr>
          <p:cNvSpPr txBox="1"/>
          <p:nvPr/>
        </p:nvSpPr>
        <p:spPr>
          <a:xfrm>
            <a:off x="9994900" y="2108200"/>
            <a:ext cx="1117600" cy="138499"/>
          </a:xfrm>
          <a:prstGeom prst="rect">
            <a:avLst/>
          </a:prstGeom>
          <a:noFill/>
        </p:spPr>
        <p:txBody>
          <a:bodyPr vert="horz" wrap="square" lIns="0" tIns="0" rIns="0" bIns="0" rtlCol="0">
            <a:spAutoFit/>
          </a:bodyPr>
          <a:lstStyle/>
          <a:p>
            <a:r>
              <a:rPr lang="en-US" sz="900" b="1">
                <a:solidFill>
                  <a:srgbClr val="85A0B8"/>
                </a:solidFill>
                <a:latin typeface="Bahnschrift" panose="020B0502040204020203" pitchFamily="34" charset="0"/>
              </a:rPr>
              <a:t>SCHEMATIC</a:t>
            </a:r>
          </a:p>
        </p:txBody>
      </p:sp>
    </p:spTree>
    <p:extLst>
      <p:ext uri="{BB962C8B-B14F-4D97-AF65-F5344CB8AC3E}">
        <p14:creationId xmlns:p14="http://schemas.microsoft.com/office/powerpoint/2010/main" val="38080171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248E8B3-7ABF-4EDA-BD7E-C94E226022C7}"/>
              </a:ext>
            </a:extLst>
          </p:cNvPr>
          <p:cNvSpPr/>
          <p:nvPr/>
        </p:nvSpPr>
        <p:spPr>
          <a:xfrm>
            <a:off x="0" y="0"/>
            <a:ext cx="12192000" cy="6858000"/>
          </a:xfrm>
          <a:prstGeom prst="rect">
            <a:avLst/>
          </a:prstGeom>
          <a:solidFill>
            <a:srgbClr val="08122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20DE48DB-2634-473A-9867-6470B9556919}"/>
              </a:ext>
            </a:extLst>
          </p:cNvPr>
          <p:cNvSpPr txBox="1"/>
          <p:nvPr/>
        </p:nvSpPr>
        <p:spPr>
          <a:xfrm>
            <a:off x="685800" y="368300"/>
            <a:ext cx="10795000" cy="430887"/>
          </a:xfrm>
          <a:prstGeom prst="rect">
            <a:avLst/>
          </a:prstGeom>
          <a:noFill/>
        </p:spPr>
        <p:txBody>
          <a:bodyPr vert="horz" wrap="square" lIns="0" tIns="0" rIns="0" bIns="0" rtlCol="0">
            <a:spAutoFit/>
          </a:bodyPr>
          <a:lstStyle/>
          <a:p>
            <a:r>
              <a:rPr lang="en-US" sz="2800" b="1">
                <a:solidFill>
                  <a:srgbClr val="EEF6FF"/>
                </a:solidFill>
                <a:latin typeface="Bahnschrift" panose="020B0502040204020203" pitchFamily="34" charset="0"/>
              </a:rPr>
              <a:t>Results and limits</a:t>
            </a:r>
          </a:p>
        </p:txBody>
      </p:sp>
      <p:cxnSp>
        <p:nvCxnSpPr>
          <p:cNvPr id="4" name="Straight Connector 3">
            <a:extLst>
              <a:ext uri="{FF2B5EF4-FFF2-40B4-BE49-F238E27FC236}">
                <a16:creationId xmlns:a16="http://schemas.microsoft.com/office/drawing/2014/main" id="{802453A6-2608-4C7A-88C4-5D4D57956092}"/>
              </a:ext>
            </a:extLst>
          </p:cNvPr>
          <p:cNvCxnSpPr/>
          <p:nvPr/>
        </p:nvCxnSpPr>
        <p:spPr>
          <a:xfrm>
            <a:off x="685800" y="1168400"/>
            <a:ext cx="10820400" cy="0"/>
          </a:xfrm>
          <a:prstGeom prst="line">
            <a:avLst/>
          </a:prstGeom>
          <a:ln w="17780">
            <a:solidFill>
              <a:srgbClr val="37D9E9"/>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D1D8BD4F-C953-4B6B-B537-6A95D21E7BEA}"/>
              </a:ext>
            </a:extLst>
          </p:cNvPr>
          <p:cNvSpPr txBox="1"/>
          <p:nvPr/>
        </p:nvSpPr>
        <p:spPr>
          <a:xfrm>
            <a:off x="685800" y="6502400"/>
            <a:ext cx="3810000" cy="153888"/>
          </a:xfrm>
          <a:prstGeom prst="rect">
            <a:avLst/>
          </a:prstGeom>
          <a:noFill/>
        </p:spPr>
        <p:txBody>
          <a:bodyPr vert="horz" wrap="square" lIns="0" tIns="0" rIns="0" bIns="0" rtlCol="0">
            <a:spAutoFit/>
          </a:bodyPr>
          <a:lstStyle/>
          <a:p>
            <a:r>
              <a:rPr lang="en-US" sz="1000" b="1">
                <a:solidFill>
                  <a:srgbClr val="85A0B8"/>
                </a:solidFill>
                <a:latin typeface="Aptos"/>
              </a:rPr>
              <a:t>SIGNAL STUDIO</a:t>
            </a:r>
          </a:p>
        </p:txBody>
      </p:sp>
      <p:sp>
        <p:nvSpPr>
          <p:cNvPr id="6" name="TextBox 5">
            <a:extLst>
              <a:ext uri="{FF2B5EF4-FFF2-40B4-BE49-F238E27FC236}">
                <a16:creationId xmlns:a16="http://schemas.microsoft.com/office/drawing/2014/main" id="{983C82A2-01C5-4036-A6C8-756E5A7E0DBC}"/>
              </a:ext>
            </a:extLst>
          </p:cNvPr>
          <p:cNvSpPr txBox="1"/>
          <p:nvPr/>
        </p:nvSpPr>
        <p:spPr>
          <a:xfrm>
            <a:off x="11430000" y="6502400"/>
            <a:ext cx="444500" cy="153888"/>
          </a:xfrm>
          <a:prstGeom prst="rect">
            <a:avLst/>
          </a:prstGeom>
          <a:noFill/>
        </p:spPr>
        <p:txBody>
          <a:bodyPr vert="horz" wrap="square" lIns="0" tIns="0" rIns="0" bIns="0" rtlCol="0">
            <a:spAutoFit/>
          </a:bodyPr>
          <a:lstStyle/>
          <a:p>
            <a:pPr algn="r"/>
            <a:r>
              <a:rPr lang="en-US" sz="1000" b="1">
                <a:solidFill>
                  <a:srgbClr val="37D9E9"/>
                </a:solidFill>
                <a:latin typeface="Bahnschrift" panose="020B0502040204020203" pitchFamily="34" charset="0"/>
              </a:rPr>
              <a:t>21</a:t>
            </a:r>
          </a:p>
        </p:txBody>
      </p:sp>
      <p:sp>
        <p:nvSpPr>
          <p:cNvPr id="16" name="TextBox 15">
            <a:extLst>
              <a:ext uri="{FF2B5EF4-FFF2-40B4-BE49-F238E27FC236}">
                <a16:creationId xmlns:a16="http://schemas.microsoft.com/office/drawing/2014/main" id="{FFA99332-4E8A-47D1-8E85-A7827A5A817E}"/>
              </a:ext>
            </a:extLst>
          </p:cNvPr>
          <p:cNvSpPr txBox="1"/>
          <p:nvPr/>
        </p:nvSpPr>
        <p:spPr>
          <a:xfrm>
            <a:off x="850900" y="1600200"/>
            <a:ext cx="5334000" cy="323165"/>
          </a:xfrm>
          <a:prstGeom prst="rect">
            <a:avLst/>
          </a:prstGeom>
          <a:noFill/>
        </p:spPr>
        <p:txBody>
          <a:bodyPr vert="horz" wrap="square" lIns="0" tIns="0" rIns="0" bIns="0" rtlCol="0">
            <a:spAutoFit/>
          </a:bodyPr>
          <a:lstStyle/>
          <a:p>
            <a:r>
              <a:rPr lang="en-US" sz="2100" b="1">
                <a:solidFill>
                  <a:srgbClr val="37D9E9"/>
                </a:solidFill>
                <a:latin typeface="Bahnschrift" panose="020B0502040204020203" pitchFamily="34" charset="0"/>
              </a:rPr>
              <a:t>WHAT THE SIGNALS SHOW</a:t>
            </a:r>
          </a:p>
        </p:txBody>
      </p:sp>
      <p:sp>
        <p:nvSpPr>
          <p:cNvPr id="17" name="TextBox 16">
            <a:extLst>
              <a:ext uri="{FF2B5EF4-FFF2-40B4-BE49-F238E27FC236}">
                <a16:creationId xmlns:a16="http://schemas.microsoft.com/office/drawing/2014/main" id="{89EF9139-3FFB-461E-905B-F9526136D48C}"/>
              </a:ext>
            </a:extLst>
          </p:cNvPr>
          <p:cNvSpPr txBox="1"/>
          <p:nvPr/>
        </p:nvSpPr>
        <p:spPr>
          <a:xfrm>
            <a:off x="889000" y="2247900"/>
            <a:ext cx="3302000" cy="230832"/>
          </a:xfrm>
          <a:prstGeom prst="rect">
            <a:avLst/>
          </a:prstGeom>
          <a:noFill/>
        </p:spPr>
        <p:txBody>
          <a:bodyPr vert="horz" wrap="square" lIns="0" tIns="0" rIns="0" bIns="0" rtlCol="0">
            <a:spAutoFit/>
          </a:bodyPr>
          <a:lstStyle/>
          <a:p>
            <a:r>
              <a:rPr lang="en-US" sz="1500" b="1">
                <a:solidFill>
                  <a:srgbClr val="37D9E9"/>
                </a:solidFill>
                <a:latin typeface="Bahnschrift" panose="020B0502040204020203" pitchFamily="34" charset="0"/>
              </a:rPr>
              <a:t>HEART AUDIO</a:t>
            </a:r>
          </a:p>
        </p:txBody>
      </p:sp>
      <p:sp>
        <p:nvSpPr>
          <p:cNvPr id="18" name="TextBox 17">
            <a:extLst>
              <a:ext uri="{FF2B5EF4-FFF2-40B4-BE49-F238E27FC236}">
                <a16:creationId xmlns:a16="http://schemas.microsoft.com/office/drawing/2014/main" id="{A9B93644-AB00-4396-8094-8805131EEF66}"/>
              </a:ext>
            </a:extLst>
          </p:cNvPr>
          <p:cNvSpPr txBox="1"/>
          <p:nvPr/>
        </p:nvSpPr>
        <p:spPr>
          <a:xfrm>
            <a:off x="889000" y="2654300"/>
            <a:ext cx="4953000" cy="584775"/>
          </a:xfrm>
          <a:prstGeom prst="rect">
            <a:avLst/>
          </a:prstGeom>
          <a:noFill/>
        </p:spPr>
        <p:txBody>
          <a:bodyPr vert="horz" wrap="square" lIns="0" tIns="0" rIns="0" bIns="0" rtlCol="0">
            <a:spAutoFit/>
          </a:bodyPr>
          <a:lstStyle/>
          <a:p>
            <a:r>
              <a:rPr lang="en-US" sz="1900">
                <a:solidFill>
                  <a:srgbClr val="CCDDEC"/>
                </a:solidFill>
                <a:latin typeface="Aptos"/>
              </a:rPr>
              <a:t>Repeated bursts become S1/S2 timing candidates, then an estimated rate.</a:t>
            </a:r>
          </a:p>
        </p:txBody>
      </p:sp>
      <p:sp>
        <p:nvSpPr>
          <p:cNvPr id="19" name="TextBox 18">
            <a:extLst>
              <a:ext uri="{FF2B5EF4-FFF2-40B4-BE49-F238E27FC236}">
                <a16:creationId xmlns:a16="http://schemas.microsoft.com/office/drawing/2014/main" id="{F0794BD0-92F5-4427-AC52-A272583F52A0}"/>
              </a:ext>
            </a:extLst>
          </p:cNvPr>
          <p:cNvSpPr txBox="1"/>
          <p:nvPr/>
        </p:nvSpPr>
        <p:spPr>
          <a:xfrm>
            <a:off x="889000" y="3835400"/>
            <a:ext cx="3302000" cy="230832"/>
          </a:xfrm>
          <a:prstGeom prst="rect">
            <a:avLst/>
          </a:prstGeom>
          <a:noFill/>
        </p:spPr>
        <p:txBody>
          <a:bodyPr vert="horz" wrap="square" lIns="0" tIns="0" rIns="0" bIns="0" rtlCol="0">
            <a:spAutoFit/>
          </a:bodyPr>
          <a:lstStyle/>
          <a:p>
            <a:r>
              <a:rPr lang="en-US" sz="1500" b="1">
                <a:solidFill>
                  <a:srgbClr val="37D9E9"/>
                </a:solidFill>
                <a:latin typeface="Bahnschrift" panose="020B0502040204020203" pitchFamily="34" charset="0"/>
              </a:rPr>
              <a:t>MUSIC</a:t>
            </a:r>
          </a:p>
        </p:txBody>
      </p:sp>
      <p:sp>
        <p:nvSpPr>
          <p:cNvPr id="20" name="TextBox 19">
            <a:extLst>
              <a:ext uri="{FF2B5EF4-FFF2-40B4-BE49-F238E27FC236}">
                <a16:creationId xmlns:a16="http://schemas.microsoft.com/office/drawing/2014/main" id="{629058C6-D074-4DFA-A035-1BE33920B723}"/>
              </a:ext>
            </a:extLst>
          </p:cNvPr>
          <p:cNvSpPr txBox="1"/>
          <p:nvPr/>
        </p:nvSpPr>
        <p:spPr>
          <a:xfrm>
            <a:off x="889000" y="4241800"/>
            <a:ext cx="4953000" cy="584775"/>
          </a:xfrm>
          <a:prstGeom prst="rect">
            <a:avLst/>
          </a:prstGeom>
          <a:noFill/>
        </p:spPr>
        <p:txBody>
          <a:bodyPr vert="horz" wrap="square" lIns="0" tIns="0" rIns="0" bIns="0" rtlCol="0">
            <a:spAutoFit/>
          </a:bodyPr>
          <a:lstStyle/>
          <a:p>
            <a:r>
              <a:rPr lang="en-US" sz="1900">
                <a:solidFill>
                  <a:srgbClr val="CCDDEC"/>
                </a:solidFill>
                <a:latin typeface="Aptos"/>
              </a:rPr>
              <a:t>Waveform, spectrum and spectrogram reveal different parts of the same excerpt.</a:t>
            </a:r>
          </a:p>
        </p:txBody>
      </p:sp>
      <p:cxnSp>
        <p:nvCxnSpPr>
          <p:cNvPr id="21" name="Straight Connector 20">
            <a:extLst>
              <a:ext uri="{FF2B5EF4-FFF2-40B4-BE49-F238E27FC236}">
                <a16:creationId xmlns:a16="http://schemas.microsoft.com/office/drawing/2014/main" id="{5F21527A-F58B-46CA-AFD9-C17614D0A8BD}"/>
              </a:ext>
            </a:extLst>
          </p:cNvPr>
          <p:cNvCxnSpPr/>
          <p:nvPr/>
        </p:nvCxnSpPr>
        <p:spPr>
          <a:xfrm>
            <a:off x="6248400" y="1676400"/>
            <a:ext cx="0" cy="3797300"/>
          </a:xfrm>
          <a:prstGeom prst="line">
            <a:avLst/>
          </a:prstGeom>
          <a:ln w="19050">
            <a:solidFill>
              <a:srgbClr val="264B63"/>
            </a:solidFill>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B4E7F7EB-CF7A-4F96-B710-D3D7DD22DC33}"/>
              </a:ext>
            </a:extLst>
          </p:cNvPr>
          <p:cNvSpPr txBox="1"/>
          <p:nvPr/>
        </p:nvSpPr>
        <p:spPr>
          <a:xfrm>
            <a:off x="6743700" y="1600200"/>
            <a:ext cx="4635500" cy="323165"/>
          </a:xfrm>
          <a:prstGeom prst="rect">
            <a:avLst/>
          </a:prstGeom>
          <a:noFill/>
        </p:spPr>
        <p:txBody>
          <a:bodyPr vert="horz" wrap="square" lIns="0" tIns="0" rIns="0" bIns="0" rtlCol="0">
            <a:spAutoFit/>
          </a:bodyPr>
          <a:lstStyle/>
          <a:p>
            <a:r>
              <a:rPr lang="en-US" sz="2100" b="1">
                <a:solidFill>
                  <a:srgbClr val="FF64A5"/>
                </a:solidFill>
                <a:latin typeface="Bahnschrift" panose="020B0502040204020203" pitchFamily="34" charset="0"/>
              </a:rPr>
              <a:t>WHAT NEEDS CARE</a:t>
            </a:r>
          </a:p>
        </p:txBody>
      </p:sp>
      <p:sp>
        <p:nvSpPr>
          <p:cNvPr id="23" name="TextBox 22">
            <a:extLst>
              <a:ext uri="{FF2B5EF4-FFF2-40B4-BE49-F238E27FC236}">
                <a16:creationId xmlns:a16="http://schemas.microsoft.com/office/drawing/2014/main" id="{2E9AD502-D928-4A48-820D-A504D62595C4}"/>
              </a:ext>
            </a:extLst>
          </p:cNvPr>
          <p:cNvSpPr txBox="1"/>
          <p:nvPr/>
        </p:nvSpPr>
        <p:spPr>
          <a:xfrm>
            <a:off x="6743700" y="2336800"/>
            <a:ext cx="4406900" cy="877163"/>
          </a:xfrm>
          <a:prstGeom prst="rect">
            <a:avLst/>
          </a:prstGeom>
          <a:noFill/>
        </p:spPr>
        <p:txBody>
          <a:bodyPr vert="horz" wrap="square" lIns="0" tIns="0" rIns="0" bIns="0" rtlCol="0">
            <a:spAutoFit/>
          </a:bodyPr>
          <a:lstStyle/>
          <a:p>
            <a:r>
              <a:rPr lang="en-US" sz="1900">
                <a:solidFill>
                  <a:srgbClr val="CCDDEC"/>
                </a:solidFill>
                <a:latin typeface="Aptos"/>
              </a:rPr>
              <a:t>Heart labels are estimates. Musical onsets are not always beats. Repeated sounds can resemble echoes.</a:t>
            </a:r>
          </a:p>
        </p:txBody>
      </p:sp>
      <p:sp>
        <p:nvSpPr>
          <p:cNvPr id="24" name="TextBox 23">
            <a:extLst>
              <a:ext uri="{FF2B5EF4-FFF2-40B4-BE49-F238E27FC236}">
                <a16:creationId xmlns:a16="http://schemas.microsoft.com/office/drawing/2014/main" id="{3A60B339-4122-4A9A-831C-33A385E4FEAF}"/>
              </a:ext>
            </a:extLst>
          </p:cNvPr>
          <p:cNvSpPr txBox="1"/>
          <p:nvPr/>
        </p:nvSpPr>
        <p:spPr>
          <a:xfrm>
            <a:off x="6743700" y="4051300"/>
            <a:ext cx="4406900" cy="877163"/>
          </a:xfrm>
          <a:prstGeom prst="rect">
            <a:avLst/>
          </a:prstGeom>
          <a:noFill/>
        </p:spPr>
        <p:txBody>
          <a:bodyPr vert="horz" wrap="square" lIns="0" tIns="0" rIns="0" bIns="0" rtlCol="0">
            <a:spAutoFit/>
          </a:bodyPr>
          <a:lstStyle/>
          <a:p>
            <a:r>
              <a:rPr lang="en-US" sz="1900">
                <a:solidFill>
                  <a:srgbClr val="CCDDEC"/>
                </a:solidFill>
                <a:latin typeface="Aptos"/>
              </a:rPr>
              <a:t>Encrypted WAV samples must remain unchanged. Steganography hides text, but does not encrypt it.</a:t>
            </a:r>
          </a:p>
        </p:txBody>
      </p:sp>
      <p:cxnSp>
        <p:nvCxnSpPr>
          <p:cNvPr id="25" name="Straight Connector 24">
            <a:extLst>
              <a:ext uri="{FF2B5EF4-FFF2-40B4-BE49-F238E27FC236}">
                <a16:creationId xmlns:a16="http://schemas.microsoft.com/office/drawing/2014/main" id="{028F4688-BE46-4499-B112-3324B1C2FAD1}"/>
              </a:ext>
            </a:extLst>
          </p:cNvPr>
          <p:cNvCxnSpPr/>
          <p:nvPr/>
        </p:nvCxnSpPr>
        <p:spPr>
          <a:xfrm>
            <a:off x="889000" y="5740400"/>
            <a:ext cx="10401300" cy="0"/>
          </a:xfrm>
          <a:prstGeom prst="line">
            <a:avLst/>
          </a:prstGeom>
          <a:ln w="15240">
            <a:solidFill>
              <a:srgbClr val="264B63"/>
            </a:solidFill>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7897A8A0-BAA7-46B9-86D1-F566CE1FC3CC}"/>
              </a:ext>
            </a:extLst>
          </p:cNvPr>
          <p:cNvSpPr txBox="1"/>
          <p:nvPr/>
        </p:nvSpPr>
        <p:spPr>
          <a:xfrm>
            <a:off x="889000" y="5956300"/>
            <a:ext cx="1485900" cy="184666"/>
          </a:xfrm>
          <a:prstGeom prst="rect">
            <a:avLst/>
          </a:prstGeom>
          <a:noFill/>
        </p:spPr>
        <p:txBody>
          <a:bodyPr vert="horz" wrap="square" lIns="0" tIns="0" rIns="0" bIns="0" rtlCol="0">
            <a:spAutoFit/>
          </a:bodyPr>
          <a:lstStyle/>
          <a:p>
            <a:r>
              <a:rPr lang="en-US" sz="1200" b="1">
                <a:solidFill>
                  <a:srgbClr val="FF64A5"/>
                </a:solidFill>
                <a:latin typeface="Bahnschrift" panose="020B0502040204020203" pitchFamily="34" charset="0"/>
              </a:rPr>
              <a:t>DEMO PATH</a:t>
            </a:r>
          </a:p>
        </p:txBody>
      </p:sp>
      <p:sp>
        <p:nvSpPr>
          <p:cNvPr id="27" name="TextBox 26">
            <a:extLst>
              <a:ext uri="{FF2B5EF4-FFF2-40B4-BE49-F238E27FC236}">
                <a16:creationId xmlns:a16="http://schemas.microsoft.com/office/drawing/2014/main" id="{F4BBD5E5-414C-4B91-B481-081BF2FAE261}"/>
              </a:ext>
            </a:extLst>
          </p:cNvPr>
          <p:cNvSpPr txBox="1"/>
          <p:nvPr/>
        </p:nvSpPr>
        <p:spPr>
          <a:xfrm>
            <a:off x="2425700" y="5918200"/>
            <a:ext cx="8382000" cy="246221"/>
          </a:xfrm>
          <a:prstGeom prst="rect">
            <a:avLst/>
          </a:prstGeom>
          <a:noFill/>
        </p:spPr>
        <p:txBody>
          <a:bodyPr vert="horz" wrap="square" lIns="0" tIns="0" rIns="0" bIns="0" rtlCol="0">
            <a:spAutoFit/>
          </a:bodyPr>
          <a:lstStyle/>
          <a:p>
            <a:r>
              <a:rPr lang="en-US" sz="1600">
                <a:solidFill>
                  <a:srgbClr val="EEF6FF"/>
                </a:solidFill>
                <a:latin typeface="Aptos"/>
              </a:rPr>
              <a:t>Upload  →  inspect  →  adjust  →  listen  →  compare</a:t>
            </a:r>
          </a:p>
        </p:txBody>
      </p:sp>
      <p:sp>
        <p:nvSpPr>
          <p:cNvPr id="28" name="Rectangle 27">
            <a:extLst>
              <a:ext uri="{FF2B5EF4-FFF2-40B4-BE49-F238E27FC236}">
                <a16:creationId xmlns:a16="http://schemas.microsoft.com/office/drawing/2014/main" id="{81C56109-88C8-4CB5-9015-71B41254FA4E}"/>
              </a:ext>
            </a:extLst>
          </p:cNvPr>
          <p:cNvSpPr/>
          <p:nvPr/>
        </p:nvSpPr>
        <p:spPr>
          <a:xfrm>
            <a:off x="533400" y="381000"/>
            <a:ext cx="50800" cy="495300"/>
          </a:xfrm>
          <a:prstGeom prst="rect">
            <a:avLst/>
          </a:prstGeom>
          <a:solidFill>
            <a:srgbClr val="37D9E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B1FE1F9F-9E40-4218-91FD-4A7B41934397}"/>
              </a:ext>
            </a:extLst>
          </p:cNvPr>
          <p:cNvSpPr txBox="1"/>
          <p:nvPr/>
        </p:nvSpPr>
        <p:spPr>
          <a:xfrm>
            <a:off x="9779000" y="927100"/>
            <a:ext cx="1676400" cy="138499"/>
          </a:xfrm>
          <a:prstGeom prst="rect">
            <a:avLst/>
          </a:prstGeom>
          <a:noFill/>
        </p:spPr>
        <p:txBody>
          <a:bodyPr vert="horz" wrap="square" lIns="0" tIns="0" rIns="0" bIns="0" rtlCol="0">
            <a:spAutoFit/>
          </a:bodyPr>
          <a:lstStyle/>
          <a:p>
            <a:pPr algn="r"/>
            <a:r>
              <a:rPr lang="en-US" sz="900">
                <a:solidFill>
                  <a:srgbClr val="85A0B8"/>
                </a:solidFill>
                <a:latin typeface="Bahnschrift" panose="020B0502040204020203" pitchFamily="34" charset="0"/>
              </a:rPr>
              <a:t>ANALYSIS  /  21</a:t>
            </a:r>
          </a:p>
        </p:txBody>
      </p:sp>
    </p:spTree>
    <p:extLst>
      <p:ext uri="{BB962C8B-B14F-4D97-AF65-F5344CB8AC3E}">
        <p14:creationId xmlns:p14="http://schemas.microsoft.com/office/powerpoint/2010/main" val="25542172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063DAFB-2B1E-4EB6-9E4F-F6DD9AEA3429}"/>
              </a:ext>
            </a:extLst>
          </p:cNvPr>
          <p:cNvSpPr/>
          <p:nvPr/>
        </p:nvSpPr>
        <p:spPr>
          <a:xfrm>
            <a:off x="0" y="0"/>
            <a:ext cx="12192000" cy="6858000"/>
          </a:xfrm>
          <a:prstGeom prst="rect">
            <a:avLst/>
          </a:prstGeom>
          <a:solidFill>
            <a:srgbClr val="08122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EBB8DD10-DFEB-460F-9E31-4717ABDD9005}"/>
              </a:ext>
            </a:extLst>
          </p:cNvPr>
          <p:cNvSpPr txBox="1"/>
          <p:nvPr/>
        </p:nvSpPr>
        <p:spPr>
          <a:xfrm>
            <a:off x="685800" y="368300"/>
            <a:ext cx="10795000" cy="430887"/>
          </a:xfrm>
          <a:prstGeom prst="rect">
            <a:avLst/>
          </a:prstGeom>
          <a:noFill/>
        </p:spPr>
        <p:txBody>
          <a:bodyPr vert="horz" wrap="square" lIns="0" tIns="0" rIns="0" bIns="0" rtlCol="0">
            <a:spAutoFit/>
          </a:bodyPr>
          <a:lstStyle/>
          <a:p>
            <a:r>
              <a:rPr lang="en-US" sz="2800" b="1">
                <a:solidFill>
                  <a:srgbClr val="EEF6FF"/>
                </a:solidFill>
                <a:latin typeface="Bahnschrift" panose="020B0502040204020203" pitchFamily="34" charset="0"/>
              </a:rPr>
              <a:t>Live sound visualizer</a:t>
            </a:r>
          </a:p>
        </p:txBody>
      </p:sp>
      <p:cxnSp>
        <p:nvCxnSpPr>
          <p:cNvPr id="4" name="Straight Connector 3">
            <a:extLst>
              <a:ext uri="{FF2B5EF4-FFF2-40B4-BE49-F238E27FC236}">
                <a16:creationId xmlns:a16="http://schemas.microsoft.com/office/drawing/2014/main" id="{E1842656-A9A0-41A8-82AD-4FF9AE575C1D}"/>
              </a:ext>
            </a:extLst>
          </p:cNvPr>
          <p:cNvCxnSpPr/>
          <p:nvPr/>
        </p:nvCxnSpPr>
        <p:spPr>
          <a:xfrm>
            <a:off x="685800" y="1168400"/>
            <a:ext cx="10820400" cy="0"/>
          </a:xfrm>
          <a:prstGeom prst="line">
            <a:avLst/>
          </a:prstGeom>
          <a:ln w="17780">
            <a:solidFill>
              <a:srgbClr val="37D9E9"/>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B5F26AE9-78C3-4419-A841-9F0A5AD39552}"/>
              </a:ext>
            </a:extLst>
          </p:cNvPr>
          <p:cNvSpPr txBox="1"/>
          <p:nvPr/>
        </p:nvSpPr>
        <p:spPr>
          <a:xfrm>
            <a:off x="685800" y="6502400"/>
            <a:ext cx="3810000" cy="153888"/>
          </a:xfrm>
          <a:prstGeom prst="rect">
            <a:avLst/>
          </a:prstGeom>
          <a:noFill/>
        </p:spPr>
        <p:txBody>
          <a:bodyPr vert="horz" wrap="square" lIns="0" tIns="0" rIns="0" bIns="0" rtlCol="0">
            <a:spAutoFit/>
          </a:bodyPr>
          <a:lstStyle/>
          <a:p>
            <a:r>
              <a:rPr lang="en-US" sz="1000" b="1">
                <a:solidFill>
                  <a:srgbClr val="85A0B8"/>
                </a:solidFill>
                <a:latin typeface="Aptos"/>
              </a:rPr>
              <a:t>SIGNAL STUDIO</a:t>
            </a:r>
          </a:p>
        </p:txBody>
      </p:sp>
      <p:sp>
        <p:nvSpPr>
          <p:cNvPr id="6" name="TextBox 5">
            <a:extLst>
              <a:ext uri="{FF2B5EF4-FFF2-40B4-BE49-F238E27FC236}">
                <a16:creationId xmlns:a16="http://schemas.microsoft.com/office/drawing/2014/main" id="{AC2DA72F-0F6C-4186-82FB-4927E1626EC6}"/>
              </a:ext>
            </a:extLst>
          </p:cNvPr>
          <p:cNvSpPr txBox="1"/>
          <p:nvPr/>
        </p:nvSpPr>
        <p:spPr>
          <a:xfrm>
            <a:off x="11430000" y="6502400"/>
            <a:ext cx="444500" cy="153888"/>
          </a:xfrm>
          <a:prstGeom prst="rect">
            <a:avLst/>
          </a:prstGeom>
          <a:noFill/>
        </p:spPr>
        <p:txBody>
          <a:bodyPr vert="horz" wrap="square" lIns="0" tIns="0" rIns="0" bIns="0" rtlCol="0">
            <a:spAutoFit/>
          </a:bodyPr>
          <a:lstStyle/>
          <a:p>
            <a:pPr algn="r"/>
            <a:r>
              <a:rPr lang="en-US" sz="1000" b="1">
                <a:solidFill>
                  <a:srgbClr val="37D9E9"/>
                </a:solidFill>
                <a:latin typeface="Bahnschrift" panose="020B0502040204020203" pitchFamily="34" charset="0"/>
              </a:rPr>
              <a:t>16</a:t>
            </a:r>
          </a:p>
        </p:txBody>
      </p:sp>
      <p:sp>
        <p:nvSpPr>
          <p:cNvPr id="16" name="TextBox 15">
            <a:extLst>
              <a:ext uri="{FF2B5EF4-FFF2-40B4-BE49-F238E27FC236}">
                <a16:creationId xmlns:a16="http://schemas.microsoft.com/office/drawing/2014/main" id="{EF7023D3-40DD-4D3A-AE70-9D80E5F394B7}"/>
              </a:ext>
            </a:extLst>
          </p:cNvPr>
          <p:cNvSpPr txBox="1"/>
          <p:nvPr/>
        </p:nvSpPr>
        <p:spPr>
          <a:xfrm>
            <a:off x="850900" y="1600200"/>
            <a:ext cx="5334000" cy="323165"/>
          </a:xfrm>
          <a:prstGeom prst="rect">
            <a:avLst/>
          </a:prstGeom>
          <a:noFill/>
        </p:spPr>
        <p:txBody>
          <a:bodyPr vert="horz" wrap="square" lIns="0" tIns="0" rIns="0" bIns="0" rtlCol="0">
            <a:spAutoFit/>
          </a:bodyPr>
          <a:lstStyle/>
          <a:p>
            <a:r>
              <a:rPr lang="en-US" sz="2100" b="1">
                <a:solidFill>
                  <a:srgbClr val="37D9E9"/>
                </a:solidFill>
                <a:latin typeface="Bahnschrift" panose="020B0502040204020203" pitchFamily="34" charset="0"/>
              </a:rPr>
              <a:t>LIVE MICROPHONE VIEW</a:t>
            </a:r>
          </a:p>
        </p:txBody>
      </p:sp>
      <p:sp>
        <p:nvSpPr>
          <p:cNvPr id="17" name="TextBox 16">
            <a:extLst>
              <a:ext uri="{FF2B5EF4-FFF2-40B4-BE49-F238E27FC236}">
                <a16:creationId xmlns:a16="http://schemas.microsoft.com/office/drawing/2014/main" id="{91EBD6FD-3B7E-4E59-A6F3-37ACE2641EEA}"/>
              </a:ext>
            </a:extLst>
          </p:cNvPr>
          <p:cNvSpPr txBox="1"/>
          <p:nvPr/>
        </p:nvSpPr>
        <p:spPr>
          <a:xfrm>
            <a:off x="889000" y="2247900"/>
            <a:ext cx="3302000" cy="230832"/>
          </a:xfrm>
          <a:prstGeom prst="rect">
            <a:avLst/>
          </a:prstGeom>
          <a:noFill/>
        </p:spPr>
        <p:txBody>
          <a:bodyPr vert="horz" wrap="square" lIns="0" tIns="0" rIns="0" bIns="0" rtlCol="0">
            <a:spAutoFit/>
          </a:bodyPr>
          <a:lstStyle/>
          <a:p>
            <a:r>
              <a:rPr lang="en-US" sz="1500" b="1">
                <a:solidFill>
                  <a:srgbClr val="37D9E9"/>
                </a:solidFill>
                <a:latin typeface="Bahnschrift" panose="020B0502040204020203" pitchFamily="34" charset="0"/>
              </a:rPr>
              <a:t>WAVEFORM</a:t>
            </a:r>
          </a:p>
        </p:txBody>
      </p:sp>
      <p:sp>
        <p:nvSpPr>
          <p:cNvPr id="18" name="TextBox 17">
            <a:extLst>
              <a:ext uri="{FF2B5EF4-FFF2-40B4-BE49-F238E27FC236}">
                <a16:creationId xmlns:a16="http://schemas.microsoft.com/office/drawing/2014/main" id="{25FEEBCE-97EB-45C8-9D31-4283FF934BF4}"/>
              </a:ext>
            </a:extLst>
          </p:cNvPr>
          <p:cNvSpPr txBox="1"/>
          <p:nvPr/>
        </p:nvSpPr>
        <p:spPr>
          <a:xfrm>
            <a:off x="889000" y="2654300"/>
            <a:ext cx="4953000" cy="584775"/>
          </a:xfrm>
          <a:prstGeom prst="rect">
            <a:avLst/>
          </a:prstGeom>
          <a:noFill/>
        </p:spPr>
        <p:txBody>
          <a:bodyPr vert="horz" wrap="square" lIns="0" tIns="0" rIns="0" bIns="0" rtlCol="0">
            <a:spAutoFit/>
          </a:bodyPr>
          <a:lstStyle/>
          <a:p>
            <a:r>
              <a:rPr lang="en-US" sz="1900">
                <a:solidFill>
                  <a:srgbClr val="CCDDEC"/>
                </a:solidFill>
                <a:latin typeface="Aptos"/>
              </a:rPr>
              <a:t>Recent microphone samples trace sound amplitude over time.</a:t>
            </a:r>
          </a:p>
        </p:txBody>
      </p:sp>
      <p:sp>
        <p:nvSpPr>
          <p:cNvPr id="19" name="TextBox 18">
            <a:extLst>
              <a:ext uri="{FF2B5EF4-FFF2-40B4-BE49-F238E27FC236}">
                <a16:creationId xmlns:a16="http://schemas.microsoft.com/office/drawing/2014/main" id="{2BED9C3F-E4E4-4B02-A569-31D3C6AE770F}"/>
              </a:ext>
            </a:extLst>
          </p:cNvPr>
          <p:cNvSpPr txBox="1"/>
          <p:nvPr/>
        </p:nvSpPr>
        <p:spPr>
          <a:xfrm>
            <a:off x="889000" y="3835400"/>
            <a:ext cx="3302000" cy="230832"/>
          </a:xfrm>
          <a:prstGeom prst="rect">
            <a:avLst/>
          </a:prstGeom>
          <a:noFill/>
        </p:spPr>
        <p:txBody>
          <a:bodyPr vert="horz" wrap="square" lIns="0" tIns="0" rIns="0" bIns="0" rtlCol="0">
            <a:spAutoFit/>
          </a:bodyPr>
          <a:lstStyle/>
          <a:p>
            <a:r>
              <a:rPr lang="en-US" sz="1500" b="1">
                <a:solidFill>
                  <a:srgbClr val="37D9E9"/>
                </a:solidFill>
                <a:latin typeface="Bahnschrift" panose="020B0502040204020203" pitchFamily="34" charset="0"/>
              </a:rPr>
              <a:t>FREQUENCY BARS</a:t>
            </a:r>
          </a:p>
        </p:txBody>
      </p:sp>
      <p:sp>
        <p:nvSpPr>
          <p:cNvPr id="20" name="TextBox 19">
            <a:extLst>
              <a:ext uri="{FF2B5EF4-FFF2-40B4-BE49-F238E27FC236}">
                <a16:creationId xmlns:a16="http://schemas.microsoft.com/office/drawing/2014/main" id="{B09670C8-A906-4A6E-8DE6-3A14547AD283}"/>
              </a:ext>
            </a:extLst>
          </p:cNvPr>
          <p:cNvSpPr txBox="1"/>
          <p:nvPr/>
        </p:nvSpPr>
        <p:spPr>
          <a:xfrm>
            <a:off x="889000" y="4241800"/>
            <a:ext cx="4953000" cy="584775"/>
          </a:xfrm>
          <a:prstGeom prst="rect">
            <a:avLst/>
          </a:prstGeom>
          <a:noFill/>
        </p:spPr>
        <p:txBody>
          <a:bodyPr vert="horz" wrap="square" lIns="0" tIns="0" rIns="0" bIns="0" rtlCol="0">
            <a:spAutoFit/>
          </a:bodyPr>
          <a:lstStyle/>
          <a:p>
            <a:r>
              <a:rPr lang="en-US" sz="1900">
                <a:solidFill>
                  <a:srgbClr val="CCDDEC"/>
                </a:solidFill>
                <a:latin typeface="Aptos"/>
              </a:rPr>
              <a:t>The bars show how much energy each frequency band has now.</a:t>
            </a:r>
          </a:p>
        </p:txBody>
      </p:sp>
      <p:cxnSp>
        <p:nvCxnSpPr>
          <p:cNvPr id="21" name="Straight Connector 20">
            <a:extLst>
              <a:ext uri="{FF2B5EF4-FFF2-40B4-BE49-F238E27FC236}">
                <a16:creationId xmlns:a16="http://schemas.microsoft.com/office/drawing/2014/main" id="{888C9B98-C9EB-4E3B-AFF7-933C84B641A3}"/>
              </a:ext>
            </a:extLst>
          </p:cNvPr>
          <p:cNvCxnSpPr/>
          <p:nvPr/>
        </p:nvCxnSpPr>
        <p:spPr>
          <a:xfrm>
            <a:off x="6248400" y="1676400"/>
            <a:ext cx="0" cy="3797300"/>
          </a:xfrm>
          <a:prstGeom prst="line">
            <a:avLst/>
          </a:prstGeom>
          <a:ln w="19050">
            <a:solidFill>
              <a:srgbClr val="264B63"/>
            </a:solidFill>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B533CB0D-6565-4E84-AC51-3C3FC6DD4997}"/>
              </a:ext>
            </a:extLst>
          </p:cNvPr>
          <p:cNvSpPr txBox="1"/>
          <p:nvPr/>
        </p:nvSpPr>
        <p:spPr>
          <a:xfrm>
            <a:off x="6743700" y="1600200"/>
            <a:ext cx="4635500" cy="323165"/>
          </a:xfrm>
          <a:prstGeom prst="rect">
            <a:avLst/>
          </a:prstGeom>
          <a:noFill/>
        </p:spPr>
        <p:txBody>
          <a:bodyPr vert="horz" wrap="square" lIns="0" tIns="0" rIns="0" bIns="0" rtlCol="0">
            <a:spAutoFit/>
          </a:bodyPr>
          <a:lstStyle/>
          <a:p>
            <a:r>
              <a:rPr lang="en-US" sz="2100" b="1">
                <a:solidFill>
                  <a:srgbClr val="FF64A5"/>
                </a:solidFill>
                <a:latin typeface="Bahnschrift" panose="020B0502040204020203" pitchFamily="34" charset="0"/>
              </a:rPr>
              <a:t>SCROLLING SPECTROGRAM</a:t>
            </a:r>
          </a:p>
        </p:txBody>
      </p:sp>
      <p:sp>
        <p:nvSpPr>
          <p:cNvPr id="23" name="TextBox 22">
            <a:extLst>
              <a:ext uri="{FF2B5EF4-FFF2-40B4-BE49-F238E27FC236}">
                <a16:creationId xmlns:a16="http://schemas.microsoft.com/office/drawing/2014/main" id="{B9F13C76-7E09-4760-ACC1-F142D4CD497F}"/>
              </a:ext>
            </a:extLst>
          </p:cNvPr>
          <p:cNvSpPr txBox="1"/>
          <p:nvPr/>
        </p:nvSpPr>
        <p:spPr>
          <a:xfrm>
            <a:off x="6743700" y="2336800"/>
            <a:ext cx="4406900" cy="877163"/>
          </a:xfrm>
          <a:prstGeom prst="rect">
            <a:avLst/>
          </a:prstGeom>
          <a:noFill/>
        </p:spPr>
        <p:txBody>
          <a:bodyPr vert="horz" wrap="square" lIns="0" tIns="0" rIns="0" bIns="0" rtlCol="0">
            <a:spAutoFit/>
          </a:bodyPr>
          <a:lstStyle/>
          <a:p>
            <a:r>
              <a:rPr lang="en-US" sz="1900">
                <a:solidFill>
                  <a:srgbClr val="CCDDEC"/>
                </a:solidFill>
                <a:latin typeface="Aptos"/>
              </a:rPr>
              <a:t>A new color column appears each frame. It shows frequency strength and moves left as time passes.</a:t>
            </a:r>
          </a:p>
        </p:txBody>
      </p:sp>
      <p:sp>
        <p:nvSpPr>
          <p:cNvPr id="24" name="TextBox 23">
            <a:extLst>
              <a:ext uri="{FF2B5EF4-FFF2-40B4-BE49-F238E27FC236}">
                <a16:creationId xmlns:a16="http://schemas.microsoft.com/office/drawing/2014/main" id="{01112B35-D893-46BA-9CB1-9A3FDF93BF49}"/>
              </a:ext>
            </a:extLst>
          </p:cNvPr>
          <p:cNvSpPr txBox="1"/>
          <p:nvPr/>
        </p:nvSpPr>
        <p:spPr>
          <a:xfrm>
            <a:off x="6743700" y="4051300"/>
            <a:ext cx="4406900" cy="877163"/>
          </a:xfrm>
          <a:prstGeom prst="rect">
            <a:avLst/>
          </a:prstGeom>
          <a:noFill/>
        </p:spPr>
        <p:txBody>
          <a:bodyPr vert="horz" wrap="square" lIns="0" tIns="0" rIns="0" bIns="0" rtlCol="0">
            <a:spAutoFit/>
          </a:bodyPr>
          <a:lstStyle/>
          <a:p>
            <a:r>
              <a:rPr lang="en-US" sz="1900">
                <a:solidFill>
                  <a:srgbClr val="CCDDEC"/>
                </a:solidFill>
                <a:latin typeface="Aptos"/>
              </a:rPr>
              <a:t>Start live display asks for microphone access. Stop closes the audio stream and releases the mic.</a:t>
            </a:r>
          </a:p>
        </p:txBody>
      </p:sp>
      <p:cxnSp>
        <p:nvCxnSpPr>
          <p:cNvPr id="25" name="Straight Connector 24">
            <a:extLst>
              <a:ext uri="{FF2B5EF4-FFF2-40B4-BE49-F238E27FC236}">
                <a16:creationId xmlns:a16="http://schemas.microsoft.com/office/drawing/2014/main" id="{93AD430A-9754-43B4-9871-DA8483D146EC}"/>
              </a:ext>
            </a:extLst>
          </p:cNvPr>
          <p:cNvCxnSpPr/>
          <p:nvPr/>
        </p:nvCxnSpPr>
        <p:spPr>
          <a:xfrm>
            <a:off x="889000" y="5740400"/>
            <a:ext cx="10401300" cy="0"/>
          </a:xfrm>
          <a:prstGeom prst="line">
            <a:avLst/>
          </a:prstGeom>
          <a:ln w="15240">
            <a:solidFill>
              <a:srgbClr val="264B63"/>
            </a:solidFill>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A5ED804E-6E61-4570-8D28-A1F2903E3D0C}"/>
              </a:ext>
            </a:extLst>
          </p:cNvPr>
          <p:cNvSpPr txBox="1"/>
          <p:nvPr/>
        </p:nvSpPr>
        <p:spPr>
          <a:xfrm>
            <a:off x="889000" y="5956300"/>
            <a:ext cx="1485900" cy="184666"/>
          </a:xfrm>
          <a:prstGeom prst="rect">
            <a:avLst/>
          </a:prstGeom>
          <a:noFill/>
        </p:spPr>
        <p:txBody>
          <a:bodyPr vert="horz" wrap="square" lIns="0" tIns="0" rIns="0" bIns="0" rtlCol="0">
            <a:spAutoFit/>
          </a:bodyPr>
          <a:lstStyle/>
          <a:p>
            <a:r>
              <a:rPr lang="en-US" sz="1200" b="1">
                <a:solidFill>
                  <a:srgbClr val="FF64A5"/>
                </a:solidFill>
                <a:latin typeface="Bahnschrift" panose="020B0502040204020203" pitchFamily="34" charset="0"/>
              </a:rPr>
              <a:t>LIVE DEMO</a:t>
            </a:r>
          </a:p>
        </p:txBody>
      </p:sp>
      <p:sp>
        <p:nvSpPr>
          <p:cNvPr id="27" name="TextBox 26">
            <a:extLst>
              <a:ext uri="{FF2B5EF4-FFF2-40B4-BE49-F238E27FC236}">
                <a16:creationId xmlns:a16="http://schemas.microsoft.com/office/drawing/2014/main" id="{E126CA75-4B9C-4FC3-8096-957D9AF9C263}"/>
              </a:ext>
            </a:extLst>
          </p:cNvPr>
          <p:cNvSpPr txBox="1"/>
          <p:nvPr/>
        </p:nvSpPr>
        <p:spPr>
          <a:xfrm>
            <a:off x="2425700" y="5918200"/>
            <a:ext cx="8382000" cy="246221"/>
          </a:xfrm>
          <a:prstGeom prst="rect">
            <a:avLst/>
          </a:prstGeom>
          <a:noFill/>
        </p:spPr>
        <p:txBody>
          <a:bodyPr vert="horz" wrap="square" lIns="0" tIns="0" rIns="0" bIns="0" rtlCol="0">
            <a:spAutoFit/>
          </a:bodyPr>
          <a:lstStyle/>
          <a:p>
            <a:r>
              <a:rPr lang="en-US" sz="1600">
                <a:solidFill>
                  <a:srgbClr val="EEF6FF"/>
                </a:solidFill>
                <a:latin typeface="Aptos"/>
              </a:rPr>
              <a:t>Start live display  →  make a sound  →  watch  →  Stop</a:t>
            </a:r>
          </a:p>
        </p:txBody>
      </p:sp>
      <p:sp>
        <p:nvSpPr>
          <p:cNvPr id="28" name="Rectangle 27">
            <a:extLst>
              <a:ext uri="{FF2B5EF4-FFF2-40B4-BE49-F238E27FC236}">
                <a16:creationId xmlns:a16="http://schemas.microsoft.com/office/drawing/2014/main" id="{EF29845C-2A1E-4DD8-A1CB-E55D9B367ECE}"/>
              </a:ext>
            </a:extLst>
          </p:cNvPr>
          <p:cNvSpPr/>
          <p:nvPr/>
        </p:nvSpPr>
        <p:spPr>
          <a:xfrm>
            <a:off x="533400" y="381000"/>
            <a:ext cx="50800" cy="495300"/>
          </a:xfrm>
          <a:prstGeom prst="rect">
            <a:avLst/>
          </a:prstGeom>
          <a:solidFill>
            <a:srgbClr val="37D9E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855D89CF-601A-404C-8071-DD9B0AEEDBA6}"/>
              </a:ext>
            </a:extLst>
          </p:cNvPr>
          <p:cNvSpPr txBox="1"/>
          <p:nvPr/>
        </p:nvSpPr>
        <p:spPr>
          <a:xfrm>
            <a:off x="9779000" y="927100"/>
            <a:ext cx="1676400" cy="138499"/>
          </a:xfrm>
          <a:prstGeom prst="rect">
            <a:avLst/>
          </a:prstGeom>
          <a:noFill/>
        </p:spPr>
        <p:txBody>
          <a:bodyPr vert="horz" wrap="square" lIns="0" tIns="0" rIns="0" bIns="0" rtlCol="0">
            <a:spAutoFit/>
          </a:bodyPr>
          <a:lstStyle/>
          <a:p>
            <a:pPr algn="r"/>
            <a:r>
              <a:rPr lang="en-US" sz="900">
                <a:solidFill>
                  <a:srgbClr val="85A0B8"/>
                </a:solidFill>
                <a:latin typeface="Bahnschrift" panose="020B0502040204020203" pitchFamily="34" charset="0"/>
              </a:rPr>
              <a:t>ANALYSIS  /  16</a:t>
            </a:r>
          </a:p>
        </p:txBody>
      </p:sp>
    </p:spTree>
    <p:extLst>
      <p:ext uri="{BB962C8B-B14F-4D97-AF65-F5344CB8AC3E}">
        <p14:creationId xmlns:p14="http://schemas.microsoft.com/office/powerpoint/2010/main" val="2554217203" id="{01C51021-2F79-4875-97C1-EDB60D8CD6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EB9EECD-8AA5-42EC-85DB-5A0CB696C46C}"/>
              </a:ext>
            </a:extLst>
          </p:cNvPr>
          <p:cNvSpPr/>
          <p:nvPr/>
        </p:nvSpPr>
        <p:spPr>
          <a:xfrm>
            <a:off x="0" y="0"/>
            <a:ext cx="12192000" cy="6858000"/>
          </a:xfrm>
          <a:prstGeom prst="rect">
            <a:avLst/>
          </a:prstGeom>
          <a:solidFill>
            <a:srgbClr val="08122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AFE6EBC-B06A-402D-8FE0-49CA15FA5313}"/>
              </a:ext>
            </a:extLst>
          </p:cNvPr>
          <p:cNvSpPr txBox="1"/>
          <p:nvPr/>
        </p:nvSpPr>
        <p:spPr>
          <a:xfrm>
            <a:off x="685800" y="368300"/>
            <a:ext cx="10795000" cy="430887"/>
          </a:xfrm>
          <a:prstGeom prst="rect">
            <a:avLst/>
          </a:prstGeom>
          <a:noFill/>
        </p:spPr>
        <p:txBody>
          <a:bodyPr vert="horz" wrap="square" lIns="0" tIns="0" rIns="0" bIns="0" rtlCol="0">
            <a:spAutoFit/>
          </a:bodyPr>
          <a:lstStyle/>
          <a:p>
            <a:r>
              <a:rPr lang="en-US" sz="2800" b="1">
                <a:solidFill>
                  <a:srgbClr val="EEF6FF"/>
                </a:solidFill>
                <a:latin typeface="Bahnschrift" panose="020B0502040204020203" pitchFamily="34" charset="0"/>
              </a:rPr>
              <a:t>Record and analyze a clip</a:t>
            </a:r>
          </a:p>
        </p:txBody>
      </p:sp>
      <p:cxnSp>
        <p:nvCxnSpPr>
          <p:cNvPr id="4" name="Straight Connector 3">
            <a:extLst>
              <a:ext uri="{FF2B5EF4-FFF2-40B4-BE49-F238E27FC236}">
                <a16:creationId xmlns:a16="http://schemas.microsoft.com/office/drawing/2014/main" id="{A0CD4497-3908-4095-BC62-107519A014AE}"/>
              </a:ext>
            </a:extLst>
          </p:cNvPr>
          <p:cNvCxnSpPr/>
          <p:nvPr/>
        </p:nvCxnSpPr>
        <p:spPr>
          <a:xfrm>
            <a:off x="685800" y="1168400"/>
            <a:ext cx="10820400" cy="0"/>
          </a:xfrm>
          <a:prstGeom prst="line">
            <a:avLst/>
          </a:prstGeom>
          <a:ln w="17780">
            <a:solidFill>
              <a:srgbClr val="37D9E9"/>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7DF69B07-7907-4058-9ADE-BEDD107BB5CC}"/>
              </a:ext>
            </a:extLst>
          </p:cNvPr>
          <p:cNvSpPr txBox="1"/>
          <p:nvPr/>
        </p:nvSpPr>
        <p:spPr>
          <a:xfrm>
            <a:off x="685800" y="6502400"/>
            <a:ext cx="3810000" cy="153888"/>
          </a:xfrm>
          <a:prstGeom prst="rect">
            <a:avLst/>
          </a:prstGeom>
          <a:noFill/>
        </p:spPr>
        <p:txBody>
          <a:bodyPr vert="horz" wrap="square" lIns="0" tIns="0" rIns="0" bIns="0" rtlCol="0">
            <a:spAutoFit/>
          </a:bodyPr>
          <a:lstStyle/>
          <a:p>
            <a:r>
              <a:rPr lang="en-US" sz="1000" b="1">
                <a:solidFill>
                  <a:srgbClr val="85A0B8"/>
                </a:solidFill>
                <a:latin typeface="Aptos"/>
              </a:rPr>
              <a:t>SIGNAL STUDIO</a:t>
            </a:r>
          </a:p>
        </p:txBody>
      </p:sp>
      <p:sp>
        <p:nvSpPr>
          <p:cNvPr id="6" name="TextBox 5">
            <a:extLst>
              <a:ext uri="{FF2B5EF4-FFF2-40B4-BE49-F238E27FC236}">
                <a16:creationId xmlns:a16="http://schemas.microsoft.com/office/drawing/2014/main" id="{1257CBCB-5FE0-4AE1-8766-44229B43CB49}"/>
              </a:ext>
            </a:extLst>
          </p:cNvPr>
          <p:cNvSpPr txBox="1"/>
          <p:nvPr/>
        </p:nvSpPr>
        <p:spPr>
          <a:xfrm>
            <a:off x="11430000" y="6502400"/>
            <a:ext cx="444500" cy="153888"/>
          </a:xfrm>
          <a:prstGeom prst="rect">
            <a:avLst/>
          </a:prstGeom>
          <a:noFill/>
        </p:spPr>
        <p:txBody>
          <a:bodyPr vert="horz" wrap="square" lIns="0" tIns="0" rIns="0" bIns="0" rtlCol="0">
            <a:spAutoFit/>
          </a:bodyPr>
          <a:lstStyle/>
          <a:p>
            <a:pPr algn="r"/>
            <a:r>
              <a:rPr lang="en-US" sz="1000" b="1">
                <a:solidFill>
                  <a:srgbClr val="37D9E9"/>
                </a:solidFill>
                <a:latin typeface="Bahnschrift" panose="020B0502040204020203" pitchFamily="34" charset="0"/>
              </a:rPr>
              <a:t>17</a:t>
            </a:r>
          </a:p>
        </p:txBody>
      </p:sp>
      <p:sp>
        <p:nvSpPr>
          <p:cNvPr id="16" name="TextBox 15">
            <a:extLst>
              <a:ext uri="{FF2B5EF4-FFF2-40B4-BE49-F238E27FC236}">
                <a16:creationId xmlns:a16="http://schemas.microsoft.com/office/drawing/2014/main" id="{0D85660B-037A-48CA-9519-B9C8639F492A}"/>
              </a:ext>
            </a:extLst>
          </p:cNvPr>
          <p:cNvSpPr txBox="1"/>
          <p:nvPr/>
        </p:nvSpPr>
        <p:spPr>
          <a:xfrm>
            <a:off x="850900" y="1600200"/>
            <a:ext cx="5334000" cy="323165"/>
          </a:xfrm>
          <a:prstGeom prst="rect">
            <a:avLst/>
          </a:prstGeom>
          <a:noFill/>
        </p:spPr>
        <p:txBody>
          <a:bodyPr vert="horz" wrap="square" lIns="0" tIns="0" rIns="0" bIns="0" rtlCol="0">
            <a:spAutoFit/>
          </a:bodyPr>
          <a:lstStyle/>
          <a:p>
            <a:r>
              <a:rPr lang="en-US" sz="2100" b="1">
                <a:solidFill>
                  <a:srgbClr val="37D9E9"/>
                </a:solidFill>
                <a:latin typeface="Bahnschrift" panose="020B0502040204020203" pitchFamily="34" charset="0"/>
              </a:rPr>
              <a:t>FROM LIVE TO RECORDED</a:t>
            </a:r>
          </a:p>
        </p:txBody>
      </p:sp>
      <p:sp>
        <p:nvSpPr>
          <p:cNvPr id="17" name="TextBox 16">
            <a:extLst>
              <a:ext uri="{FF2B5EF4-FFF2-40B4-BE49-F238E27FC236}">
                <a16:creationId xmlns:a16="http://schemas.microsoft.com/office/drawing/2014/main" id="{B49465C6-073C-40ED-A5A4-A2D84560F8FA}"/>
              </a:ext>
            </a:extLst>
          </p:cNvPr>
          <p:cNvSpPr txBox="1"/>
          <p:nvPr/>
        </p:nvSpPr>
        <p:spPr>
          <a:xfrm>
            <a:off x="889000" y="2247900"/>
            <a:ext cx="3302000" cy="230832"/>
          </a:xfrm>
          <a:prstGeom prst="rect">
            <a:avLst/>
          </a:prstGeom>
          <a:noFill/>
        </p:spPr>
        <p:txBody>
          <a:bodyPr vert="horz" wrap="square" lIns="0" tIns="0" rIns="0" bIns="0" rtlCol="0">
            <a:spAutoFit/>
          </a:bodyPr>
          <a:lstStyle/>
          <a:p>
            <a:r>
              <a:rPr lang="en-US" sz="1500" b="1">
                <a:solidFill>
                  <a:srgbClr val="37D9E9"/>
                </a:solidFill>
                <a:latin typeface="Bahnschrift" panose="020B0502040204020203" pitchFamily="34" charset="0"/>
              </a:rPr>
              <a:t>STOP LIVE DISPLAY</a:t>
            </a:r>
          </a:p>
        </p:txBody>
      </p:sp>
      <p:sp>
        <p:nvSpPr>
          <p:cNvPr id="18" name="TextBox 17">
            <a:extLst>
              <a:ext uri="{FF2B5EF4-FFF2-40B4-BE49-F238E27FC236}">
                <a16:creationId xmlns:a16="http://schemas.microsoft.com/office/drawing/2014/main" id="{090E3A94-2DDA-4809-B025-99FE153F2D47}"/>
              </a:ext>
            </a:extLst>
          </p:cNvPr>
          <p:cNvSpPr txBox="1"/>
          <p:nvPr/>
        </p:nvSpPr>
        <p:spPr>
          <a:xfrm>
            <a:off x="889000" y="2654300"/>
            <a:ext cx="4953000" cy="584775"/>
          </a:xfrm>
          <a:prstGeom prst="rect">
            <a:avLst/>
          </a:prstGeom>
          <a:noFill/>
        </p:spPr>
        <p:txBody>
          <a:bodyPr vert="horz" wrap="square" lIns="0" tIns="0" rIns="0" bIns="0" rtlCol="0">
            <a:spAutoFit/>
          </a:bodyPr>
          <a:lstStyle/>
          <a:p>
            <a:r>
              <a:rPr lang="en-US" sz="1900">
                <a:solidFill>
                  <a:srgbClr val="CCDDEC"/>
                </a:solidFill>
                <a:latin typeface="Aptos"/>
              </a:rPr>
              <a:t>Stop the live view before using the microphone recorder in the sidebar.</a:t>
            </a:r>
          </a:p>
        </p:txBody>
      </p:sp>
      <p:sp>
        <p:nvSpPr>
          <p:cNvPr id="19" name="TextBox 18">
            <a:extLst>
              <a:ext uri="{FF2B5EF4-FFF2-40B4-BE49-F238E27FC236}">
                <a16:creationId xmlns:a16="http://schemas.microsoft.com/office/drawing/2014/main" id="{D3307A7F-D065-4DB8-8928-A0C037E29CFC}"/>
              </a:ext>
            </a:extLst>
          </p:cNvPr>
          <p:cNvSpPr txBox="1"/>
          <p:nvPr/>
        </p:nvSpPr>
        <p:spPr>
          <a:xfrm>
            <a:off x="889000" y="3835400"/>
            <a:ext cx="3302000" cy="230832"/>
          </a:xfrm>
          <a:prstGeom prst="rect">
            <a:avLst/>
          </a:prstGeom>
          <a:noFill/>
        </p:spPr>
        <p:txBody>
          <a:bodyPr vert="horz" wrap="square" lIns="0" tIns="0" rIns="0" bIns="0" rtlCol="0">
            <a:spAutoFit/>
          </a:bodyPr>
          <a:lstStyle/>
          <a:p>
            <a:r>
              <a:rPr lang="en-US" sz="1500" b="1">
                <a:solidFill>
                  <a:srgbClr val="37D9E9"/>
                </a:solidFill>
                <a:latin typeface="Bahnschrift" panose="020B0502040204020203" pitchFamily="34" charset="0"/>
              </a:rPr>
              <a:t>SAVE A CLIP</a:t>
            </a:r>
          </a:p>
        </p:txBody>
      </p:sp>
      <p:sp>
        <p:nvSpPr>
          <p:cNvPr id="20" name="TextBox 19">
            <a:extLst>
              <a:ext uri="{FF2B5EF4-FFF2-40B4-BE49-F238E27FC236}">
                <a16:creationId xmlns:a16="http://schemas.microsoft.com/office/drawing/2014/main" id="{E3102C98-8B3E-41F0-BDDD-C072C742E9E2}"/>
              </a:ext>
            </a:extLst>
          </p:cNvPr>
          <p:cNvSpPr txBox="1"/>
          <p:nvPr/>
        </p:nvSpPr>
        <p:spPr>
          <a:xfrm>
            <a:off x="889000" y="4241800"/>
            <a:ext cx="4953000" cy="584775"/>
          </a:xfrm>
          <a:prstGeom prst="rect">
            <a:avLst/>
          </a:prstGeom>
          <a:noFill/>
        </p:spPr>
        <p:txBody>
          <a:bodyPr vert="horz" wrap="square" lIns="0" tIns="0" rIns="0" bIns="0" rtlCol="0">
            <a:spAutoFit/>
          </a:bodyPr>
          <a:lstStyle/>
          <a:p>
            <a:r>
              <a:rPr lang="en-US" sz="1900">
                <a:solidFill>
                  <a:srgbClr val="CCDDEC"/>
                </a:solidFill>
                <a:latin typeface="Aptos"/>
              </a:rPr>
              <a:t>Play it back, then select Analyze recording to open the audio tools.</a:t>
            </a:r>
          </a:p>
        </p:txBody>
      </p:sp>
      <p:cxnSp>
        <p:nvCxnSpPr>
          <p:cNvPr id="21" name="Straight Connector 20">
            <a:extLst>
              <a:ext uri="{FF2B5EF4-FFF2-40B4-BE49-F238E27FC236}">
                <a16:creationId xmlns:a16="http://schemas.microsoft.com/office/drawing/2014/main" id="{8C362367-2D32-4D1C-BC30-C6050F7C6272}"/>
              </a:ext>
            </a:extLst>
          </p:cNvPr>
          <p:cNvCxnSpPr/>
          <p:nvPr/>
        </p:nvCxnSpPr>
        <p:spPr>
          <a:xfrm>
            <a:off x="6248400" y="1676400"/>
            <a:ext cx="0" cy="3797300"/>
          </a:xfrm>
          <a:prstGeom prst="line">
            <a:avLst/>
          </a:prstGeom>
          <a:ln w="19050">
            <a:solidFill>
              <a:srgbClr val="264B63"/>
            </a:solidFill>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F85AC4DE-8214-478B-9570-957206269C63}"/>
              </a:ext>
            </a:extLst>
          </p:cNvPr>
          <p:cNvSpPr txBox="1"/>
          <p:nvPr/>
        </p:nvSpPr>
        <p:spPr>
          <a:xfrm>
            <a:off x="6743700" y="1600200"/>
            <a:ext cx="4635500" cy="323165"/>
          </a:xfrm>
          <a:prstGeom prst="rect">
            <a:avLst/>
          </a:prstGeom>
          <a:noFill/>
        </p:spPr>
        <p:txBody>
          <a:bodyPr vert="horz" wrap="square" lIns="0" tIns="0" rIns="0" bIns="0" rtlCol="0">
            <a:spAutoFit/>
          </a:bodyPr>
          <a:lstStyle/>
          <a:p>
            <a:r>
              <a:rPr lang="en-US" sz="2100" b="1">
                <a:solidFill>
                  <a:srgbClr val="FF64A5"/>
                </a:solidFill>
                <a:latin typeface="Bahnschrift" panose="020B0502040204020203" pitchFamily="34" charset="0"/>
              </a:rPr>
              <a:t>RECORDED ANALYSIS</a:t>
            </a:r>
          </a:p>
        </p:txBody>
      </p:sp>
      <p:sp>
        <p:nvSpPr>
          <p:cNvPr id="23" name="TextBox 22">
            <a:extLst>
              <a:ext uri="{FF2B5EF4-FFF2-40B4-BE49-F238E27FC236}">
                <a16:creationId xmlns:a16="http://schemas.microsoft.com/office/drawing/2014/main" id="{2E36FF4D-E616-44BE-A348-093611945224}"/>
              </a:ext>
            </a:extLst>
          </p:cNvPr>
          <p:cNvSpPr txBox="1"/>
          <p:nvPr/>
        </p:nvSpPr>
        <p:spPr>
          <a:xfrm>
            <a:off x="6743700" y="2336800"/>
            <a:ext cx="4406900" cy="877163"/>
          </a:xfrm>
          <a:prstGeom prst="rect">
            <a:avLst/>
          </a:prstGeom>
          <a:noFill/>
        </p:spPr>
        <p:txBody>
          <a:bodyPr vert="horz" wrap="square" lIns="0" tIns="0" rIns="0" bIns="0" rtlCol="0">
            <a:spAutoFit/>
          </a:bodyPr>
          <a:lstStyle/>
          <a:p>
            <a:r>
              <a:rPr lang="en-US" sz="1900">
                <a:solidFill>
                  <a:srgbClr val="CCDDEC"/>
                </a:solidFill>
                <a:latin typeface="Aptos"/>
              </a:rPr>
              <a:t>The Analyze view plots waveform, loudness, spectrum and spectrogram. It also reports duration, sample rate and peak.</a:t>
            </a:r>
          </a:p>
        </p:txBody>
      </p:sp>
      <p:sp>
        <p:nvSpPr>
          <p:cNvPr id="24" name="TextBox 23">
            <a:extLst>
              <a:ext uri="{FF2B5EF4-FFF2-40B4-BE49-F238E27FC236}">
                <a16:creationId xmlns:a16="http://schemas.microsoft.com/office/drawing/2014/main" id="{4E487D24-1D1C-4489-98D5-4FBA9FECDD64}"/>
              </a:ext>
            </a:extLst>
          </p:cNvPr>
          <p:cNvSpPr txBox="1"/>
          <p:nvPr/>
        </p:nvSpPr>
        <p:spPr>
          <a:xfrm>
            <a:off x="6743700" y="4051300"/>
            <a:ext cx="4406900" cy="877163"/>
          </a:xfrm>
          <a:prstGeom prst="rect">
            <a:avLst/>
          </a:prstGeom>
          <a:noFill/>
        </p:spPr>
        <p:txBody>
          <a:bodyPr vert="horz" wrap="square" lIns="0" tIns="0" rIns="0" bIns="0" rtlCol="0">
            <a:spAutoFit/>
          </a:bodyPr>
          <a:lstStyle/>
          <a:p>
            <a:r>
              <a:rPr lang="en-US" sz="1900">
                <a:solidFill>
                  <a:srgbClr val="CCDDEC"/>
                </a:solidFill>
                <a:latin typeface="Aptos"/>
              </a:rPr>
              <a:t>The live display stays in the browser. A recorded clip can be filtered, compared with another clip and downloaded as WAV.</a:t>
            </a:r>
          </a:p>
        </p:txBody>
      </p:sp>
      <p:cxnSp>
        <p:nvCxnSpPr>
          <p:cNvPr id="25" name="Straight Connector 24">
            <a:extLst>
              <a:ext uri="{FF2B5EF4-FFF2-40B4-BE49-F238E27FC236}">
                <a16:creationId xmlns:a16="http://schemas.microsoft.com/office/drawing/2014/main" id="{FE5DCEC7-CAA3-4853-A58E-C2DFFEB6D42F}"/>
              </a:ext>
            </a:extLst>
          </p:cNvPr>
          <p:cNvCxnSpPr/>
          <p:nvPr/>
        </p:nvCxnSpPr>
        <p:spPr>
          <a:xfrm>
            <a:off x="889000" y="5740400"/>
            <a:ext cx="10401300" cy="0"/>
          </a:xfrm>
          <a:prstGeom prst="line">
            <a:avLst/>
          </a:prstGeom>
          <a:ln w="15240">
            <a:solidFill>
              <a:srgbClr val="264B63"/>
            </a:solidFill>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A91B3421-6334-46B8-A122-670EC95B1741}"/>
              </a:ext>
            </a:extLst>
          </p:cNvPr>
          <p:cNvSpPr txBox="1"/>
          <p:nvPr/>
        </p:nvSpPr>
        <p:spPr>
          <a:xfrm>
            <a:off x="889000" y="5956300"/>
            <a:ext cx="1485900" cy="184666"/>
          </a:xfrm>
          <a:prstGeom prst="rect">
            <a:avLst/>
          </a:prstGeom>
          <a:noFill/>
        </p:spPr>
        <p:txBody>
          <a:bodyPr vert="horz" wrap="square" lIns="0" tIns="0" rIns="0" bIns="0" rtlCol="0">
            <a:spAutoFit/>
          </a:bodyPr>
          <a:lstStyle/>
          <a:p>
            <a:r>
              <a:rPr lang="en-US" sz="1200" b="1">
                <a:solidFill>
                  <a:srgbClr val="FF64A5"/>
                </a:solidFill>
                <a:latin typeface="Bahnschrift" panose="020B0502040204020203" pitchFamily="34" charset="0"/>
              </a:rPr>
              <a:t>DEMO PATH</a:t>
            </a:r>
          </a:p>
        </p:txBody>
      </p:sp>
      <p:sp>
        <p:nvSpPr>
          <p:cNvPr id="27" name="TextBox 26">
            <a:extLst>
              <a:ext uri="{FF2B5EF4-FFF2-40B4-BE49-F238E27FC236}">
                <a16:creationId xmlns:a16="http://schemas.microsoft.com/office/drawing/2014/main" id="{EE8B35BD-9C88-4E51-A01A-704428F1D63F}"/>
              </a:ext>
            </a:extLst>
          </p:cNvPr>
          <p:cNvSpPr txBox="1"/>
          <p:nvPr/>
        </p:nvSpPr>
        <p:spPr>
          <a:xfrm>
            <a:off x="2425700" y="5918200"/>
            <a:ext cx="8382000" cy="246221"/>
          </a:xfrm>
          <a:prstGeom prst="rect">
            <a:avLst/>
          </a:prstGeom>
          <a:noFill/>
        </p:spPr>
        <p:txBody>
          <a:bodyPr vert="horz" wrap="square" lIns="0" tIns="0" rIns="0" bIns="0" rtlCol="0">
            <a:spAutoFit/>
          </a:bodyPr>
          <a:lstStyle/>
          <a:p>
            <a:r>
              <a:rPr lang="en-US" sz="1600">
                <a:solidFill>
                  <a:srgbClr val="EEF6FF"/>
                </a:solidFill>
                <a:latin typeface="Aptos"/>
              </a:rPr>
              <a:t>Stop live view  →  record  →  play back  →  Analyze recording</a:t>
            </a:r>
          </a:p>
        </p:txBody>
      </p:sp>
      <p:sp>
        <p:nvSpPr>
          <p:cNvPr id="28" name="Rectangle 27">
            <a:extLst>
              <a:ext uri="{FF2B5EF4-FFF2-40B4-BE49-F238E27FC236}">
                <a16:creationId xmlns:a16="http://schemas.microsoft.com/office/drawing/2014/main" id="{3ADD825E-5B69-4F7E-98E0-7713FCE0BE95}"/>
              </a:ext>
            </a:extLst>
          </p:cNvPr>
          <p:cNvSpPr/>
          <p:nvPr/>
        </p:nvSpPr>
        <p:spPr>
          <a:xfrm>
            <a:off x="533400" y="381000"/>
            <a:ext cx="50800" cy="495300"/>
          </a:xfrm>
          <a:prstGeom prst="rect">
            <a:avLst/>
          </a:prstGeom>
          <a:solidFill>
            <a:srgbClr val="37D9E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CD3C51E6-B1C4-4E03-8960-02F37CDB41A6}"/>
              </a:ext>
            </a:extLst>
          </p:cNvPr>
          <p:cNvSpPr txBox="1"/>
          <p:nvPr/>
        </p:nvSpPr>
        <p:spPr>
          <a:xfrm>
            <a:off x="9779000" y="927100"/>
            <a:ext cx="1676400" cy="138499"/>
          </a:xfrm>
          <a:prstGeom prst="rect">
            <a:avLst/>
          </a:prstGeom>
          <a:noFill/>
        </p:spPr>
        <p:txBody>
          <a:bodyPr vert="horz" wrap="square" lIns="0" tIns="0" rIns="0" bIns="0" rtlCol="0">
            <a:spAutoFit/>
          </a:bodyPr>
          <a:lstStyle/>
          <a:p>
            <a:pPr algn="r"/>
            <a:r>
              <a:rPr lang="en-US" sz="900">
                <a:solidFill>
                  <a:srgbClr val="85A0B8"/>
                </a:solidFill>
                <a:latin typeface="Bahnschrift" panose="020B0502040204020203" pitchFamily="34" charset="0"/>
              </a:rPr>
              <a:t>ANALYSIS  /  17</a:t>
            </a:r>
          </a:p>
        </p:txBody>
      </p:sp>
    </p:spTree>
    <p:extLst>
      <p:ext uri="{BB962C8B-B14F-4D97-AF65-F5344CB8AC3E}">
        <p14:creationId xmlns:p14="http://schemas.microsoft.com/office/powerpoint/2010/main" val="2554217203" id="{C66543EE-B2AE-4278-83AF-A1150BDD04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3F15E68-FFB4-461F-A9D6-BEE04A1624AB}"/>
              </a:ext>
            </a:extLst>
          </p:cNvPr>
          <p:cNvSpPr/>
          <p:nvPr/>
        </p:nvSpPr>
        <p:spPr>
          <a:xfrm>
            <a:off x="0" y="0"/>
            <a:ext cx="12192000" cy="6858000"/>
          </a:xfrm>
          <a:prstGeom prst="rect">
            <a:avLst/>
          </a:prstGeom>
          <a:solidFill>
            <a:srgbClr val="08122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7A03E6D1-6DAF-4E1C-915A-9BEC4F836498}"/>
              </a:ext>
            </a:extLst>
          </p:cNvPr>
          <p:cNvSpPr txBox="1"/>
          <p:nvPr/>
        </p:nvSpPr>
        <p:spPr>
          <a:xfrm>
            <a:off x="685800" y="368300"/>
            <a:ext cx="10795000" cy="430887"/>
          </a:xfrm>
          <a:prstGeom prst="rect">
            <a:avLst/>
          </a:prstGeom>
          <a:noFill/>
        </p:spPr>
        <p:txBody>
          <a:bodyPr vert="horz" wrap="square" lIns="0" tIns="0" rIns="0" bIns="0" rtlCol="0">
            <a:spAutoFit/>
          </a:bodyPr>
          <a:lstStyle/>
          <a:p>
            <a:r>
              <a:rPr lang="en-US" sz="2800" b="1">
                <a:solidFill>
                  <a:srgbClr val="EEF6FF"/>
                </a:solidFill>
                <a:latin typeface="Bahnschrift" panose="020B0502040204020203" pitchFamily="34" charset="0"/>
              </a:rPr>
              <a:t>Noise reduction</a:t>
            </a:r>
          </a:p>
        </p:txBody>
      </p:sp>
      <p:cxnSp>
        <p:nvCxnSpPr>
          <p:cNvPr id="4" name="Straight Connector 3">
            <a:extLst>
              <a:ext uri="{FF2B5EF4-FFF2-40B4-BE49-F238E27FC236}">
                <a16:creationId xmlns:a16="http://schemas.microsoft.com/office/drawing/2014/main" id="{048BDF5C-5153-4CF3-BECC-A50A8B14163D}"/>
              </a:ext>
            </a:extLst>
          </p:cNvPr>
          <p:cNvCxnSpPr/>
          <p:nvPr/>
        </p:nvCxnSpPr>
        <p:spPr>
          <a:xfrm>
            <a:off x="685800" y="1168400"/>
            <a:ext cx="10820400" cy="0"/>
          </a:xfrm>
          <a:prstGeom prst="line">
            <a:avLst/>
          </a:prstGeom>
          <a:ln w="17780">
            <a:solidFill>
              <a:srgbClr val="37D9E9"/>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984BD48B-7731-48EE-B887-F491A7572850}"/>
              </a:ext>
            </a:extLst>
          </p:cNvPr>
          <p:cNvSpPr txBox="1"/>
          <p:nvPr/>
        </p:nvSpPr>
        <p:spPr>
          <a:xfrm>
            <a:off x="685800" y="6502400"/>
            <a:ext cx="3810000" cy="153888"/>
          </a:xfrm>
          <a:prstGeom prst="rect">
            <a:avLst/>
          </a:prstGeom>
          <a:noFill/>
        </p:spPr>
        <p:txBody>
          <a:bodyPr vert="horz" wrap="square" lIns="0" tIns="0" rIns="0" bIns="0" rtlCol="0">
            <a:spAutoFit/>
          </a:bodyPr>
          <a:lstStyle/>
          <a:p>
            <a:r>
              <a:rPr lang="en-US" sz="1000" b="1">
                <a:solidFill>
                  <a:srgbClr val="85A0B8"/>
                </a:solidFill>
                <a:latin typeface="Aptos"/>
              </a:rPr>
              <a:t>SIGNAL STUDIO</a:t>
            </a:r>
          </a:p>
        </p:txBody>
      </p:sp>
      <p:sp>
        <p:nvSpPr>
          <p:cNvPr id="6" name="TextBox 5">
            <a:extLst>
              <a:ext uri="{FF2B5EF4-FFF2-40B4-BE49-F238E27FC236}">
                <a16:creationId xmlns:a16="http://schemas.microsoft.com/office/drawing/2014/main" id="{26CFB826-1EFD-43E7-9538-A432FB0A12FD}"/>
              </a:ext>
            </a:extLst>
          </p:cNvPr>
          <p:cNvSpPr txBox="1"/>
          <p:nvPr/>
        </p:nvSpPr>
        <p:spPr>
          <a:xfrm>
            <a:off x="11430000" y="6502400"/>
            <a:ext cx="444500" cy="153888"/>
          </a:xfrm>
          <a:prstGeom prst="rect">
            <a:avLst/>
          </a:prstGeom>
          <a:noFill/>
        </p:spPr>
        <p:txBody>
          <a:bodyPr vert="horz" wrap="square" lIns="0" tIns="0" rIns="0" bIns="0" rtlCol="0">
            <a:spAutoFit/>
          </a:bodyPr>
          <a:lstStyle/>
          <a:p>
            <a:pPr algn="r"/>
            <a:r>
              <a:rPr lang="en-US" sz="1000" b="1">
                <a:solidFill>
                  <a:srgbClr val="37D9E9"/>
                </a:solidFill>
                <a:latin typeface="Bahnschrift" panose="020B0502040204020203" pitchFamily="34" charset="0"/>
              </a:rPr>
              <a:t>18</a:t>
            </a:r>
          </a:p>
        </p:txBody>
      </p:sp>
      <p:sp>
        <p:nvSpPr>
          <p:cNvPr id="16" name="TextBox 15">
            <a:extLst>
              <a:ext uri="{FF2B5EF4-FFF2-40B4-BE49-F238E27FC236}">
                <a16:creationId xmlns:a16="http://schemas.microsoft.com/office/drawing/2014/main" id="{6751E543-39BB-4CDF-9F73-87C86B7F09F0}"/>
              </a:ext>
            </a:extLst>
          </p:cNvPr>
          <p:cNvSpPr txBox="1"/>
          <p:nvPr/>
        </p:nvSpPr>
        <p:spPr>
          <a:xfrm>
            <a:off x="850900" y="1600200"/>
            <a:ext cx="5334000" cy="323165"/>
          </a:xfrm>
          <a:prstGeom prst="rect">
            <a:avLst/>
          </a:prstGeom>
          <a:noFill/>
        </p:spPr>
        <p:txBody>
          <a:bodyPr vert="horz" wrap="square" lIns="0" tIns="0" rIns="0" bIns="0" rtlCol="0">
            <a:spAutoFit/>
          </a:bodyPr>
          <a:lstStyle/>
          <a:p>
            <a:r>
              <a:rPr lang="en-US" sz="2100" b="1">
                <a:solidFill>
                  <a:srgbClr val="37D9E9"/>
                </a:solidFill>
                <a:latin typeface="Bahnschrift" panose="020B0502040204020203" pitchFamily="34" charset="0"/>
              </a:rPr>
              <a:t>HOW THE CLEANUP WORKS</a:t>
            </a:r>
          </a:p>
        </p:txBody>
      </p:sp>
      <p:sp>
        <p:nvSpPr>
          <p:cNvPr id="17" name="TextBox 16">
            <a:extLst>
              <a:ext uri="{FF2B5EF4-FFF2-40B4-BE49-F238E27FC236}">
                <a16:creationId xmlns:a16="http://schemas.microsoft.com/office/drawing/2014/main" id="{46C71696-EE62-4576-AE40-5FE0352FB486}"/>
              </a:ext>
            </a:extLst>
          </p:cNvPr>
          <p:cNvSpPr txBox="1"/>
          <p:nvPr/>
        </p:nvSpPr>
        <p:spPr>
          <a:xfrm>
            <a:off x="889000" y="2247900"/>
            <a:ext cx="3302000" cy="230832"/>
          </a:xfrm>
          <a:prstGeom prst="rect">
            <a:avLst/>
          </a:prstGeom>
          <a:noFill/>
        </p:spPr>
        <p:txBody>
          <a:bodyPr vert="horz" wrap="square" lIns="0" tIns="0" rIns="0" bIns="0" rtlCol="0">
            <a:spAutoFit/>
          </a:bodyPr>
          <a:lstStyle/>
          <a:p>
            <a:r>
              <a:rPr lang="en-US" sz="1500" b="1">
                <a:solidFill>
                  <a:srgbClr val="37D9E9"/>
                </a:solidFill>
                <a:latin typeface="Bahnschrift" panose="020B0502040204020203" pitchFamily="34" charset="0"/>
              </a:rPr>
              <a:t>SHORT TIME FRAMES</a:t>
            </a:r>
          </a:p>
        </p:txBody>
      </p:sp>
      <p:sp>
        <p:nvSpPr>
          <p:cNvPr id="18" name="TextBox 17">
            <a:extLst>
              <a:ext uri="{FF2B5EF4-FFF2-40B4-BE49-F238E27FC236}">
                <a16:creationId xmlns:a16="http://schemas.microsoft.com/office/drawing/2014/main" id="{1D563081-ACD0-4F36-9EE2-140ED2028DFC}"/>
              </a:ext>
            </a:extLst>
          </p:cNvPr>
          <p:cNvSpPr txBox="1"/>
          <p:nvPr/>
        </p:nvSpPr>
        <p:spPr>
          <a:xfrm>
            <a:off x="889000" y="2654300"/>
            <a:ext cx="4953000" cy="584775"/>
          </a:xfrm>
          <a:prstGeom prst="rect">
            <a:avLst/>
          </a:prstGeom>
          <a:noFill/>
        </p:spPr>
        <p:txBody>
          <a:bodyPr vert="horz" wrap="square" lIns="0" tIns="0" rIns="0" bIns="0" rtlCol="0">
            <a:spAutoFit/>
          </a:bodyPr>
          <a:lstStyle/>
          <a:p>
            <a:r>
              <a:rPr lang="en-US" sz="1900">
                <a:solidFill>
                  <a:srgbClr val="CCDDEC"/>
                </a:solidFill>
                <a:latin typeface="Aptos"/>
              </a:rPr>
              <a:t>Short frames show how strongly each frequency appears over time.</a:t>
            </a:r>
          </a:p>
        </p:txBody>
      </p:sp>
      <p:sp>
        <p:nvSpPr>
          <p:cNvPr id="19" name="TextBox 18">
            <a:extLst>
              <a:ext uri="{FF2B5EF4-FFF2-40B4-BE49-F238E27FC236}">
                <a16:creationId xmlns:a16="http://schemas.microsoft.com/office/drawing/2014/main" id="{FB6C0509-3020-43E5-807B-FA99FE6828D8}"/>
              </a:ext>
            </a:extLst>
          </p:cNvPr>
          <p:cNvSpPr txBox="1"/>
          <p:nvPr/>
        </p:nvSpPr>
        <p:spPr>
          <a:xfrm>
            <a:off x="889000" y="3835400"/>
            <a:ext cx="3302000" cy="230832"/>
          </a:xfrm>
          <a:prstGeom prst="rect">
            <a:avLst/>
          </a:prstGeom>
          <a:noFill/>
        </p:spPr>
        <p:txBody>
          <a:bodyPr vert="horz" wrap="square" lIns="0" tIns="0" rIns="0" bIns="0" rtlCol="0">
            <a:spAutoFit/>
          </a:bodyPr>
          <a:lstStyle/>
          <a:p>
            <a:r>
              <a:rPr lang="en-US" sz="1500" b="1">
                <a:solidFill>
                  <a:srgbClr val="37D9E9"/>
                </a:solidFill>
                <a:latin typeface="Bahnschrift" panose="020B0502040204020203" pitchFamily="34" charset="0"/>
              </a:rPr>
              <a:t>NOISE FLOOR</a:t>
            </a:r>
          </a:p>
        </p:txBody>
      </p:sp>
      <p:sp>
        <p:nvSpPr>
          <p:cNvPr id="20" name="TextBox 19">
            <a:extLst>
              <a:ext uri="{FF2B5EF4-FFF2-40B4-BE49-F238E27FC236}">
                <a16:creationId xmlns:a16="http://schemas.microsoft.com/office/drawing/2014/main" id="{5706B334-6DC8-4EDF-B2DA-4A50D8ED3D5A}"/>
              </a:ext>
            </a:extLst>
          </p:cNvPr>
          <p:cNvSpPr txBox="1"/>
          <p:nvPr/>
        </p:nvSpPr>
        <p:spPr>
          <a:xfrm>
            <a:off x="889000" y="4241800"/>
            <a:ext cx="4953000" cy="584775"/>
          </a:xfrm>
          <a:prstGeom prst="rect">
            <a:avLst/>
          </a:prstGeom>
          <a:noFill/>
        </p:spPr>
        <p:txBody>
          <a:bodyPr vert="horz" wrap="square" lIns="0" tIns="0" rIns="0" bIns="0" rtlCol="0">
            <a:spAutoFit/>
          </a:bodyPr>
          <a:lstStyle/>
          <a:p>
            <a:r>
              <a:rPr lang="en-US" sz="1900">
                <a:solidFill>
                  <a:srgbClr val="CCDDEC"/>
                </a:solidFill>
                <a:latin typeface="Aptos"/>
              </a:rPr>
              <a:t>The 15th percentile estimates steady noise at each frequency.</a:t>
            </a:r>
          </a:p>
        </p:txBody>
      </p:sp>
      <p:cxnSp>
        <p:nvCxnSpPr>
          <p:cNvPr id="21" name="Straight Connector 20">
            <a:extLst>
              <a:ext uri="{FF2B5EF4-FFF2-40B4-BE49-F238E27FC236}">
                <a16:creationId xmlns:a16="http://schemas.microsoft.com/office/drawing/2014/main" id="{F4B4EDB3-7D7F-404B-9850-7C3029FFC22D}"/>
              </a:ext>
            </a:extLst>
          </p:cNvPr>
          <p:cNvCxnSpPr/>
          <p:nvPr/>
        </p:nvCxnSpPr>
        <p:spPr>
          <a:xfrm>
            <a:off x="6248400" y="1676400"/>
            <a:ext cx="0" cy="3797300"/>
          </a:xfrm>
          <a:prstGeom prst="line">
            <a:avLst/>
          </a:prstGeom>
          <a:ln w="19050">
            <a:solidFill>
              <a:srgbClr val="264B63"/>
            </a:solidFill>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F3CFC689-86D7-4477-BB8D-A486A0872E2C}"/>
              </a:ext>
            </a:extLst>
          </p:cNvPr>
          <p:cNvSpPr txBox="1"/>
          <p:nvPr/>
        </p:nvSpPr>
        <p:spPr>
          <a:xfrm>
            <a:off x="6743700" y="1600200"/>
            <a:ext cx="4635500" cy="323165"/>
          </a:xfrm>
          <a:prstGeom prst="rect">
            <a:avLst/>
          </a:prstGeom>
          <a:noFill/>
        </p:spPr>
        <p:txBody>
          <a:bodyPr vert="horz" wrap="square" lIns="0" tIns="0" rIns="0" bIns="0" rtlCol="0">
            <a:spAutoFit/>
          </a:bodyPr>
          <a:lstStyle/>
          <a:p>
            <a:r>
              <a:rPr lang="en-US" sz="2100" b="1">
                <a:solidFill>
                  <a:srgbClr val="FF64A5"/>
                </a:solidFill>
                <a:latin typeface="Bahnschrift" panose="020B0502040204020203" pitchFamily="34" charset="0"/>
              </a:rPr>
              <a:t>APPLY AND COMPARE</a:t>
            </a:r>
          </a:p>
        </p:txBody>
      </p:sp>
      <p:sp>
        <p:nvSpPr>
          <p:cNvPr id="23" name="TextBox 22">
            <a:extLst>
              <a:ext uri="{FF2B5EF4-FFF2-40B4-BE49-F238E27FC236}">
                <a16:creationId xmlns:a16="http://schemas.microsoft.com/office/drawing/2014/main" id="{902640DD-FB92-4BC0-B4FD-66BA46D846C6}"/>
              </a:ext>
            </a:extLst>
          </p:cNvPr>
          <p:cNvSpPr txBox="1"/>
          <p:nvPr/>
        </p:nvSpPr>
        <p:spPr>
          <a:xfrm>
            <a:off x="6743700" y="2336800"/>
            <a:ext cx="4406900" cy="877163"/>
          </a:xfrm>
          <a:prstGeom prst="rect">
            <a:avLst/>
          </a:prstGeom>
          <a:noFill/>
        </p:spPr>
        <p:txBody>
          <a:bodyPr vert="horz" wrap="square" lIns="0" tIns="0" rIns="0" bIns="0" rtlCol="0">
            <a:spAutoFit/>
          </a:bodyPr>
          <a:lstStyle/>
          <a:p>
            <a:r>
              <a:rPr lang="en-US" sz="1900">
                <a:solidFill>
                  <a:srgbClr val="CCDDEC"/>
                </a:solidFill>
                <a:latin typeface="Aptos"/>
              </a:rPr>
              <a:t>The slider controls noise reduction. A minimum mask preserves some sound in every band.</a:t>
            </a:r>
          </a:p>
        </p:txBody>
      </p:sp>
      <p:sp>
        <p:nvSpPr>
          <p:cNvPr id="24" name="TextBox 23">
            <a:extLst>
              <a:ext uri="{FF2B5EF4-FFF2-40B4-BE49-F238E27FC236}">
                <a16:creationId xmlns:a16="http://schemas.microsoft.com/office/drawing/2014/main" id="{130A8093-641D-48F2-82F4-797CC9ACA1E4}"/>
              </a:ext>
            </a:extLst>
          </p:cNvPr>
          <p:cNvSpPr txBox="1"/>
          <p:nvPr/>
        </p:nvSpPr>
        <p:spPr>
          <a:xfrm>
            <a:off x="6743700" y="4051300"/>
            <a:ext cx="4406900" cy="877163"/>
          </a:xfrm>
          <a:prstGeom prst="rect">
            <a:avLst/>
          </a:prstGeom>
          <a:noFill/>
        </p:spPr>
        <p:txBody>
          <a:bodyPr vert="horz" wrap="square" lIns="0" tIns="0" rIns="0" bIns="0" rtlCol="0">
            <a:spAutoFit/>
          </a:bodyPr>
          <a:lstStyle/>
          <a:p>
            <a:r>
              <a:rPr lang="en-US" sz="1900">
                <a:solidFill>
                  <a:srgbClr val="CCDDEC"/>
                </a:solidFill>
                <a:latin typeface="Aptos"/>
              </a:rPr>
              <a:t>The app rebuilds the cleaned clip for playback, original comparison and WAV download.</a:t>
            </a:r>
          </a:p>
        </p:txBody>
      </p:sp>
      <p:cxnSp>
        <p:nvCxnSpPr>
          <p:cNvPr id="25" name="Straight Connector 24">
            <a:extLst>
              <a:ext uri="{FF2B5EF4-FFF2-40B4-BE49-F238E27FC236}">
                <a16:creationId xmlns:a16="http://schemas.microsoft.com/office/drawing/2014/main" id="{BC8C6C16-CCE2-42DD-AB77-FA9ECED51588}"/>
              </a:ext>
            </a:extLst>
          </p:cNvPr>
          <p:cNvCxnSpPr/>
          <p:nvPr/>
        </p:nvCxnSpPr>
        <p:spPr>
          <a:xfrm>
            <a:off x="889000" y="5740400"/>
            <a:ext cx="10401300" cy="0"/>
          </a:xfrm>
          <a:prstGeom prst="line">
            <a:avLst/>
          </a:prstGeom>
          <a:ln w="15240">
            <a:solidFill>
              <a:srgbClr val="264B63"/>
            </a:solidFill>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2077D8AC-3790-4D13-A764-5853D9B417AF}"/>
              </a:ext>
            </a:extLst>
          </p:cNvPr>
          <p:cNvSpPr txBox="1"/>
          <p:nvPr/>
        </p:nvSpPr>
        <p:spPr>
          <a:xfrm>
            <a:off x="889000" y="5956300"/>
            <a:ext cx="1485900" cy="184666"/>
          </a:xfrm>
          <a:prstGeom prst="rect">
            <a:avLst/>
          </a:prstGeom>
          <a:noFill/>
        </p:spPr>
        <p:txBody>
          <a:bodyPr vert="horz" wrap="square" lIns="0" tIns="0" rIns="0" bIns="0" rtlCol="0">
            <a:spAutoFit/>
          </a:bodyPr>
          <a:lstStyle/>
          <a:p>
            <a:r>
              <a:rPr lang="en-US" sz="1200" b="1">
                <a:solidFill>
                  <a:srgbClr val="FF64A5"/>
                </a:solidFill>
                <a:latin typeface="Bahnschrift" panose="020B0502040204020203" pitchFamily="34" charset="0"/>
              </a:rPr>
              <a:t>TRY IN THE APP</a:t>
            </a:r>
          </a:p>
        </p:txBody>
      </p:sp>
      <p:sp>
        <p:nvSpPr>
          <p:cNvPr id="27" name="TextBox 26">
            <a:extLst>
              <a:ext uri="{FF2B5EF4-FFF2-40B4-BE49-F238E27FC236}">
                <a16:creationId xmlns:a16="http://schemas.microsoft.com/office/drawing/2014/main" id="{09D734EF-EFE8-4993-99BA-244B02D5748B}"/>
              </a:ext>
            </a:extLst>
          </p:cNvPr>
          <p:cNvSpPr txBox="1"/>
          <p:nvPr/>
        </p:nvSpPr>
        <p:spPr>
          <a:xfrm>
            <a:off x="2425700" y="5918200"/>
            <a:ext cx="8382000" cy="246221"/>
          </a:xfrm>
          <a:prstGeom prst="rect">
            <a:avLst/>
          </a:prstGeom>
          <a:noFill/>
        </p:spPr>
        <p:txBody>
          <a:bodyPr vert="horz" wrap="square" lIns="0" tIns="0" rIns="0" bIns="0" rtlCol="0">
            <a:spAutoFit/>
          </a:bodyPr>
          <a:lstStyle/>
          <a:p>
            <a:r>
              <a:rPr lang="en-US" sz="1600">
                <a:solidFill>
                  <a:srgbClr val="EEF6FF"/>
                </a:solidFill>
                <a:latin typeface="Aptos"/>
              </a:rPr>
              <a:t>Noise &amp; EQ  →  reduce noise  →  compare  →  download</a:t>
            </a:r>
          </a:p>
        </p:txBody>
      </p:sp>
      <p:sp>
        <p:nvSpPr>
          <p:cNvPr id="28" name="Rectangle 27">
            <a:extLst>
              <a:ext uri="{FF2B5EF4-FFF2-40B4-BE49-F238E27FC236}">
                <a16:creationId xmlns:a16="http://schemas.microsoft.com/office/drawing/2014/main" id="{FB943178-CCA1-4595-8775-F9FB53ACCEA8}"/>
              </a:ext>
            </a:extLst>
          </p:cNvPr>
          <p:cNvSpPr/>
          <p:nvPr/>
        </p:nvSpPr>
        <p:spPr>
          <a:xfrm>
            <a:off x="533400" y="381000"/>
            <a:ext cx="50800" cy="495300"/>
          </a:xfrm>
          <a:prstGeom prst="rect">
            <a:avLst/>
          </a:prstGeom>
          <a:solidFill>
            <a:srgbClr val="37D9E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352C7C18-6C16-4C20-9938-453342FA3C8A}"/>
              </a:ext>
            </a:extLst>
          </p:cNvPr>
          <p:cNvSpPr txBox="1"/>
          <p:nvPr/>
        </p:nvSpPr>
        <p:spPr>
          <a:xfrm>
            <a:off x="9779000" y="927100"/>
            <a:ext cx="1676400" cy="138499"/>
          </a:xfrm>
          <a:prstGeom prst="rect">
            <a:avLst/>
          </a:prstGeom>
          <a:noFill/>
        </p:spPr>
        <p:txBody>
          <a:bodyPr vert="horz" wrap="square" lIns="0" tIns="0" rIns="0" bIns="0" rtlCol="0">
            <a:spAutoFit/>
          </a:bodyPr>
          <a:lstStyle/>
          <a:p>
            <a:pPr algn="r"/>
            <a:r>
              <a:rPr lang="en-US" sz="900">
                <a:solidFill>
                  <a:srgbClr val="85A0B8"/>
                </a:solidFill>
                <a:latin typeface="Bahnschrift" panose="020B0502040204020203" pitchFamily="34" charset="0"/>
              </a:rPr>
              <a:t>ANALYSIS  /  18</a:t>
            </a:r>
          </a:p>
        </p:txBody>
      </p:sp>
    </p:spTree>
    <p:extLst>
      <p:ext uri="{BB962C8B-B14F-4D97-AF65-F5344CB8AC3E}">
        <p14:creationId xmlns:p14="http://schemas.microsoft.com/office/powerpoint/2010/main" val="2554217203" id="{A6468657-52C6-4022-BF2F-CCE3F84BE4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D567312-A2C8-4348-A183-F9EAF0DFA218}"/>
              </a:ext>
            </a:extLst>
          </p:cNvPr>
          <p:cNvSpPr/>
          <p:nvPr/>
        </p:nvSpPr>
        <p:spPr>
          <a:xfrm>
            <a:off x="0" y="0"/>
            <a:ext cx="12192000" cy="6858000"/>
          </a:xfrm>
          <a:prstGeom prst="rect">
            <a:avLst/>
          </a:prstGeom>
          <a:solidFill>
            <a:srgbClr val="08122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B74BFC48-D892-4595-9BA0-4788B0A03491}"/>
              </a:ext>
            </a:extLst>
          </p:cNvPr>
          <p:cNvSpPr txBox="1"/>
          <p:nvPr/>
        </p:nvSpPr>
        <p:spPr>
          <a:xfrm>
            <a:off x="685800" y="368300"/>
            <a:ext cx="10795000" cy="430887"/>
          </a:xfrm>
          <a:prstGeom prst="rect">
            <a:avLst/>
          </a:prstGeom>
          <a:noFill/>
        </p:spPr>
        <p:txBody>
          <a:bodyPr vert="horz" wrap="square" lIns="0" tIns="0" rIns="0" bIns="0" rtlCol="0">
            <a:spAutoFit/>
          </a:bodyPr>
          <a:lstStyle/>
          <a:p>
            <a:r>
              <a:rPr lang="en-US" sz="2800" b="1">
                <a:solidFill>
                  <a:srgbClr val="EEF6FF"/>
                </a:solidFill>
                <a:latin typeface="Bahnschrift" panose="020B0502040204020203" pitchFamily="34" charset="0"/>
              </a:rPr>
              <a:t>Three-band equalizer</a:t>
            </a:r>
          </a:p>
        </p:txBody>
      </p:sp>
      <p:cxnSp>
        <p:nvCxnSpPr>
          <p:cNvPr id="4" name="Straight Connector 3">
            <a:extLst>
              <a:ext uri="{FF2B5EF4-FFF2-40B4-BE49-F238E27FC236}">
                <a16:creationId xmlns:a16="http://schemas.microsoft.com/office/drawing/2014/main" id="{27C8066A-B195-4CAE-A9BB-E9873F58E3BE}"/>
              </a:ext>
            </a:extLst>
          </p:cNvPr>
          <p:cNvCxnSpPr/>
          <p:nvPr/>
        </p:nvCxnSpPr>
        <p:spPr>
          <a:xfrm>
            <a:off x="685800" y="1168400"/>
            <a:ext cx="10820400" cy="0"/>
          </a:xfrm>
          <a:prstGeom prst="line">
            <a:avLst/>
          </a:prstGeom>
          <a:ln w="17780">
            <a:solidFill>
              <a:srgbClr val="37D9E9"/>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9CD89A34-C10D-46B1-A89B-54C297DA3F33}"/>
              </a:ext>
            </a:extLst>
          </p:cNvPr>
          <p:cNvSpPr txBox="1"/>
          <p:nvPr/>
        </p:nvSpPr>
        <p:spPr>
          <a:xfrm>
            <a:off x="685800" y="6502400"/>
            <a:ext cx="3810000" cy="153888"/>
          </a:xfrm>
          <a:prstGeom prst="rect">
            <a:avLst/>
          </a:prstGeom>
          <a:noFill/>
        </p:spPr>
        <p:txBody>
          <a:bodyPr vert="horz" wrap="square" lIns="0" tIns="0" rIns="0" bIns="0" rtlCol="0">
            <a:spAutoFit/>
          </a:bodyPr>
          <a:lstStyle/>
          <a:p>
            <a:r>
              <a:rPr lang="en-US" sz="1000" b="1">
                <a:solidFill>
                  <a:srgbClr val="85A0B8"/>
                </a:solidFill>
                <a:latin typeface="Aptos"/>
              </a:rPr>
              <a:t>SIGNAL STUDIO</a:t>
            </a:r>
          </a:p>
        </p:txBody>
      </p:sp>
      <p:sp>
        <p:nvSpPr>
          <p:cNvPr id="6" name="TextBox 5">
            <a:extLst>
              <a:ext uri="{FF2B5EF4-FFF2-40B4-BE49-F238E27FC236}">
                <a16:creationId xmlns:a16="http://schemas.microsoft.com/office/drawing/2014/main" id="{74965DB0-48F5-4744-92FC-127DCF509D68}"/>
              </a:ext>
            </a:extLst>
          </p:cNvPr>
          <p:cNvSpPr txBox="1"/>
          <p:nvPr/>
        </p:nvSpPr>
        <p:spPr>
          <a:xfrm>
            <a:off x="11430000" y="6502400"/>
            <a:ext cx="444500" cy="153888"/>
          </a:xfrm>
          <a:prstGeom prst="rect">
            <a:avLst/>
          </a:prstGeom>
          <a:noFill/>
        </p:spPr>
        <p:txBody>
          <a:bodyPr vert="horz" wrap="square" lIns="0" tIns="0" rIns="0" bIns="0" rtlCol="0">
            <a:spAutoFit/>
          </a:bodyPr>
          <a:lstStyle/>
          <a:p>
            <a:pPr algn="r"/>
            <a:r>
              <a:rPr lang="en-US" sz="1000" b="1">
                <a:solidFill>
                  <a:srgbClr val="37D9E9"/>
                </a:solidFill>
                <a:latin typeface="Bahnschrift" panose="020B0502040204020203" pitchFamily="34" charset="0"/>
              </a:rPr>
              <a:t>19</a:t>
            </a:r>
          </a:p>
        </p:txBody>
      </p:sp>
      <p:sp>
        <p:nvSpPr>
          <p:cNvPr id="16" name="TextBox 15">
            <a:extLst>
              <a:ext uri="{FF2B5EF4-FFF2-40B4-BE49-F238E27FC236}">
                <a16:creationId xmlns:a16="http://schemas.microsoft.com/office/drawing/2014/main" id="{855F6799-95A1-4FA2-861D-7BB1B552816F}"/>
              </a:ext>
            </a:extLst>
          </p:cNvPr>
          <p:cNvSpPr txBox="1"/>
          <p:nvPr/>
        </p:nvSpPr>
        <p:spPr>
          <a:xfrm>
            <a:off x="850900" y="1600200"/>
            <a:ext cx="5334000" cy="323165"/>
          </a:xfrm>
          <a:prstGeom prst="rect">
            <a:avLst/>
          </a:prstGeom>
          <a:noFill/>
        </p:spPr>
        <p:txBody>
          <a:bodyPr vert="horz" wrap="square" lIns="0" tIns="0" rIns="0" bIns="0" rtlCol="0">
            <a:spAutoFit/>
          </a:bodyPr>
          <a:lstStyle/>
          <a:p>
            <a:r>
              <a:rPr lang="en-US" sz="2100" b="1">
                <a:solidFill>
                  <a:srgbClr val="37D9E9"/>
                </a:solidFill>
                <a:latin typeface="Bahnschrift" panose="020B0502040204020203" pitchFamily="34" charset="0"/>
              </a:rPr>
              <a:t>HOW THE BANDS WORK</a:t>
            </a:r>
          </a:p>
        </p:txBody>
      </p:sp>
      <p:sp>
        <p:nvSpPr>
          <p:cNvPr id="17" name="TextBox 16">
            <a:extLst>
              <a:ext uri="{FF2B5EF4-FFF2-40B4-BE49-F238E27FC236}">
                <a16:creationId xmlns:a16="http://schemas.microsoft.com/office/drawing/2014/main" id="{CAF2155D-BDBA-491F-827E-B4A22AC840AA}"/>
              </a:ext>
            </a:extLst>
          </p:cNvPr>
          <p:cNvSpPr txBox="1"/>
          <p:nvPr/>
        </p:nvSpPr>
        <p:spPr>
          <a:xfrm>
            <a:off x="889000" y="2247900"/>
            <a:ext cx="3302000" cy="230832"/>
          </a:xfrm>
          <a:prstGeom prst="rect">
            <a:avLst/>
          </a:prstGeom>
          <a:noFill/>
        </p:spPr>
        <p:txBody>
          <a:bodyPr vert="horz" wrap="square" lIns="0" tIns="0" rIns="0" bIns="0" rtlCol="0">
            <a:spAutoFit/>
          </a:bodyPr>
          <a:lstStyle/>
          <a:p>
            <a:r>
              <a:rPr lang="en-US" sz="1500" b="1">
                <a:solidFill>
                  <a:srgbClr val="37D9E9"/>
                </a:solidFill>
                <a:latin typeface="Bahnschrift" panose="020B0502040204020203" pitchFamily="34" charset="0"/>
              </a:rPr>
              <a:t>BASS AND TREBLE</a:t>
            </a:r>
          </a:p>
        </p:txBody>
      </p:sp>
      <p:sp>
        <p:nvSpPr>
          <p:cNvPr id="18" name="TextBox 17">
            <a:extLst>
              <a:ext uri="{FF2B5EF4-FFF2-40B4-BE49-F238E27FC236}">
                <a16:creationId xmlns:a16="http://schemas.microsoft.com/office/drawing/2014/main" id="{8B04D508-F215-4064-A601-D0CB6BA0CC8F}"/>
              </a:ext>
            </a:extLst>
          </p:cNvPr>
          <p:cNvSpPr txBox="1"/>
          <p:nvPr/>
        </p:nvSpPr>
        <p:spPr>
          <a:xfrm>
            <a:off x="889000" y="2654300"/>
            <a:ext cx="4953000" cy="584775"/>
          </a:xfrm>
          <a:prstGeom prst="rect">
            <a:avLst/>
          </a:prstGeom>
          <a:noFill/>
        </p:spPr>
        <p:txBody>
          <a:bodyPr vert="horz" wrap="square" lIns="0" tIns="0" rIns="0" bIns="0" rtlCol="0">
            <a:spAutoFit/>
          </a:bodyPr>
          <a:lstStyle/>
          <a:p>
            <a:r>
              <a:rPr lang="en-US" sz="1900">
                <a:solidFill>
                  <a:srgbClr val="CCDDEC"/>
                </a:solidFill>
                <a:latin typeface="Aptos"/>
              </a:rPr>
              <a:t>Two Butterworth filters isolate bass and treble.</a:t>
            </a:r>
          </a:p>
        </p:txBody>
      </p:sp>
      <p:sp>
        <p:nvSpPr>
          <p:cNvPr id="19" name="TextBox 18">
            <a:extLst>
              <a:ext uri="{FF2B5EF4-FFF2-40B4-BE49-F238E27FC236}">
                <a16:creationId xmlns:a16="http://schemas.microsoft.com/office/drawing/2014/main" id="{D2C01EE7-188F-4FC1-8BDC-6A3BF83562EE}"/>
              </a:ext>
            </a:extLst>
          </p:cNvPr>
          <p:cNvSpPr txBox="1"/>
          <p:nvPr/>
        </p:nvSpPr>
        <p:spPr>
          <a:xfrm>
            <a:off x="889000" y="3835400"/>
            <a:ext cx="3302000" cy="230832"/>
          </a:xfrm>
          <a:prstGeom prst="rect">
            <a:avLst/>
          </a:prstGeom>
          <a:noFill/>
        </p:spPr>
        <p:txBody>
          <a:bodyPr vert="horz" wrap="square" lIns="0" tIns="0" rIns="0" bIns="0" rtlCol="0">
            <a:spAutoFit/>
          </a:bodyPr>
          <a:lstStyle/>
          <a:p>
            <a:r>
              <a:rPr lang="en-US" sz="1500" b="1">
                <a:solidFill>
                  <a:srgbClr val="37D9E9"/>
                </a:solidFill>
                <a:latin typeface="Bahnschrift" panose="020B0502040204020203" pitchFamily="34" charset="0"/>
              </a:rPr>
              <a:t>MIDDLE</a:t>
            </a:r>
          </a:p>
        </p:txBody>
      </p:sp>
      <p:sp>
        <p:nvSpPr>
          <p:cNvPr id="20" name="TextBox 19">
            <a:extLst>
              <a:ext uri="{FF2B5EF4-FFF2-40B4-BE49-F238E27FC236}">
                <a16:creationId xmlns:a16="http://schemas.microsoft.com/office/drawing/2014/main" id="{A10A7862-8C39-480A-9F1D-6B2F082BC0FE}"/>
              </a:ext>
            </a:extLst>
          </p:cNvPr>
          <p:cNvSpPr txBox="1"/>
          <p:nvPr/>
        </p:nvSpPr>
        <p:spPr>
          <a:xfrm>
            <a:off x="889000" y="4241800"/>
            <a:ext cx="4953000" cy="584775"/>
          </a:xfrm>
          <a:prstGeom prst="rect">
            <a:avLst/>
          </a:prstGeom>
          <a:noFill/>
        </p:spPr>
        <p:txBody>
          <a:bodyPr vert="horz" wrap="square" lIns="0" tIns="0" rIns="0" bIns="0" rtlCol="0">
            <a:spAutoFit/>
          </a:bodyPr>
          <a:lstStyle/>
          <a:p>
            <a:r>
              <a:rPr lang="en-US" sz="1900">
                <a:solidFill>
                  <a:srgbClr val="CCDDEC"/>
                </a:solidFill>
                <a:latin typeface="Aptos"/>
              </a:rPr>
              <a:t>Middle band is original minus bass and treble. Cutoffs follow sample rate.</a:t>
            </a:r>
          </a:p>
        </p:txBody>
      </p:sp>
      <p:cxnSp>
        <p:nvCxnSpPr>
          <p:cNvPr id="21" name="Straight Connector 20">
            <a:extLst>
              <a:ext uri="{FF2B5EF4-FFF2-40B4-BE49-F238E27FC236}">
                <a16:creationId xmlns:a16="http://schemas.microsoft.com/office/drawing/2014/main" id="{EBFE6F12-1796-43F0-8C0E-BD3CF8A8C4D2}"/>
              </a:ext>
            </a:extLst>
          </p:cNvPr>
          <p:cNvCxnSpPr/>
          <p:nvPr/>
        </p:nvCxnSpPr>
        <p:spPr>
          <a:xfrm>
            <a:off x="6248400" y="1676400"/>
            <a:ext cx="0" cy="3797300"/>
          </a:xfrm>
          <a:prstGeom prst="line">
            <a:avLst/>
          </a:prstGeom>
          <a:ln w="19050">
            <a:solidFill>
              <a:srgbClr val="264B63"/>
            </a:solidFill>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617B9F75-F18F-4DF6-8801-D48AE722D85A}"/>
              </a:ext>
            </a:extLst>
          </p:cNvPr>
          <p:cNvSpPr txBox="1"/>
          <p:nvPr/>
        </p:nvSpPr>
        <p:spPr>
          <a:xfrm>
            <a:off x="6743700" y="1600200"/>
            <a:ext cx="4635500" cy="323165"/>
          </a:xfrm>
          <a:prstGeom prst="rect">
            <a:avLst/>
          </a:prstGeom>
          <a:noFill/>
        </p:spPr>
        <p:txBody>
          <a:bodyPr vert="horz" wrap="square" lIns="0" tIns="0" rIns="0" bIns="0" rtlCol="0">
            <a:spAutoFit/>
          </a:bodyPr>
          <a:lstStyle/>
          <a:p>
            <a:r>
              <a:rPr lang="en-US" sz="2100" b="1">
                <a:solidFill>
                  <a:srgbClr val="FF64A5"/>
                </a:solidFill>
                <a:latin typeface="Bahnschrift" panose="020B0502040204020203" pitchFamily="34" charset="0"/>
              </a:rPr>
              <a:t>GAIN IN DECIBELS</a:t>
            </a:r>
          </a:p>
        </p:txBody>
      </p:sp>
      <p:sp>
        <p:nvSpPr>
          <p:cNvPr id="23" name="TextBox 22">
            <a:extLst>
              <a:ext uri="{FF2B5EF4-FFF2-40B4-BE49-F238E27FC236}">
                <a16:creationId xmlns:a16="http://schemas.microsoft.com/office/drawing/2014/main" id="{82F16E48-D0C7-4C18-90AC-3373AA28AB27}"/>
              </a:ext>
            </a:extLst>
          </p:cNvPr>
          <p:cNvSpPr txBox="1"/>
          <p:nvPr/>
        </p:nvSpPr>
        <p:spPr>
          <a:xfrm>
            <a:off x="6743700" y="2336800"/>
            <a:ext cx="4406900" cy="877163"/>
          </a:xfrm>
          <a:prstGeom prst="rect">
            <a:avLst/>
          </a:prstGeom>
          <a:noFill/>
        </p:spPr>
        <p:txBody>
          <a:bodyPr vert="horz" wrap="square" lIns="0" tIns="0" rIns="0" bIns="0" rtlCol="0">
            <a:spAutoFit/>
          </a:bodyPr>
          <a:lstStyle/>
          <a:p>
            <a:r>
              <a:rPr lang="en-US" sz="1900">
                <a:solidFill>
                  <a:srgbClr val="CCDDEC"/>
                </a:solidFill>
                <a:latin typeface="Aptos"/>
              </a:rPr>
              <a:t>Three sliders raise or lower bass, mids and treble from -18 to +18 dB. Zero leaves a band unchanged.</a:t>
            </a:r>
          </a:p>
        </p:txBody>
      </p:sp>
      <p:sp>
        <p:nvSpPr>
          <p:cNvPr id="24" name="TextBox 23">
            <a:extLst>
              <a:ext uri="{FF2B5EF4-FFF2-40B4-BE49-F238E27FC236}">
                <a16:creationId xmlns:a16="http://schemas.microsoft.com/office/drawing/2014/main" id="{4786B34A-1288-4984-B4E2-605310B9FCAF}"/>
              </a:ext>
            </a:extLst>
          </p:cNvPr>
          <p:cNvSpPr txBox="1"/>
          <p:nvPr/>
        </p:nvSpPr>
        <p:spPr>
          <a:xfrm>
            <a:off x="6743700" y="4051300"/>
            <a:ext cx="4406900" cy="877163"/>
          </a:xfrm>
          <a:prstGeom prst="rect">
            <a:avLst/>
          </a:prstGeom>
          <a:noFill/>
        </p:spPr>
        <p:txBody>
          <a:bodyPr vert="horz" wrap="square" lIns="0" tIns="0" rIns="0" bIns="0" rtlCol="0">
            <a:spAutoFit/>
          </a:bodyPr>
          <a:lstStyle/>
          <a:p>
            <a:r>
              <a:rPr lang="en-US" sz="1900">
                <a:solidFill>
                  <a:srgbClr val="CCDDEC"/>
                </a:solidFill>
                <a:latin typeface="Aptos"/>
              </a:rPr>
              <a:t>Gain = 10^(dB/20). The adjusted bands combine into a new clip.</a:t>
            </a:r>
          </a:p>
        </p:txBody>
      </p:sp>
      <p:cxnSp>
        <p:nvCxnSpPr>
          <p:cNvPr id="25" name="Straight Connector 24">
            <a:extLst>
              <a:ext uri="{FF2B5EF4-FFF2-40B4-BE49-F238E27FC236}">
                <a16:creationId xmlns:a16="http://schemas.microsoft.com/office/drawing/2014/main" id="{90AEFFBE-C98F-40F0-A16A-23B1B2495BB8}"/>
              </a:ext>
            </a:extLst>
          </p:cNvPr>
          <p:cNvCxnSpPr/>
          <p:nvPr/>
        </p:nvCxnSpPr>
        <p:spPr>
          <a:xfrm>
            <a:off x="889000" y="5740400"/>
            <a:ext cx="10401300" cy="0"/>
          </a:xfrm>
          <a:prstGeom prst="line">
            <a:avLst/>
          </a:prstGeom>
          <a:ln w="15240">
            <a:solidFill>
              <a:srgbClr val="264B63"/>
            </a:solidFill>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ABAA5855-12F6-4E18-AFB8-F5B63EB46774}"/>
              </a:ext>
            </a:extLst>
          </p:cNvPr>
          <p:cNvSpPr txBox="1"/>
          <p:nvPr/>
        </p:nvSpPr>
        <p:spPr>
          <a:xfrm>
            <a:off x="889000" y="5956300"/>
            <a:ext cx="1485900" cy="184666"/>
          </a:xfrm>
          <a:prstGeom prst="rect">
            <a:avLst/>
          </a:prstGeom>
          <a:noFill/>
        </p:spPr>
        <p:txBody>
          <a:bodyPr vert="horz" wrap="square" lIns="0" tIns="0" rIns="0" bIns="0" rtlCol="0">
            <a:spAutoFit/>
          </a:bodyPr>
          <a:lstStyle/>
          <a:p>
            <a:r>
              <a:rPr lang="en-US" sz="1200" b="1">
                <a:solidFill>
                  <a:srgbClr val="FF64A5"/>
                </a:solidFill>
                <a:latin typeface="Bahnschrift" panose="020B0502040204020203" pitchFamily="34" charset="0"/>
              </a:rPr>
              <a:t>TRY IN THE APP</a:t>
            </a:r>
          </a:p>
        </p:txBody>
      </p:sp>
      <p:sp>
        <p:nvSpPr>
          <p:cNvPr id="27" name="TextBox 26">
            <a:extLst>
              <a:ext uri="{FF2B5EF4-FFF2-40B4-BE49-F238E27FC236}">
                <a16:creationId xmlns:a16="http://schemas.microsoft.com/office/drawing/2014/main" id="{12632E9C-87AC-4317-82E5-9FA20DA07BE0}"/>
              </a:ext>
            </a:extLst>
          </p:cNvPr>
          <p:cNvSpPr txBox="1"/>
          <p:nvPr/>
        </p:nvSpPr>
        <p:spPr>
          <a:xfrm>
            <a:off x="2425700" y="5918200"/>
            <a:ext cx="8382000" cy="246221"/>
          </a:xfrm>
          <a:prstGeom prst="rect">
            <a:avLst/>
          </a:prstGeom>
          <a:noFill/>
        </p:spPr>
        <p:txBody>
          <a:bodyPr vert="horz" wrap="square" lIns="0" tIns="0" rIns="0" bIns="0" rtlCol="0">
            <a:spAutoFit/>
          </a:bodyPr>
          <a:lstStyle/>
          <a:p>
            <a:r>
              <a:rPr lang="en-US" sz="1600">
                <a:solidFill>
                  <a:srgbClr val="EEF6FF"/>
                </a:solidFill>
                <a:latin typeface="Aptos"/>
              </a:rPr>
              <a:t>Noise &amp; EQ  →  adjust bands  →  compare  →  download</a:t>
            </a:r>
          </a:p>
        </p:txBody>
      </p:sp>
      <p:sp>
        <p:nvSpPr>
          <p:cNvPr id="28" name="Rectangle 27">
            <a:extLst>
              <a:ext uri="{FF2B5EF4-FFF2-40B4-BE49-F238E27FC236}">
                <a16:creationId xmlns:a16="http://schemas.microsoft.com/office/drawing/2014/main" id="{FBF84D4C-700C-40DC-83AE-3B0E86855B0C}"/>
              </a:ext>
            </a:extLst>
          </p:cNvPr>
          <p:cNvSpPr/>
          <p:nvPr/>
        </p:nvSpPr>
        <p:spPr>
          <a:xfrm>
            <a:off x="533400" y="381000"/>
            <a:ext cx="50800" cy="495300"/>
          </a:xfrm>
          <a:prstGeom prst="rect">
            <a:avLst/>
          </a:prstGeom>
          <a:solidFill>
            <a:srgbClr val="37D9E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8DFDC7F1-60A5-42CF-A398-BE3B79A66FA0}"/>
              </a:ext>
            </a:extLst>
          </p:cNvPr>
          <p:cNvSpPr txBox="1"/>
          <p:nvPr/>
        </p:nvSpPr>
        <p:spPr>
          <a:xfrm>
            <a:off x="9779000" y="927100"/>
            <a:ext cx="1676400" cy="138499"/>
          </a:xfrm>
          <a:prstGeom prst="rect">
            <a:avLst/>
          </a:prstGeom>
          <a:noFill/>
        </p:spPr>
        <p:txBody>
          <a:bodyPr vert="horz" wrap="square" lIns="0" tIns="0" rIns="0" bIns="0" rtlCol="0">
            <a:spAutoFit/>
          </a:bodyPr>
          <a:lstStyle/>
          <a:p>
            <a:pPr algn="r"/>
            <a:r>
              <a:rPr lang="en-US" sz="900">
                <a:solidFill>
                  <a:srgbClr val="85A0B8"/>
                </a:solidFill>
                <a:latin typeface="Bahnschrift" panose="020B0502040204020203" pitchFamily="34" charset="0"/>
              </a:rPr>
              <a:t>ANALYSIS  /  19</a:t>
            </a:r>
          </a:p>
        </p:txBody>
      </p:sp>
    </p:spTree>
    <p:extLst>
      <p:ext uri="{BB962C8B-B14F-4D97-AF65-F5344CB8AC3E}">
        <p14:creationId xmlns:p14="http://schemas.microsoft.com/office/powerpoint/2010/main" val="2554217203" id="{F5D8898D-FDCD-4990-A2A6-95485E59AFF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AD9FBBB-72A6-485E-AD26-A45EC0799387}"/>
              </a:ext>
            </a:extLst>
          </p:cNvPr>
          <p:cNvSpPr/>
          <p:nvPr/>
        </p:nvSpPr>
        <p:spPr>
          <a:xfrm>
            <a:off x="0" y="0"/>
            <a:ext cx="12192000" cy="6858000"/>
          </a:xfrm>
          <a:prstGeom prst="rect">
            <a:avLst/>
          </a:prstGeom>
          <a:solidFill>
            <a:srgbClr val="08122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FD593BDF-C4C9-4F9B-9A1B-F526C781B859}"/>
              </a:ext>
            </a:extLst>
          </p:cNvPr>
          <p:cNvSpPr txBox="1"/>
          <p:nvPr/>
        </p:nvSpPr>
        <p:spPr>
          <a:xfrm>
            <a:off x="685800" y="368300"/>
            <a:ext cx="10795000" cy="430887"/>
          </a:xfrm>
          <a:prstGeom prst="rect">
            <a:avLst/>
          </a:prstGeom>
          <a:noFill/>
        </p:spPr>
        <p:txBody>
          <a:bodyPr vert="horz" wrap="square" lIns="0" tIns="0" rIns="0" bIns="0" rtlCol="0">
            <a:spAutoFit/>
          </a:bodyPr>
          <a:lstStyle/>
          <a:p>
            <a:r>
              <a:rPr lang="en-US" sz="2800" b="1">
                <a:solidFill>
                  <a:srgbClr val="EEF6FF"/>
                </a:solidFill>
                <a:latin typeface="Bahnschrift" panose="020B0502040204020203" pitchFamily="34" charset="0"/>
              </a:rPr>
              <a:t>Room simulator</a:t>
            </a:r>
          </a:p>
        </p:txBody>
      </p:sp>
      <p:cxnSp>
        <p:nvCxnSpPr>
          <p:cNvPr id="4" name="Straight Connector 3">
            <a:extLst>
              <a:ext uri="{FF2B5EF4-FFF2-40B4-BE49-F238E27FC236}">
                <a16:creationId xmlns:a16="http://schemas.microsoft.com/office/drawing/2014/main" id="{1E3993F9-0E9C-469B-B0F3-A4346DD19303}"/>
              </a:ext>
            </a:extLst>
          </p:cNvPr>
          <p:cNvCxnSpPr/>
          <p:nvPr/>
        </p:nvCxnSpPr>
        <p:spPr>
          <a:xfrm>
            <a:off x="685800" y="1168400"/>
            <a:ext cx="10820400" cy="0"/>
          </a:xfrm>
          <a:prstGeom prst="line">
            <a:avLst/>
          </a:prstGeom>
          <a:ln w="17780">
            <a:solidFill>
              <a:srgbClr val="37D9E9"/>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79CE18F4-9A53-4524-B40A-6BDDE1E94575}"/>
              </a:ext>
            </a:extLst>
          </p:cNvPr>
          <p:cNvSpPr txBox="1"/>
          <p:nvPr/>
        </p:nvSpPr>
        <p:spPr>
          <a:xfrm>
            <a:off x="685800" y="6502400"/>
            <a:ext cx="3810000" cy="153888"/>
          </a:xfrm>
          <a:prstGeom prst="rect">
            <a:avLst/>
          </a:prstGeom>
          <a:noFill/>
        </p:spPr>
        <p:txBody>
          <a:bodyPr vert="horz" wrap="square" lIns="0" tIns="0" rIns="0" bIns="0" rtlCol="0">
            <a:spAutoFit/>
          </a:bodyPr>
          <a:lstStyle/>
          <a:p>
            <a:r>
              <a:rPr lang="en-US" sz="1000" b="1">
                <a:solidFill>
                  <a:srgbClr val="85A0B8"/>
                </a:solidFill>
                <a:latin typeface="Aptos"/>
              </a:rPr>
              <a:t>SIGNAL STUDIO</a:t>
            </a:r>
          </a:p>
        </p:txBody>
      </p:sp>
      <p:sp>
        <p:nvSpPr>
          <p:cNvPr id="6" name="TextBox 5">
            <a:extLst>
              <a:ext uri="{FF2B5EF4-FFF2-40B4-BE49-F238E27FC236}">
                <a16:creationId xmlns:a16="http://schemas.microsoft.com/office/drawing/2014/main" id="{F0C17860-5D1A-4E6C-83BE-56CE444F2F0B}"/>
              </a:ext>
            </a:extLst>
          </p:cNvPr>
          <p:cNvSpPr txBox="1"/>
          <p:nvPr/>
        </p:nvSpPr>
        <p:spPr>
          <a:xfrm>
            <a:off x="11430000" y="6502400"/>
            <a:ext cx="444500" cy="153888"/>
          </a:xfrm>
          <a:prstGeom prst="rect">
            <a:avLst/>
          </a:prstGeom>
          <a:noFill/>
        </p:spPr>
        <p:txBody>
          <a:bodyPr vert="horz" wrap="square" lIns="0" tIns="0" rIns="0" bIns="0" rtlCol="0">
            <a:spAutoFit/>
          </a:bodyPr>
          <a:lstStyle/>
          <a:p>
            <a:pPr algn="r"/>
            <a:r>
              <a:rPr lang="en-US" sz="1000" b="1">
                <a:solidFill>
                  <a:srgbClr val="37D9E9"/>
                </a:solidFill>
                <a:latin typeface="Bahnschrift" panose="020B0502040204020203" pitchFamily="34" charset="0"/>
              </a:rPr>
              <a:t>20</a:t>
            </a:r>
          </a:p>
        </p:txBody>
      </p:sp>
      <p:sp>
        <p:nvSpPr>
          <p:cNvPr id="16" name="TextBox 15">
            <a:extLst>
              <a:ext uri="{FF2B5EF4-FFF2-40B4-BE49-F238E27FC236}">
                <a16:creationId xmlns:a16="http://schemas.microsoft.com/office/drawing/2014/main" id="{7CFDDEE0-FB89-4A91-BF4C-2E80293D9CFE}"/>
              </a:ext>
            </a:extLst>
          </p:cNvPr>
          <p:cNvSpPr txBox="1"/>
          <p:nvPr/>
        </p:nvSpPr>
        <p:spPr>
          <a:xfrm>
            <a:off x="850900" y="1600200"/>
            <a:ext cx="5334000" cy="323165"/>
          </a:xfrm>
          <a:prstGeom prst="rect">
            <a:avLst/>
          </a:prstGeom>
          <a:noFill/>
        </p:spPr>
        <p:txBody>
          <a:bodyPr vert="horz" wrap="square" lIns="0" tIns="0" rIns="0" bIns="0" rtlCol="0">
            <a:spAutoFit/>
          </a:bodyPr>
          <a:lstStyle/>
          <a:p>
            <a:r>
              <a:rPr lang="en-US" sz="2100" b="1">
                <a:solidFill>
                  <a:srgbClr val="37D9E9"/>
                </a:solidFill>
                <a:latin typeface="Bahnschrift" panose="020B0502040204020203" pitchFamily="34" charset="0"/>
              </a:rPr>
              <a:t>SYNTHETIC ECHO TAIL</a:t>
            </a:r>
          </a:p>
        </p:txBody>
      </p:sp>
      <p:sp>
        <p:nvSpPr>
          <p:cNvPr id="17" name="TextBox 16">
            <a:extLst>
              <a:ext uri="{FF2B5EF4-FFF2-40B4-BE49-F238E27FC236}">
                <a16:creationId xmlns:a16="http://schemas.microsoft.com/office/drawing/2014/main" id="{2AD2069C-E7C5-4A63-9F79-2FBA2004D20B}"/>
              </a:ext>
            </a:extLst>
          </p:cNvPr>
          <p:cNvSpPr txBox="1"/>
          <p:nvPr/>
        </p:nvSpPr>
        <p:spPr>
          <a:xfrm>
            <a:off x="889000" y="2247900"/>
            <a:ext cx="3302000" cy="230832"/>
          </a:xfrm>
          <a:prstGeom prst="rect">
            <a:avLst/>
          </a:prstGeom>
          <a:noFill/>
        </p:spPr>
        <p:txBody>
          <a:bodyPr vert="horz" wrap="square" lIns="0" tIns="0" rIns="0" bIns="0" rtlCol="0">
            <a:spAutoFit/>
          </a:bodyPr>
          <a:lstStyle/>
          <a:p>
            <a:r>
              <a:rPr lang="en-US" sz="1500" b="1">
                <a:solidFill>
                  <a:srgbClr val="37D9E9"/>
                </a:solidFill>
                <a:latin typeface="Bahnschrift" panose="020B0502040204020203" pitchFamily="34" charset="0"/>
              </a:rPr>
              <a:t>ROOM CHOICES</a:t>
            </a:r>
          </a:p>
        </p:txBody>
      </p:sp>
      <p:sp>
        <p:nvSpPr>
          <p:cNvPr id="18" name="TextBox 17">
            <a:extLst>
              <a:ext uri="{FF2B5EF4-FFF2-40B4-BE49-F238E27FC236}">
                <a16:creationId xmlns:a16="http://schemas.microsoft.com/office/drawing/2014/main" id="{9003A65F-1779-43B4-875B-4F340E164F34}"/>
              </a:ext>
            </a:extLst>
          </p:cNvPr>
          <p:cNvSpPr txBox="1"/>
          <p:nvPr/>
        </p:nvSpPr>
        <p:spPr>
          <a:xfrm>
            <a:off x="889000" y="2654300"/>
            <a:ext cx="4953000" cy="584775"/>
          </a:xfrm>
          <a:prstGeom prst="rect">
            <a:avLst/>
          </a:prstGeom>
          <a:noFill/>
        </p:spPr>
        <p:txBody>
          <a:bodyPr vert="horz" wrap="square" lIns="0" tIns="0" rIns="0" bIns="0" rtlCol="0">
            <a:spAutoFit/>
          </a:bodyPr>
          <a:lstStyle/>
          <a:p>
            <a:r>
              <a:rPr lang="en-US" sz="1900">
                <a:solidFill>
                  <a:srgbClr val="CCDDEC"/>
                </a:solidFill>
                <a:latin typeface="Aptos"/>
              </a:rPr>
              <a:t>Room tails: Small 0.35 s, Hall 1.8 s, Tunnel 2.3 s.</a:t>
            </a:r>
          </a:p>
        </p:txBody>
      </p:sp>
      <p:sp>
        <p:nvSpPr>
          <p:cNvPr id="19" name="TextBox 18">
            <a:extLst>
              <a:ext uri="{FF2B5EF4-FFF2-40B4-BE49-F238E27FC236}">
                <a16:creationId xmlns:a16="http://schemas.microsoft.com/office/drawing/2014/main" id="{8E65E06A-C5AE-4541-8F80-2106DCE9B0E3}"/>
              </a:ext>
            </a:extLst>
          </p:cNvPr>
          <p:cNvSpPr txBox="1"/>
          <p:nvPr/>
        </p:nvSpPr>
        <p:spPr>
          <a:xfrm>
            <a:off x="889000" y="3835400"/>
            <a:ext cx="3302000" cy="230832"/>
          </a:xfrm>
          <a:prstGeom prst="rect">
            <a:avLst/>
          </a:prstGeom>
          <a:noFill/>
        </p:spPr>
        <p:txBody>
          <a:bodyPr vert="horz" wrap="square" lIns="0" tIns="0" rIns="0" bIns="0" rtlCol="0">
            <a:spAutoFit/>
          </a:bodyPr>
          <a:lstStyle/>
          <a:p>
            <a:r>
              <a:rPr lang="en-US" sz="1500" b="1">
                <a:solidFill>
                  <a:srgbClr val="37D9E9"/>
                </a:solidFill>
                <a:latin typeface="Bahnschrift" panose="020B0502040204020203" pitchFamily="34" charset="0"/>
              </a:rPr>
              <a:t>IMPULSE RESPONSE</a:t>
            </a:r>
          </a:p>
        </p:txBody>
      </p:sp>
      <p:sp>
        <p:nvSpPr>
          <p:cNvPr id="20" name="TextBox 19">
            <a:extLst>
              <a:ext uri="{FF2B5EF4-FFF2-40B4-BE49-F238E27FC236}">
                <a16:creationId xmlns:a16="http://schemas.microsoft.com/office/drawing/2014/main" id="{1D12F612-519E-47A0-82FC-2E26C54A4131}"/>
              </a:ext>
            </a:extLst>
          </p:cNvPr>
          <p:cNvSpPr txBox="1"/>
          <p:nvPr/>
        </p:nvSpPr>
        <p:spPr>
          <a:xfrm>
            <a:off x="889000" y="4241800"/>
            <a:ext cx="4953000" cy="584775"/>
          </a:xfrm>
          <a:prstGeom prst="rect">
            <a:avLst/>
          </a:prstGeom>
          <a:noFill/>
        </p:spPr>
        <p:txBody>
          <a:bodyPr vert="horz" wrap="square" lIns="0" tIns="0" rIns="0" bIns="0" rtlCol="0">
            <a:spAutoFit/>
          </a:bodyPr>
          <a:lstStyle/>
          <a:p>
            <a:r>
              <a:rPr lang="en-US" sz="1900">
                <a:solidFill>
                  <a:srgbClr val="CCDDEC"/>
                </a:solidFill>
                <a:latin typeface="Aptos"/>
              </a:rPr>
              <a:t>Regularly spaced echoes fade over time after the direct sound.</a:t>
            </a:r>
          </a:p>
        </p:txBody>
      </p:sp>
      <p:cxnSp>
        <p:nvCxnSpPr>
          <p:cNvPr id="21" name="Straight Connector 20">
            <a:extLst>
              <a:ext uri="{FF2B5EF4-FFF2-40B4-BE49-F238E27FC236}">
                <a16:creationId xmlns:a16="http://schemas.microsoft.com/office/drawing/2014/main" id="{7ACD2E23-1235-43A2-8417-D596BF44ED2C}"/>
              </a:ext>
            </a:extLst>
          </p:cNvPr>
          <p:cNvCxnSpPr/>
          <p:nvPr/>
        </p:nvCxnSpPr>
        <p:spPr>
          <a:xfrm>
            <a:off x="6248400" y="1676400"/>
            <a:ext cx="0" cy="3797300"/>
          </a:xfrm>
          <a:prstGeom prst="line">
            <a:avLst/>
          </a:prstGeom>
          <a:ln w="19050">
            <a:solidFill>
              <a:srgbClr val="264B63"/>
            </a:solidFill>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1934E858-FFE5-490B-BD09-5E25AF1734CD}"/>
              </a:ext>
            </a:extLst>
          </p:cNvPr>
          <p:cNvSpPr txBox="1"/>
          <p:nvPr/>
        </p:nvSpPr>
        <p:spPr>
          <a:xfrm>
            <a:off x="6743700" y="1600200"/>
            <a:ext cx="4635500" cy="323165"/>
          </a:xfrm>
          <a:prstGeom prst="rect">
            <a:avLst/>
          </a:prstGeom>
          <a:noFill/>
        </p:spPr>
        <p:txBody>
          <a:bodyPr vert="horz" wrap="square" lIns="0" tIns="0" rIns="0" bIns="0" rtlCol="0">
            <a:spAutoFit/>
          </a:bodyPr>
          <a:lstStyle/>
          <a:p>
            <a:r>
              <a:rPr lang="en-US" sz="2100" b="1">
                <a:solidFill>
                  <a:srgbClr val="FF64A5"/>
                </a:solidFill>
                <a:latin typeface="Bahnschrift" panose="020B0502040204020203" pitchFamily="34" charset="0"/>
              </a:rPr>
              <a:t>CONVOLUTION AND MIX</a:t>
            </a:r>
          </a:p>
        </p:txBody>
      </p:sp>
      <p:sp>
        <p:nvSpPr>
          <p:cNvPr id="23" name="TextBox 22">
            <a:extLst>
              <a:ext uri="{FF2B5EF4-FFF2-40B4-BE49-F238E27FC236}">
                <a16:creationId xmlns:a16="http://schemas.microsoft.com/office/drawing/2014/main" id="{24C4347A-92C1-40D8-9E1E-286814B4C39E}"/>
              </a:ext>
            </a:extLst>
          </p:cNvPr>
          <p:cNvSpPr txBox="1"/>
          <p:nvPr/>
        </p:nvSpPr>
        <p:spPr>
          <a:xfrm>
            <a:off x="6743700" y="2336800"/>
            <a:ext cx="4406900" cy="877163"/>
          </a:xfrm>
          <a:prstGeom prst="rect">
            <a:avLst/>
          </a:prstGeom>
          <a:noFill/>
        </p:spPr>
        <p:txBody>
          <a:bodyPr vert="horz" wrap="square" lIns="0" tIns="0" rIns="0" bIns="0" rtlCol="0">
            <a:spAutoFit/>
          </a:bodyPr>
          <a:lstStyle/>
          <a:p>
            <a:r>
              <a:rPr lang="en-US" sz="1900">
                <a:solidFill>
                  <a:srgbClr val="CCDDEC"/>
                </a:solidFill>
                <a:latin typeface="Aptos"/>
              </a:rPr>
              <a:t>The app convolves the clip with this echo pattern to create a reverberant version.</a:t>
            </a:r>
          </a:p>
        </p:txBody>
      </p:sp>
      <p:sp>
        <p:nvSpPr>
          <p:cNvPr id="24" name="TextBox 23">
            <a:extLst>
              <a:ext uri="{FF2B5EF4-FFF2-40B4-BE49-F238E27FC236}">
                <a16:creationId xmlns:a16="http://schemas.microsoft.com/office/drawing/2014/main" id="{2FF0967F-DF02-48C4-980F-CFC628317654}"/>
              </a:ext>
            </a:extLst>
          </p:cNvPr>
          <p:cNvSpPr txBox="1"/>
          <p:nvPr/>
        </p:nvSpPr>
        <p:spPr>
          <a:xfrm>
            <a:off x="6743700" y="4051300"/>
            <a:ext cx="4406900" cy="877163"/>
          </a:xfrm>
          <a:prstGeom prst="rect">
            <a:avLst/>
          </a:prstGeom>
          <a:noFill/>
        </p:spPr>
        <p:txBody>
          <a:bodyPr vert="horz" wrap="square" lIns="0" tIns="0" rIns="0" bIns="0" rtlCol="0">
            <a:spAutoFit/>
          </a:bodyPr>
          <a:lstStyle/>
          <a:p>
            <a:r>
              <a:rPr lang="en-US" sz="1900">
                <a:solidFill>
                  <a:srgbClr val="CCDDEC"/>
                </a:solidFill>
                <a:latin typeface="Aptos"/>
              </a:rPr>
              <a:t>Room mix blends original and processed audio. At 0 the clip is dry; at 1 it is fully processed.</a:t>
            </a:r>
          </a:p>
        </p:txBody>
      </p:sp>
      <p:cxnSp>
        <p:nvCxnSpPr>
          <p:cNvPr id="25" name="Straight Connector 24">
            <a:extLst>
              <a:ext uri="{FF2B5EF4-FFF2-40B4-BE49-F238E27FC236}">
                <a16:creationId xmlns:a16="http://schemas.microsoft.com/office/drawing/2014/main" id="{900A7794-600A-4FEA-BFB7-1D269D18258E}"/>
              </a:ext>
            </a:extLst>
          </p:cNvPr>
          <p:cNvCxnSpPr/>
          <p:nvPr/>
        </p:nvCxnSpPr>
        <p:spPr>
          <a:xfrm>
            <a:off x="889000" y="5740400"/>
            <a:ext cx="10401300" cy="0"/>
          </a:xfrm>
          <a:prstGeom prst="line">
            <a:avLst/>
          </a:prstGeom>
          <a:ln w="15240">
            <a:solidFill>
              <a:srgbClr val="264B63"/>
            </a:solidFill>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7AD53173-4F71-403E-8DF6-45F4DE48BEEF}"/>
              </a:ext>
            </a:extLst>
          </p:cNvPr>
          <p:cNvSpPr txBox="1"/>
          <p:nvPr/>
        </p:nvSpPr>
        <p:spPr>
          <a:xfrm>
            <a:off x="889000" y="5956300"/>
            <a:ext cx="1485900" cy="184666"/>
          </a:xfrm>
          <a:prstGeom prst="rect">
            <a:avLst/>
          </a:prstGeom>
          <a:noFill/>
        </p:spPr>
        <p:txBody>
          <a:bodyPr vert="horz" wrap="square" lIns="0" tIns="0" rIns="0" bIns="0" rtlCol="0">
            <a:spAutoFit/>
          </a:bodyPr>
          <a:lstStyle/>
          <a:p>
            <a:r>
              <a:rPr lang="en-US" sz="1200" b="1">
                <a:solidFill>
                  <a:srgbClr val="FF64A5"/>
                </a:solidFill>
                <a:latin typeface="Bahnschrift" panose="020B0502040204020203" pitchFamily="34" charset="0"/>
              </a:rPr>
              <a:t>TRY IN THE APP</a:t>
            </a:r>
          </a:p>
        </p:txBody>
      </p:sp>
      <p:sp>
        <p:nvSpPr>
          <p:cNvPr id="27" name="TextBox 26">
            <a:extLst>
              <a:ext uri="{FF2B5EF4-FFF2-40B4-BE49-F238E27FC236}">
                <a16:creationId xmlns:a16="http://schemas.microsoft.com/office/drawing/2014/main" id="{D7AAFEA8-F649-4622-8427-0452BD0A2724}"/>
              </a:ext>
            </a:extLst>
          </p:cNvPr>
          <p:cNvSpPr txBox="1"/>
          <p:nvPr/>
        </p:nvSpPr>
        <p:spPr>
          <a:xfrm>
            <a:off x="2425700" y="5918200"/>
            <a:ext cx="8382000" cy="246221"/>
          </a:xfrm>
          <a:prstGeom prst="rect">
            <a:avLst/>
          </a:prstGeom>
          <a:noFill/>
        </p:spPr>
        <p:txBody>
          <a:bodyPr vert="horz" wrap="square" lIns="0" tIns="0" rIns="0" bIns="0" rtlCol="0">
            <a:spAutoFit/>
          </a:bodyPr>
          <a:lstStyle/>
          <a:p>
            <a:r>
              <a:rPr lang="en-US" sz="1600">
                <a:solidFill>
                  <a:srgbClr val="EEF6FF"/>
                </a:solidFill>
                <a:latin typeface="Aptos"/>
              </a:rPr>
              <a:t>Rooms &amp; effects  →  room  →  mix  →  compare</a:t>
            </a:r>
          </a:p>
        </p:txBody>
      </p:sp>
      <p:sp>
        <p:nvSpPr>
          <p:cNvPr id="28" name="Rectangle 27">
            <a:extLst>
              <a:ext uri="{FF2B5EF4-FFF2-40B4-BE49-F238E27FC236}">
                <a16:creationId xmlns:a16="http://schemas.microsoft.com/office/drawing/2014/main" id="{9915094C-A7CD-4761-B6F0-A5424AFA6E3F}"/>
              </a:ext>
            </a:extLst>
          </p:cNvPr>
          <p:cNvSpPr/>
          <p:nvPr/>
        </p:nvSpPr>
        <p:spPr>
          <a:xfrm>
            <a:off x="533400" y="381000"/>
            <a:ext cx="50800" cy="495300"/>
          </a:xfrm>
          <a:prstGeom prst="rect">
            <a:avLst/>
          </a:prstGeom>
          <a:solidFill>
            <a:srgbClr val="37D9E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E7953D0B-72BB-404C-A0A7-8DA5DC024D9E}"/>
              </a:ext>
            </a:extLst>
          </p:cNvPr>
          <p:cNvSpPr txBox="1"/>
          <p:nvPr/>
        </p:nvSpPr>
        <p:spPr>
          <a:xfrm>
            <a:off x="9779000" y="927100"/>
            <a:ext cx="1676400" cy="138499"/>
          </a:xfrm>
          <a:prstGeom prst="rect">
            <a:avLst/>
          </a:prstGeom>
          <a:noFill/>
        </p:spPr>
        <p:txBody>
          <a:bodyPr vert="horz" wrap="square" lIns="0" tIns="0" rIns="0" bIns="0" rtlCol="0">
            <a:spAutoFit/>
          </a:bodyPr>
          <a:lstStyle/>
          <a:p>
            <a:pPr algn="r"/>
            <a:r>
              <a:rPr lang="en-US" sz="900">
                <a:solidFill>
                  <a:srgbClr val="85A0B8"/>
                </a:solidFill>
                <a:latin typeface="Bahnschrift" panose="020B0502040204020203" pitchFamily="34" charset="0"/>
              </a:rPr>
              <a:t>ANALYSIS  /  20</a:t>
            </a:r>
          </a:p>
        </p:txBody>
      </p:sp>
    </p:spTree>
    <p:extLst>
      <p:ext uri="{BB962C8B-B14F-4D97-AF65-F5344CB8AC3E}">
        <p14:creationId xmlns:p14="http://schemas.microsoft.com/office/powerpoint/2010/main" val="2554217203" id="{28FEB20B-9068-48EE-95E3-85FF2DBDE9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2101</Words>
  <Application>Microsoft Office PowerPoint</Application>
  <PresentationFormat>Widescreen</PresentationFormat>
  <Paragraphs>194</Paragraphs>
  <Slides>21</Slides>
  <Notes>16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Aptos</vt:lpstr>
      <vt:lpstr>Arial</vt:lpstr>
      <vt:lpstr>Bahnschrift</vt:lpstr>
      <vt:lpstr>Calibri</vt:lpstr>
      <vt:lpstr>Calibri Light</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Rakib Hassan</dc:creator>
  <cp:lastModifiedBy>Rakib Hassan</cp:lastModifiedBy>
  <cp:revision>3</cp:revision>
  <dcterms:created xsi:type="dcterms:W3CDTF">2026-09-25T16:02:10Z</dcterms:created>
  <dcterms:modified xsi:type="dcterms:W3CDTF">2026-09-25T17:07:26Z</dcterms:modified>
</cp:coreProperties>
</file>