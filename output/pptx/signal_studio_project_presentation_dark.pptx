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DB407-894A-4CD0-AD45-6C68018E116E}"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9E236-B6B3-4712-A06A-994BBBF0D2D2}" type="slidenum">
              <a:rPr lang="en-US" smtClean="0"/>
              <a:t>‹#›</a:t>
            </a:fld>
            <a:endParaRPr lang="en-US"/>
          </a:p>
        </p:txBody>
      </p:sp>
    </p:spTree>
    <p:extLst>
      <p:ext uri="{BB962C8B-B14F-4D97-AF65-F5344CB8AC3E}">
        <p14:creationId xmlns:p14="http://schemas.microsoft.com/office/powerpoint/2010/main" val="19906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as an educational signal-processing application. The examples in this deck come from the supplied MP3 and data/training/training-a/a0001.wav. The song plots use the 50–60 second excerpt.</a:t>
            </a:r>
          </a:p>
        </p:txBody>
      </p:sp>
      <p:sp>
        <p:nvSpPr>
          <p:cNvPr id="4" name="Slide Number Placeholder 3"/>
          <p:cNvSpPr>
            <a:spLocks noGrp="1"/>
          </p:cNvSpPr>
          <p:nvPr>
            <p:ph type="sldNum" sz="quarter" idx="5"/>
          </p:nvPr>
        </p:nvSpPr>
        <p:spPr/>
        <p:txBody>
          <a:bodyPr/>
          <a:lstStyle/>
          <a:p>
            <a:fld id="{7C89E236-B6B3-4712-A06A-994BBBF0D2D2}" type="slidenum">
              <a:rPr lang="en-US" smtClean="0"/>
              <a:t>1</a:t>
            </a:fld>
            <a:endParaRPr lang="en-US"/>
          </a:p>
        </p:txBody>
      </p:sp>
    </p:spTree>
    <p:extLst>
      <p:ext uri="{BB962C8B-B14F-4D97-AF65-F5344CB8AC3E}">
        <p14:creationId xmlns:p14="http://schemas.microsoft.com/office/powerpoint/2010/main" val="2807945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a0001.wav, mono, 2,000 Hz, duration 35.666 seconds. dashboard.py uses np.arange(len(signal))/sample_rate for the waveform time axis. Clarify that the dots are a display subset; the underlying recording has 2,000 samples per second.</a:t>
            </a:r>
          </a:p>
        </p:txBody>
      </p:sp>
      <p:sp>
        <p:nvSpPr>
          <p:cNvPr id="4" name="Slide Number Placeholder 3"/>
          <p:cNvSpPr>
            <a:spLocks noGrp="1"/>
          </p:cNvSpPr>
          <p:nvPr>
            <p:ph type="sldNum" sz="quarter" idx="5"/>
          </p:nvPr>
        </p:nvSpPr>
        <p:spPr/>
        <p:txBody>
          <a:bodyPr/>
          <a:lstStyle/>
          <a:p>
            <a:fld id="{7C89E236-B6B3-4712-A06A-994BBBF0D2D2}" type="slidenum">
              <a:rPr lang="en-US" smtClean="0"/>
              <a:t>2</a:t>
            </a:fld>
            <a:endParaRPr lang="en-US"/>
          </a:p>
        </p:txBody>
      </p:sp>
    </p:spTree>
    <p:extLst>
      <p:ext uri="{BB962C8B-B14F-4D97-AF65-F5344CB8AC3E}">
        <p14:creationId xmlns:p14="http://schemas.microsoft.com/office/powerpoint/2010/main" val="3048254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workspace names come from dashboard.py. The Audio analyzer also contains filtering, denoising, room simulation, a spectrogram painter and comparison. The slide groups functions for orientation rather than showing every control.</a:t>
            </a:r>
          </a:p>
        </p:txBody>
      </p:sp>
      <p:sp>
        <p:nvSpPr>
          <p:cNvPr id="4" name="Slide Number Placeholder 3"/>
          <p:cNvSpPr>
            <a:spLocks noGrp="1"/>
          </p:cNvSpPr>
          <p:nvPr>
            <p:ph type="sldNum" sz="quarter" idx="5"/>
          </p:nvPr>
        </p:nvSpPr>
        <p:spPr/>
        <p:txBody>
          <a:bodyPr/>
          <a:lstStyle/>
          <a:p>
            <a:fld id="{7C89E236-B6B3-4712-A06A-994BBBF0D2D2}" type="slidenum">
              <a:rPr lang="en-US" smtClean="0"/>
              <a:t>3</a:t>
            </a:fld>
            <a:endParaRPr lang="en-US"/>
          </a:p>
        </p:txBody>
      </p:sp>
    </p:spTree>
    <p:extLst>
      <p:ext uri="{BB962C8B-B14F-4D97-AF65-F5344CB8AC3E}">
        <p14:creationId xmlns:p14="http://schemas.microsoft.com/office/powerpoint/2010/main" val="2095892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uses a0001.wav, 2,000 Hz. For the slide preview, a zero-phase 20–150 Hz bandpass and a smoothed rectified envelope were computed in JavaScript; the app performs its own SciPy Butterworth and filtfilt operations. Code: models/transforms.py design_digital_filter, models/filters.py apply_bandpass_filter, models/peak_detection.py get_envelope and detect_peaks. Explain that the envelope merges many waveform oscillations into a sound event.</a:t>
            </a:r>
          </a:p>
        </p:txBody>
      </p:sp>
      <p:sp>
        <p:nvSpPr>
          <p:cNvPr id="4" name="Slide Number Placeholder 3"/>
          <p:cNvSpPr>
            <a:spLocks noGrp="1"/>
          </p:cNvSpPr>
          <p:nvPr>
            <p:ph type="sldNum" sz="quarter" idx="5"/>
          </p:nvPr>
        </p:nvSpPr>
        <p:spPr/>
        <p:txBody>
          <a:bodyPr/>
          <a:lstStyle/>
          <a:p>
            <a:fld id="{7C89E236-B6B3-4712-A06A-994BBBF0D2D2}" type="slidenum">
              <a:rPr lang="en-US" smtClean="0"/>
              <a:t>4</a:t>
            </a:fld>
            <a:endParaRPr lang="en-US"/>
          </a:p>
        </p:txBody>
      </p:sp>
    </p:spTree>
    <p:extLst>
      <p:ext uri="{BB962C8B-B14F-4D97-AF65-F5344CB8AC3E}">
        <p14:creationId xmlns:p14="http://schemas.microsoft.com/office/powerpoint/2010/main" val="447284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displayed preview identifies alternating bursts around 0.41, 0.78, 1.40 and 1.77 seconds. A full S1–S2–S1 cycle gives one beat. models/peak_detection.py classify_s1_s2 uses plausible short and long gap rules. calculate_heart_rate uses the median complete S1-to-S1 interval. These labels and BPM are educational estimates, not medical diagnoses.</a:t>
            </a:r>
          </a:p>
        </p:txBody>
      </p:sp>
      <p:sp>
        <p:nvSpPr>
          <p:cNvPr id="4" name="Slide Number Placeholder 3"/>
          <p:cNvSpPr>
            <a:spLocks noGrp="1"/>
          </p:cNvSpPr>
          <p:nvPr>
            <p:ph type="sldNum" sz="quarter" idx="5"/>
          </p:nvPr>
        </p:nvSpPr>
        <p:spPr/>
        <p:txBody>
          <a:bodyPr/>
          <a:lstStyle/>
          <a:p>
            <a:fld id="{7C89E236-B6B3-4712-A06A-994BBBF0D2D2}" type="slidenum">
              <a:rPr lang="en-US" smtClean="0"/>
              <a:t>5</a:t>
            </a:fld>
            <a:endParaRPr lang="en-US"/>
          </a:p>
        </p:txBody>
      </p:sp>
    </p:spTree>
    <p:extLst>
      <p:ext uri="{BB962C8B-B14F-4D97-AF65-F5344CB8AC3E}">
        <p14:creationId xmlns:p14="http://schemas.microsoft.com/office/powerpoint/2010/main" val="3440759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supplied Avicii Wake Me Up MP3. Chrome decoded the file at 48,000 Hz, stereo, duration about 272.46 seconds. These graphs use channel 1 from seconds 50–60. Waveform shows amplitude vs time; RMS uses short blocks for level; the spectrum averages 32 FFT windows across the excerpt; the spectrogram shows frequency changing over time. The plotted preview is separate from the app output but illustrates the same signal properties. audio_processing.py has RMS, Welch spectrum and STFT functions.</a:t>
            </a:r>
          </a:p>
        </p:txBody>
      </p:sp>
      <p:sp>
        <p:nvSpPr>
          <p:cNvPr id="4" name="Slide Number Placeholder 3"/>
          <p:cNvSpPr>
            <a:spLocks noGrp="1"/>
          </p:cNvSpPr>
          <p:nvPr>
            <p:ph type="sldNum" sz="quarter" idx="5"/>
          </p:nvPr>
        </p:nvSpPr>
        <p:spPr/>
        <p:txBody>
          <a:bodyPr/>
          <a:lstStyle/>
          <a:p>
            <a:fld id="{7C89E236-B6B3-4712-A06A-994BBBF0D2D2}" type="slidenum">
              <a:rPr lang="en-US" smtClean="0"/>
              <a:t>6</a:t>
            </a:fld>
            <a:endParaRPr lang="en-US"/>
          </a:p>
        </p:txBody>
      </p:sp>
    </p:spTree>
    <p:extLst>
      <p:ext uri="{BB962C8B-B14F-4D97-AF65-F5344CB8AC3E}">
        <p14:creationId xmlns:p14="http://schemas.microsoft.com/office/powerpoint/2010/main" val="591448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plot uses the song excerpt. The gray spectrum is measured from a window in the supplied MP3; the teal curve is a theoretical fourth-order Butterworth low-pass response applied to that spectrum. It is an illustration, not a processed export from the app. audio_processing.py frequency_filter validates cutoffs against Nyquist, designs SOS sections and applies sosfiltfilt. Mention that cutoff is gradual rather than a hard boundary.</a:t>
            </a:r>
          </a:p>
        </p:txBody>
      </p:sp>
      <p:sp>
        <p:nvSpPr>
          <p:cNvPr id="4" name="Slide Number Placeholder 3"/>
          <p:cNvSpPr>
            <a:spLocks noGrp="1"/>
          </p:cNvSpPr>
          <p:nvPr>
            <p:ph type="sldNum" sz="quarter" idx="5"/>
          </p:nvPr>
        </p:nvSpPr>
        <p:spPr/>
        <p:txBody>
          <a:bodyPr/>
          <a:lstStyle/>
          <a:p>
            <a:fld id="{7C89E236-B6B3-4712-A06A-994BBBF0D2D2}" type="slidenum">
              <a:rPr lang="en-US" smtClean="0"/>
              <a:t>7</a:t>
            </a:fld>
            <a:endParaRPr lang="en-US"/>
          </a:p>
        </p:txBody>
      </p:sp>
    </p:spTree>
    <p:extLst>
      <p:ext uri="{BB962C8B-B14F-4D97-AF65-F5344CB8AC3E}">
        <p14:creationId xmlns:p14="http://schemas.microsoft.com/office/powerpoint/2010/main" val="4135198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effects implements one shifted copy for Delay and four decaying copies for Echo. The illustrated 0.3-second spacing is an example. At 44.1 kHz, 0.3 seconds is 13,230 samples. Tremolo multiplies by a sinusoidal gain. Distortion applies tanh, a nonlinear operation. Room simulation elsewhere uses convolution with synthetic impulse responses.</a:t>
            </a:r>
          </a:p>
        </p:txBody>
      </p:sp>
      <p:sp>
        <p:nvSpPr>
          <p:cNvPr id="4" name="Slide Number Placeholder 3"/>
          <p:cNvSpPr>
            <a:spLocks noGrp="1"/>
          </p:cNvSpPr>
          <p:nvPr>
            <p:ph type="sldNum" sz="quarter" idx="5"/>
          </p:nvPr>
        </p:nvSpPr>
        <p:spPr/>
        <p:txBody>
          <a:bodyPr/>
          <a:lstStyle/>
          <a:p>
            <a:fld id="{7C89E236-B6B3-4712-A06A-994BBBF0D2D2}" type="slidenum">
              <a:rPr lang="en-US" smtClean="0"/>
              <a:t>8</a:t>
            </a:fld>
            <a:endParaRPr lang="en-US"/>
          </a:p>
        </p:txBody>
      </p:sp>
    </p:spTree>
    <p:extLst>
      <p:ext uri="{BB962C8B-B14F-4D97-AF65-F5344CB8AC3E}">
        <p14:creationId xmlns:p14="http://schemas.microsoft.com/office/powerpoint/2010/main" val="2073166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onset chart uses the 50–60 second excerpt of the user-supplied song. Candidate markers are from an illustrative spectral-flux calculation and should not be presented as the exact app output or a tempo grid. audio_processing.py detect_beats sums only positive changes in STFT magnitude and peak-picks. detect_pitch uses autocorrelation in a short frame; a polyphonic song can cause octave errors or no reliable result.</a:t>
            </a:r>
          </a:p>
        </p:txBody>
      </p:sp>
      <p:sp>
        <p:nvSpPr>
          <p:cNvPr id="4" name="Slide Number Placeholder 3"/>
          <p:cNvSpPr>
            <a:spLocks noGrp="1"/>
          </p:cNvSpPr>
          <p:nvPr>
            <p:ph type="sldNum" sz="quarter" idx="5"/>
          </p:nvPr>
        </p:nvSpPr>
        <p:spPr/>
        <p:txBody>
          <a:bodyPr/>
          <a:lstStyle/>
          <a:p>
            <a:fld id="{7C89E236-B6B3-4712-A06A-994BBBF0D2D2}" type="slidenum">
              <a:rPr lang="en-US" smtClean="0"/>
              <a:t>9</a:t>
            </a:fld>
            <a:endParaRPr lang="en-US"/>
          </a:p>
        </p:txBody>
      </p:sp>
    </p:spTree>
    <p:extLst>
      <p:ext uri="{BB962C8B-B14F-4D97-AF65-F5344CB8AC3E}">
        <p14:creationId xmlns:p14="http://schemas.microsoft.com/office/powerpoint/2010/main" val="2790349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aligns clips using envelopes and normalized correlation, then computes waveform correlation, RMS difference and level difference on the overlap. models/echo_detector.py uses FFT autocorrelation to find a delayed self-match and checks whether the delay repeats across windows. A repeating rhythm can create a false echo candidate.</a:t>
            </a:r>
          </a:p>
        </p:txBody>
      </p:sp>
      <p:sp>
        <p:nvSpPr>
          <p:cNvPr id="4" name="Slide Number Placeholder 3"/>
          <p:cNvSpPr>
            <a:spLocks noGrp="1"/>
          </p:cNvSpPr>
          <p:nvPr>
            <p:ph type="sldNum" sz="quarter" idx="5"/>
          </p:nvPr>
        </p:nvSpPr>
        <p:spPr/>
        <p:txBody>
          <a:bodyPr/>
          <a:lstStyle/>
          <a:p>
            <a:fld id="{7C89E236-B6B3-4712-A06A-994BBBF0D2D2}" type="slidenum">
              <a:rPr lang="en-US" smtClean="0"/>
              <a:t>10</a:t>
            </a:fld>
            <a:endParaRPr lang="en-US"/>
          </a:p>
        </p:txBody>
      </p:sp>
    </p:spTree>
    <p:extLst>
      <p:ext uri="{BB962C8B-B14F-4D97-AF65-F5344CB8AC3E}">
        <p14:creationId xmlns:p14="http://schemas.microsoft.com/office/powerpoint/2010/main" val="2751425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models/audio_crypto.py encrypt_audio_file_bytes stores original file bytes and filename, derives a key with PBKDF2 and uses AES-GCM; WAV is a reversible int16 container and may sound like noise. models/steganography.py stores repeated UTF-8 bits in quantized FFT magnitude parity while preserving phase. This hides text in playable sound but provides no secrecy. They are distinct features and should not be described as the same process.</a:t>
            </a:r>
          </a:p>
        </p:txBody>
      </p:sp>
      <p:sp>
        <p:nvSpPr>
          <p:cNvPr id="4" name="Slide Number Placeholder 3"/>
          <p:cNvSpPr>
            <a:spLocks noGrp="1"/>
          </p:cNvSpPr>
          <p:nvPr>
            <p:ph type="sldNum" sz="quarter" idx="5"/>
          </p:nvPr>
        </p:nvSpPr>
        <p:spPr/>
        <p:txBody>
          <a:bodyPr/>
          <a:lstStyle/>
          <a:p>
            <a:fld id="{7C89E236-B6B3-4712-A06A-994BBBF0D2D2}" type="slidenum">
              <a:rPr lang="en-US" smtClean="0"/>
              <a:t>11</a:t>
            </a:fld>
            <a:endParaRPr lang="en-US"/>
          </a:p>
        </p:txBody>
      </p:sp>
    </p:spTree>
    <p:extLst>
      <p:ext uri="{BB962C8B-B14F-4D97-AF65-F5344CB8AC3E}">
        <p14:creationId xmlns:p14="http://schemas.microsoft.com/office/powerpoint/2010/main" val="2998914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two source recordings and a short live demonstration. The heart results are not a diagnosis. Beat onset candidates are not a guaranteed tempo grid. Echo autocorrelation measures delayed similarity rather than proving an acoustic reflection. MP3 audio was analyzed from a decoded channel; the original MP3 is not embedded in the deck.</a:t>
            </a:r>
          </a:p>
        </p:txBody>
      </p:sp>
      <p:sp>
        <p:nvSpPr>
          <p:cNvPr id="4" name="Slide Number Placeholder 3"/>
          <p:cNvSpPr>
            <a:spLocks noGrp="1"/>
          </p:cNvSpPr>
          <p:nvPr>
            <p:ph type="sldNum" sz="quarter" idx="5"/>
          </p:nvPr>
        </p:nvSpPr>
        <p:spPr/>
        <p:txBody>
          <a:bodyPr/>
          <a:lstStyle/>
          <a:p>
            <a:fld id="{7C89E236-B6B3-4712-A06A-994BBBF0D2D2}" type="slidenum">
              <a:rPr lang="en-US" smtClean="0"/>
              <a:t>12</a:t>
            </a:fld>
            <a:endParaRPr lang="en-US"/>
          </a:p>
        </p:txBody>
      </p:sp>
    </p:spTree>
    <p:extLst>
      <p:ext uri="{BB962C8B-B14F-4D97-AF65-F5344CB8AC3E}">
        <p14:creationId xmlns:p14="http://schemas.microsoft.com/office/powerpoint/2010/main" val="729151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63A5-47EE-4BA1-89EB-A1AA2AC95F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30C466-BC78-4182-89E8-FF848F0B3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550434-AE1A-4D42-A450-8D3F383A2E13}"/>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84A91543-41AA-4D5C-B022-1ADF3AE02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4FAB-C8CE-4746-81D9-F8997DA7496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51578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07EA-7792-45BE-9262-B90DA4323F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D6358-B746-48E8-B6AA-4D1DABA59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BF2D9-582B-48D8-A3C2-061F4E3B406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E591D28-CD90-4351-AD3C-EDE62E828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F0FAC-A10F-4829-A9C1-BD0F56973BAF}"/>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717320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34E9-8B49-48B3-94CB-E1D631A45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E7B3AB-EA8D-4367-A210-56C11FA321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9240CD-364F-4F2D-8001-BE523C5211F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4032327B-E2A7-456C-A538-0C7CB87BD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D2385-EB65-41FD-8E54-C913497E95F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43005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210E-5324-458E-8ABC-05EA253ACA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1BB34D-86BC-40D2-A2F8-5DA635B1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60174-AFF4-465D-B08A-C5D95549BE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0EDAEB-C9D2-4DAE-BECE-EA8341575AB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AE8B38C4-F89C-4EA3-97ED-6AFF8E94F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6F82A-7508-41DD-9F0A-5B796B8A38ED}"/>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4179402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FFDF1-6684-48DD-8185-EAD833DE7C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DF2908-D62B-4B5A-A275-94F0BA3F1B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5F15DA-8358-4906-9C8C-154DA3DE1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39939-A8B7-440D-96C1-741769242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CD921-32D5-414B-A60A-D8B511DC7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CACA73-A5ED-4CD5-952B-0DFE350DFED0}"/>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8" name="Footer Placeholder 7">
            <a:extLst>
              <a:ext uri="{FF2B5EF4-FFF2-40B4-BE49-F238E27FC236}">
                <a16:creationId xmlns:a16="http://schemas.microsoft.com/office/drawing/2014/main" id="{0F27C01D-CBB5-4C5A-B196-379C35F28F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C10FF-62C1-4ED3-8C3E-8D05BE812511}"/>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66185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6CD1-4D68-43A6-B0DE-5E06577084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5F4498-F368-46D1-A487-DA183EF29A7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4" name="Footer Placeholder 3">
            <a:extLst>
              <a:ext uri="{FF2B5EF4-FFF2-40B4-BE49-F238E27FC236}">
                <a16:creationId xmlns:a16="http://schemas.microsoft.com/office/drawing/2014/main" id="{E98F7157-A9C8-49F1-994E-37FC2FD3A8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93A895-BB1B-40CE-9E47-FDA8B1F60755}"/>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21906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CD51D-8360-44DD-849A-BF22F030041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3" name="Footer Placeholder 2">
            <a:extLst>
              <a:ext uri="{FF2B5EF4-FFF2-40B4-BE49-F238E27FC236}">
                <a16:creationId xmlns:a16="http://schemas.microsoft.com/office/drawing/2014/main" id="{F56D1D16-F6F1-43A4-A450-BF19EBE69D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C2998-6015-4C96-9FC8-871F694CFFB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616416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0FF1-56EC-4AEE-A0A5-C7C303E18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B5407F-51DA-4822-9AC5-6FD5BD7833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0A4FD-52E4-484F-B06B-3039438017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99E0D-AB38-49DA-9C94-E70296C4D3D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D5A984ED-55FB-4E67-B2F1-F6AA6716D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A687C-68D4-46F4-9A2D-668B3C11249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732514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1E1B-AA8C-4A1E-8E83-9233C2CF8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257863-789F-483B-A6B3-D94B5A4FA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F865C3-2C4B-40BD-BE9D-BD936E5B8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54BBC-18E2-496A-A405-2AB23DB949C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C200F5C7-3461-46D2-8A8C-CFB273445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C1FEE0-8E75-4C1D-9854-A5D6E401A0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122188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2AF4-CC73-4F4F-9A82-5E060B2B8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CB2E42-8EEB-4903-B0B9-F0C8C5ADF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D5B17-4F46-41B1-9120-BF5E2024B47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1F78828A-7B10-4271-B127-31DF5AD44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411BA-8F60-4D32-AD6A-6B63247D0BE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280716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48C78-420E-41AE-AC2A-ADC386C1F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810477-AE54-4533-B031-F4A8346CBD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7EDF7-CEBC-4E56-8A07-49C7280A208E}"/>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C3AC67F-AAEA-4469-A950-7C37699623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24E1-5BBF-42B0-B3FF-E02ED3A70A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35616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4A16D-DA33-48AB-9623-1491F1323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889257-3E79-45A5-BBB8-13D686853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5D5C8-FD22-4E39-AF4E-F4299B452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FD495810-8117-4012-978A-F19C78BE6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17146B-3A3F-4166-8FE4-C4416F7A5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C1287-7990-4D28-B71C-4E4ACC27B277}" type="slidenum">
              <a:rPr lang="en-US" smtClean="0"/>
              <a:t>‹#›</a:t>
            </a:fld>
            <a:endParaRPr lang="en-US"/>
          </a:p>
        </p:txBody>
      </p:sp>
    </p:spTree>
    <p:extLst>
      <p:ext uri="{BB962C8B-B14F-4D97-AF65-F5344CB8AC3E}">
        <p14:creationId xmlns:p14="http://schemas.microsoft.com/office/powerpoint/2010/main" val="178695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D19886-B0A8-47DC-9A1D-1A934F61CB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9AEBAC7E-2364-46BC-AB17-86189AB66E9E}"/>
              </a:ext>
            </a:extLst>
          </p:cNvPr>
          <p:cNvSpPr txBox="1"/>
          <p:nvPr/>
        </p:nvSpPr>
        <p:spPr>
          <a:xfrm>
            <a:off x="825500" y="762000"/>
            <a:ext cx="9906000" cy="276999"/>
          </a:xfrm>
          <a:prstGeom prst="rect">
            <a:avLst/>
          </a:prstGeom>
          <a:noFill/>
        </p:spPr>
        <p:txBody>
          <a:bodyPr vert="horz" wrap="square" lIns="0" tIns="0" rIns="0" bIns="0" rtlCol="0">
            <a:spAutoFit/>
          </a:bodyPr>
          <a:lstStyle/>
          <a:p>
            <a:r>
              <a:rPr lang="en-US" b="1">
                <a:solidFill>
                  <a:srgbClr val="37D9E9"/>
                </a:solidFill>
                <a:latin typeface="Bahnschrift" panose="020B0502040204020203" pitchFamily="34" charset="0"/>
              </a:rPr>
              <a:t>SIGNAL STUDIO</a:t>
            </a:r>
          </a:p>
        </p:txBody>
      </p:sp>
      <p:sp>
        <p:nvSpPr>
          <p:cNvPr id="4" name="TextBox 3">
            <a:extLst>
              <a:ext uri="{FF2B5EF4-FFF2-40B4-BE49-F238E27FC236}">
                <a16:creationId xmlns:a16="http://schemas.microsoft.com/office/drawing/2014/main" id="{2263F133-9452-4BFB-8CD9-508017AC220F}"/>
              </a:ext>
            </a:extLst>
          </p:cNvPr>
          <p:cNvSpPr txBox="1"/>
          <p:nvPr/>
        </p:nvSpPr>
        <p:spPr>
          <a:xfrm>
            <a:off x="825500" y="1739900"/>
            <a:ext cx="10604500" cy="1415772"/>
          </a:xfrm>
          <a:prstGeom prst="rect">
            <a:avLst/>
          </a:prstGeom>
          <a:noFill/>
        </p:spPr>
        <p:txBody>
          <a:bodyPr vert="horz" wrap="square" lIns="0" tIns="0" rIns="0" bIns="0" rtlCol="0">
            <a:spAutoFit/>
          </a:bodyPr>
          <a:lstStyle/>
          <a:p>
            <a:r>
              <a:rPr lang="en-US" sz="4600" b="1">
                <a:solidFill>
                  <a:srgbClr val="EEF6FF"/>
                </a:solidFill>
                <a:latin typeface="Aptos"/>
              </a:rPr>
              <a:t>Understanding sound through signal properties</a:t>
            </a:r>
          </a:p>
        </p:txBody>
      </p:sp>
      <p:sp>
        <p:nvSpPr>
          <p:cNvPr id="5" name="TextBox 4">
            <a:extLst>
              <a:ext uri="{FF2B5EF4-FFF2-40B4-BE49-F238E27FC236}">
                <a16:creationId xmlns:a16="http://schemas.microsoft.com/office/drawing/2014/main" id="{09C8FB2D-5033-46B2-9530-198C40352426}"/>
              </a:ext>
            </a:extLst>
          </p:cNvPr>
          <p:cNvSpPr txBox="1"/>
          <p:nvPr/>
        </p:nvSpPr>
        <p:spPr>
          <a:xfrm>
            <a:off x="863600" y="4127500"/>
            <a:ext cx="10033000" cy="384721"/>
          </a:xfrm>
          <a:prstGeom prst="rect">
            <a:avLst/>
          </a:prstGeom>
          <a:noFill/>
        </p:spPr>
        <p:txBody>
          <a:bodyPr vert="horz" wrap="square" lIns="0" tIns="0" rIns="0" bIns="0" rtlCol="0">
            <a:spAutoFit/>
          </a:bodyPr>
          <a:lstStyle/>
          <a:p>
            <a:r>
              <a:rPr lang="en-US" sz="2500">
                <a:solidFill>
                  <a:srgbClr val="EEF6FF"/>
                </a:solidFill>
                <a:latin typeface="Aptos"/>
              </a:rPr>
              <a:t>A tour of the heart sound and audio analysis project</a:t>
            </a:r>
          </a:p>
        </p:txBody>
      </p:sp>
      <p:cxnSp>
        <p:nvCxnSpPr>
          <p:cNvPr id="6" name="Straight Connector 5">
            <a:extLst>
              <a:ext uri="{FF2B5EF4-FFF2-40B4-BE49-F238E27FC236}">
                <a16:creationId xmlns:a16="http://schemas.microsoft.com/office/drawing/2014/main" id="{CDD27BD1-76DD-4C43-B357-367A283F06E0}"/>
              </a:ext>
            </a:extLst>
          </p:cNvPr>
          <p:cNvCxnSpPr/>
          <p:nvPr/>
        </p:nvCxnSpPr>
        <p:spPr>
          <a:xfrm>
            <a:off x="863600" y="5397500"/>
            <a:ext cx="3454400" cy="0"/>
          </a:xfrm>
          <a:prstGeom prst="line">
            <a:avLst/>
          </a:prstGeom>
          <a:ln w="63500">
            <a:solidFill>
              <a:srgbClr val="FF64A5"/>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AF98A0-2922-4AFC-BF00-16A69137E03C}"/>
              </a:ext>
            </a:extLst>
          </p:cNvPr>
          <p:cNvSpPr txBox="1"/>
          <p:nvPr/>
        </p:nvSpPr>
        <p:spPr>
          <a:xfrm>
            <a:off x="863600" y="5740400"/>
            <a:ext cx="10414000" cy="261610"/>
          </a:xfrm>
          <a:prstGeom prst="rect">
            <a:avLst/>
          </a:prstGeom>
          <a:noFill/>
        </p:spPr>
        <p:txBody>
          <a:bodyPr vert="horz" wrap="square" lIns="0" tIns="0" rIns="0" bIns="0" rtlCol="0">
            <a:spAutoFit/>
          </a:bodyPr>
          <a:lstStyle/>
          <a:p>
            <a:r>
              <a:rPr lang="en-US" sz="1700">
                <a:solidFill>
                  <a:srgbClr val="EEF6FF"/>
                </a:solidFill>
                <a:latin typeface="Aptos"/>
              </a:rPr>
              <a:t>Examples: training-a/a0001.wav and Wake Me Up.mp3</a:t>
            </a:r>
          </a:p>
        </p:txBody>
      </p:sp>
    </p:spTree>
    <p:extLst>
      <p:ext uri="{BB962C8B-B14F-4D97-AF65-F5344CB8AC3E}">
        <p14:creationId xmlns:p14="http://schemas.microsoft.com/office/powerpoint/2010/main" val="1289766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2A92CD-641E-41F5-A55D-7BB215F8A905}"/>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0C3773-D41C-42AA-AB19-E270D2E24EFB}"/>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Samples turn sound into numbers</a:t>
            </a:r>
          </a:p>
        </p:txBody>
      </p:sp>
      <p:cxnSp>
        <p:nvCxnSpPr>
          <p:cNvPr id="4" name="Straight Connector 3">
            <a:extLst>
              <a:ext uri="{FF2B5EF4-FFF2-40B4-BE49-F238E27FC236}">
                <a16:creationId xmlns:a16="http://schemas.microsoft.com/office/drawing/2014/main" id="{AB7DBF21-7E87-4377-8294-0A78CC033AA7}"/>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65D047D-FD6B-4C54-942B-4A709FB0B4B7}"/>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6DA16B2-2D20-4B30-8400-9E1965B5464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2</a:t>
            </a:r>
          </a:p>
        </p:txBody>
      </p:sp>
      <p:sp>
        <p:nvSpPr>
          <p:cNvPr id="7" name="TextBox 6">
            <a:extLst>
              <a:ext uri="{FF2B5EF4-FFF2-40B4-BE49-F238E27FC236}">
                <a16:creationId xmlns:a16="http://schemas.microsoft.com/office/drawing/2014/main" id="{8DE02937-4E6C-41ED-B34A-44DD8BD1B16F}"/>
              </a:ext>
            </a:extLst>
          </p:cNvPr>
          <p:cNvSpPr txBox="1"/>
          <p:nvPr/>
        </p:nvSpPr>
        <p:spPr>
          <a:xfrm>
            <a:off x="711200" y="1600200"/>
            <a:ext cx="4000500" cy="738664"/>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The sample rate gives every value a time.</a:t>
            </a:r>
          </a:p>
        </p:txBody>
      </p:sp>
      <p:sp>
        <p:nvSpPr>
          <p:cNvPr id="8" name="TextBox 7">
            <a:extLst>
              <a:ext uri="{FF2B5EF4-FFF2-40B4-BE49-F238E27FC236}">
                <a16:creationId xmlns:a16="http://schemas.microsoft.com/office/drawing/2014/main" id="{C1B6566C-45DC-494D-9DE8-1FB34E1336B6}"/>
              </a:ext>
            </a:extLst>
          </p:cNvPr>
          <p:cNvSpPr txBox="1"/>
          <p:nvPr/>
        </p:nvSpPr>
        <p:spPr>
          <a:xfrm>
            <a:off x="711200" y="2590800"/>
            <a:ext cx="4064000" cy="615553"/>
          </a:xfrm>
          <a:prstGeom prst="rect">
            <a:avLst/>
          </a:prstGeom>
          <a:noFill/>
        </p:spPr>
        <p:txBody>
          <a:bodyPr vert="horz" wrap="square" lIns="0" tIns="0" rIns="0" bIns="0" rtlCol="0">
            <a:spAutoFit/>
          </a:bodyPr>
          <a:lstStyle/>
          <a:p>
            <a:r>
              <a:rPr lang="en-US" sz="2000">
                <a:solidFill>
                  <a:srgbClr val="CCDDEC"/>
                </a:solidFill>
                <a:latin typeface="Aptos"/>
              </a:rPr>
              <a:t>a0001.wav has 2,000 samples each second.</a:t>
            </a:r>
          </a:p>
        </p:txBody>
      </p:sp>
      <p:sp>
        <p:nvSpPr>
          <p:cNvPr id="9" name="TextBox 8">
            <a:extLst>
              <a:ext uri="{FF2B5EF4-FFF2-40B4-BE49-F238E27FC236}">
                <a16:creationId xmlns:a16="http://schemas.microsoft.com/office/drawing/2014/main" id="{F82BF588-2A35-4FA5-B2B5-C4F221B3DE13}"/>
              </a:ext>
            </a:extLst>
          </p:cNvPr>
          <p:cNvSpPr txBox="1"/>
          <p:nvPr/>
        </p:nvSpPr>
        <p:spPr>
          <a:xfrm>
            <a:off x="711200" y="3479800"/>
            <a:ext cx="4064000" cy="615553"/>
          </a:xfrm>
          <a:prstGeom prst="rect">
            <a:avLst/>
          </a:prstGeom>
          <a:noFill/>
        </p:spPr>
        <p:txBody>
          <a:bodyPr vert="horz" wrap="square" lIns="0" tIns="0" rIns="0" bIns="0" rtlCol="0">
            <a:spAutoFit/>
          </a:bodyPr>
          <a:lstStyle/>
          <a:p>
            <a:r>
              <a:rPr lang="en-US" sz="2000">
                <a:solidFill>
                  <a:srgbClr val="CCDDEC"/>
                </a:solidFill>
                <a:latin typeface="Aptos"/>
              </a:rPr>
              <a:t>Sample 1,600 occurs at 1,600 / 2,000 = 0.80 s.</a:t>
            </a:r>
          </a:p>
        </p:txBody>
      </p:sp>
      <p:sp>
        <p:nvSpPr>
          <p:cNvPr id="10" name="TextBox 9">
            <a:extLst>
              <a:ext uri="{FF2B5EF4-FFF2-40B4-BE49-F238E27FC236}">
                <a16:creationId xmlns:a16="http://schemas.microsoft.com/office/drawing/2014/main" id="{010F6BAB-34BF-43F0-9F95-3423E2E636D6}"/>
              </a:ext>
            </a:extLst>
          </p:cNvPr>
          <p:cNvSpPr txBox="1"/>
          <p:nvPr/>
        </p:nvSpPr>
        <p:spPr>
          <a:xfrm>
            <a:off x="711200" y="4622800"/>
            <a:ext cx="4064000" cy="307777"/>
          </a:xfrm>
          <a:prstGeom prst="rect">
            <a:avLst/>
          </a:prstGeom>
          <a:noFill/>
        </p:spPr>
        <p:txBody>
          <a:bodyPr vert="horz" wrap="square" lIns="0" tIns="0" rIns="0" bIns="0" rtlCol="0">
            <a:spAutoFit/>
          </a:bodyPr>
          <a:lstStyle/>
          <a:p>
            <a:r>
              <a:rPr lang="en-US" sz="2000">
                <a:solidFill>
                  <a:srgbClr val="CCDDEC"/>
                </a:solidFill>
                <a:latin typeface="Aptos"/>
              </a:rPr>
              <a:t>Nyquist frequency: 1,000 Hz.</a:t>
            </a:r>
          </a:p>
        </p:txBody>
      </p:sp>
      <p:pic>
        <p:nvPicPr>
          <p:cNvPr id="12" name="Picture 11">
            <a:extLst>
              <a:ext uri="{FF2B5EF4-FFF2-40B4-BE49-F238E27FC236}">
                <a16:creationId xmlns:a16="http://schemas.microsoft.com/office/drawing/2014/main" id="{70A41AD7-FFAF-49A3-A385-2F439070B2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53000" y="1803400"/>
            <a:ext cx="6604000" cy="3454400"/>
          </a:xfrm>
          <a:prstGeom prst="rect">
            <a:avLst/>
          </a:prstGeom>
        </p:spPr>
      </p:pic>
      <p:sp>
        <p:nvSpPr>
          <p:cNvPr id="11" name="Rectangle 10">
            <a:extLst>
              <a:ext uri="{FF2B5EF4-FFF2-40B4-BE49-F238E27FC236}">
                <a16:creationId xmlns:a16="http://schemas.microsoft.com/office/drawing/2014/main" id="{68C1FA1F-57D2-4BBD-9C92-0E7B12DA5CC0}"/>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4B620F0-1D67-40D5-9954-D281825FE96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02</a:t>
            </a:r>
          </a:p>
        </p:txBody>
      </p:sp>
    </p:spTree>
    <p:extLst>
      <p:ext uri="{BB962C8B-B14F-4D97-AF65-F5344CB8AC3E}">
        <p14:creationId xmlns:p14="http://schemas.microsoft.com/office/powerpoint/2010/main" val="175695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7E78AE-C981-4FA0-A0BB-6D7F1FA6B9C4}"/>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508A62-251C-4CB2-9A6D-C67423F855FA}"/>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One project, five workspaces</a:t>
            </a:r>
          </a:p>
        </p:txBody>
      </p:sp>
      <p:cxnSp>
        <p:nvCxnSpPr>
          <p:cNvPr id="4" name="Straight Connector 3">
            <a:extLst>
              <a:ext uri="{FF2B5EF4-FFF2-40B4-BE49-F238E27FC236}">
                <a16:creationId xmlns:a16="http://schemas.microsoft.com/office/drawing/2014/main" id="{DA19CA8C-043A-46A3-AF93-1C0FB016CFA5}"/>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0C4CC3-1AA5-4E76-8487-81936A04296F}"/>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D08C7BEB-8BDA-4882-A06C-557C44A784CF}"/>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3</a:t>
            </a:r>
          </a:p>
        </p:txBody>
      </p:sp>
      <p:sp>
        <p:nvSpPr>
          <p:cNvPr id="7" name="TextBox 6">
            <a:extLst>
              <a:ext uri="{FF2B5EF4-FFF2-40B4-BE49-F238E27FC236}">
                <a16:creationId xmlns:a16="http://schemas.microsoft.com/office/drawing/2014/main" id="{EAB54227-7333-4BEA-93BF-DB8CACB88F2D}"/>
              </a:ext>
            </a:extLst>
          </p:cNvPr>
          <p:cNvSpPr txBox="1"/>
          <p:nvPr/>
        </p:nvSpPr>
        <p:spPr>
          <a:xfrm>
            <a:off x="787400" y="15621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Heart sounds</a:t>
            </a:r>
          </a:p>
        </p:txBody>
      </p:sp>
      <p:sp>
        <p:nvSpPr>
          <p:cNvPr id="8" name="TextBox 7">
            <a:extLst>
              <a:ext uri="{FF2B5EF4-FFF2-40B4-BE49-F238E27FC236}">
                <a16:creationId xmlns:a16="http://schemas.microsoft.com/office/drawing/2014/main" id="{84FB7AF8-3A4C-4C83-AAC4-56257C26B76D}"/>
              </a:ext>
            </a:extLst>
          </p:cNvPr>
          <p:cNvSpPr txBox="1"/>
          <p:nvPr/>
        </p:nvSpPr>
        <p:spPr>
          <a:xfrm>
            <a:off x="4000500" y="1562100"/>
            <a:ext cx="7366000" cy="307777"/>
          </a:xfrm>
          <a:prstGeom prst="rect">
            <a:avLst/>
          </a:prstGeom>
          <a:noFill/>
        </p:spPr>
        <p:txBody>
          <a:bodyPr vert="horz" wrap="square" lIns="0" tIns="0" rIns="0" bIns="0" rtlCol="0">
            <a:spAutoFit/>
          </a:bodyPr>
          <a:lstStyle/>
          <a:p>
            <a:r>
              <a:rPr lang="en-US" sz="2000">
                <a:solidFill>
                  <a:srgbClr val="CCDDEC"/>
                </a:solidFill>
                <a:latin typeface="Aptos"/>
              </a:rPr>
              <a:t>Bandpass filtering, envelope peaks, S1/S2 timing</a:t>
            </a:r>
          </a:p>
        </p:txBody>
      </p:sp>
      <p:cxnSp>
        <p:nvCxnSpPr>
          <p:cNvPr id="9" name="Straight Connector 8">
            <a:extLst>
              <a:ext uri="{FF2B5EF4-FFF2-40B4-BE49-F238E27FC236}">
                <a16:creationId xmlns:a16="http://schemas.microsoft.com/office/drawing/2014/main" id="{19BB9EEE-8F23-4926-B1D3-B2E6FC877029}"/>
              </a:ext>
            </a:extLst>
          </p:cNvPr>
          <p:cNvCxnSpPr/>
          <p:nvPr/>
        </p:nvCxnSpPr>
        <p:spPr>
          <a:xfrm>
            <a:off x="787400" y="22606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D82ACDD-55CA-4550-A2FD-BBE82531CA2A}"/>
              </a:ext>
            </a:extLst>
          </p:cNvPr>
          <p:cNvSpPr txBox="1"/>
          <p:nvPr/>
        </p:nvSpPr>
        <p:spPr>
          <a:xfrm>
            <a:off x="787400" y="24765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Audio analyzer</a:t>
            </a:r>
          </a:p>
        </p:txBody>
      </p:sp>
      <p:sp>
        <p:nvSpPr>
          <p:cNvPr id="11" name="TextBox 10">
            <a:extLst>
              <a:ext uri="{FF2B5EF4-FFF2-40B4-BE49-F238E27FC236}">
                <a16:creationId xmlns:a16="http://schemas.microsoft.com/office/drawing/2014/main" id="{8D2F1E67-481B-4048-B406-0FDDD588E76F}"/>
              </a:ext>
            </a:extLst>
          </p:cNvPr>
          <p:cNvSpPr txBox="1"/>
          <p:nvPr/>
        </p:nvSpPr>
        <p:spPr>
          <a:xfrm>
            <a:off x="4000500" y="2476500"/>
            <a:ext cx="7366000" cy="307777"/>
          </a:xfrm>
          <a:prstGeom prst="rect">
            <a:avLst/>
          </a:prstGeom>
          <a:noFill/>
        </p:spPr>
        <p:txBody>
          <a:bodyPr vert="horz" wrap="square" lIns="0" tIns="0" rIns="0" bIns="0" rtlCol="0">
            <a:spAutoFit/>
          </a:bodyPr>
          <a:lstStyle/>
          <a:p>
            <a:r>
              <a:rPr lang="en-US" sz="2000">
                <a:solidFill>
                  <a:srgbClr val="CCDDEC"/>
                </a:solidFill>
                <a:latin typeface="Aptos"/>
              </a:rPr>
              <a:t>Waveform, spectrum, spectrogram, effects, beat and pitch</a:t>
            </a:r>
          </a:p>
        </p:txBody>
      </p:sp>
      <p:cxnSp>
        <p:nvCxnSpPr>
          <p:cNvPr id="12" name="Straight Connector 11">
            <a:extLst>
              <a:ext uri="{FF2B5EF4-FFF2-40B4-BE49-F238E27FC236}">
                <a16:creationId xmlns:a16="http://schemas.microsoft.com/office/drawing/2014/main" id="{A34A47BD-4D41-42C5-A36D-5E21B608BBF9}"/>
              </a:ext>
            </a:extLst>
          </p:cNvPr>
          <p:cNvCxnSpPr/>
          <p:nvPr/>
        </p:nvCxnSpPr>
        <p:spPr>
          <a:xfrm>
            <a:off x="787400" y="31750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A318331-D4D3-4D85-8E8D-F5E0458FDAA6}"/>
              </a:ext>
            </a:extLst>
          </p:cNvPr>
          <p:cNvSpPr txBox="1"/>
          <p:nvPr/>
        </p:nvSpPr>
        <p:spPr>
          <a:xfrm>
            <a:off x="787400" y="33909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Audio encryption</a:t>
            </a:r>
          </a:p>
        </p:txBody>
      </p:sp>
      <p:sp>
        <p:nvSpPr>
          <p:cNvPr id="14" name="TextBox 13">
            <a:extLst>
              <a:ext uri="{FF2B5EF4-FFF2-40B4-BE49-F238E27FC236}">
                <a16:creationId xmlns:a16="http://schemas.microsoft.com/office/drawing/2014/main" id="{3779BA52-6027-45AC-9F73-BE5E8B67E678}"/>
              </a:ext>
            </a:extLst>
          </p:cNvPr>
          <p:cNvSpPr txBox="1"/>
          <p:nvPr/>
        </p:nvSpPr>
        <p:spPr>
          <a:xfrm>
            <a:off x="4000500" y="3390900"/>
            <a:ext cx="7366000" cy="307777"/>
          </a:xfrm>
          <a:prstGeom prst="rect">
            <a:avLst/>
          </a:prstGeom>
          <a:noFill/>
        </p:spPr>
        <p:txBody>
          <a:bodyPr vert="horz" wrap="square" lIns="0" tIns="0" rIns="0" bIns="0" rtlCol="0">
            <a:spAutoFit/>
          </a:bodyPr>
          <a:lstStyle/>
          <a:p>
            <a:r>
              <a:rPr lang="en-US" sz="2000">
                <a:solidFill>
                  <a:srgbClr val="CCDDEC"/>
                </a:solidFill>
                <a:latin typeface="Aptos"/>
              </a:rPr>
              <a:t>Original file bytes packed into a PCM WAV carrier</a:t>
            </a:r>
          </a:p>
        </p:txBody>
      </p:sp>
      <p:cxnSp>
        <p:nvCxnSpPr>
          <p:cNvPr id="15" name="Straight Connector 14">
            <a:extLst>
              <a:ext uri="{FF2B5EF4-FFF2-40B4-BE49-F238E27FC236}">
                <a16:creationId xmlns:a16="http://schemas.microsoft.com/office/drawing/2014/main" id="{1D7F66AF-E020-451E-B87D-54FE2F1EDC3F}"/>
              </a:ext>
            </a:extLst>
          </p:cNvPr>
          <p:cNvCxnSpPr/>
          <p:nvPr/>
        </p:nvCxnSpPr>
        <p:spPr>
          <a:xfrm>
            <a:off x="787400" y="40894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ECFEAB8-D813-404C-A07E-F6FE63B08778}"/>
              </a:ext>
            </a:extLst>
          </p:cNvPr>
          <p:cNvSpPr txBox="1"/>
          <p:nvPr/>
        </p:nvSpPr>
        <p:spPr>
          <a:xfrm>
            <a:off x="787400" y="43053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Steganography</a:t>
            </a:r>
          </a:p>
        </p:txBody>
      </p:sp>
      <p:sp>
        <p:nvSpPr>
          <p:cNvPr id="17" name="TextBox 16">
            <a:extLst>
              <a:ext uri="{FF2B5EF4-FFF2-40B4-BE49-F238E27FC236}">
                <a16:creationId xmlns:a16="http://schemas.microsoft.com/office/drawing/2014/main" id="{8DA5AC23-EC81-4397-904B-ECFB4B07B1D5}"/>
              </a:ext>
            </a:extLst>
          </p:cNvPr>
          <p:cNvSpPr txBox="1"/>
          <p:nvPr/>
        </p:nvSpPr>
        <p:spPr>
          <a:xfrm>
            <a:off x="4000500" y="4305300"/>
            <a:ext cx="7366000" cy="307777"/>
          </a:xfrm>
          <a:prstGeom prst="rect">
            <a:avLst/>
          </a:prstGeom>
          <a:noFill/>
        </p:spPr>
        <p:txBody>
          <a:bodyPr vert="horz" wrap="square" lIns="0" tIns="0" rIns="0" bIns="0" rtlCol="0">
            <a:spAutoFit/>
          </a:bodyPr>
          <a:lstStyle/>
          <a:p>
            <a:r>
              <a:rPr lang="en-US" sz="2000">
                <a:solidFill>
                  <a:srgbClr val="CCDDEC"/>
                </a:solidFill>
                <a:latin typeface="Aptos"/>
              </a:rPr>
              <a:t>Text bits encoded in selected FFT magnitudes</a:t>
            </a:r>
          </a:p>
        </p:txBody>
      </p:sp>
      <p:cxnSp>
        <p:nvCxnSpPr>
          <p:cNvPr id="18" name="Straight Connector 17">
            <a:extLst>
              <a:ext uri="{FF2B5EF4-FFF2-40B4-BE49-F238E27FC236}">
                <a16:creationId xmlns:a16="http://schemas.microsoft.com/office/drawing/2014/main" id="{9122910D-3744-4CC9-97ED-B6A530BAED6C}"/>
              </a:ext>
            </a:extLst>
          </p:cNvPr>
          <p:cNvCxnSpPr/>
          <p:nvPr/>
        </p:nvCxnSpPr>
        <p:spPr>
          <a:xfrm>
            <a:off x="787400" y="50038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2296D50-279C-4885-87EB-70D3ECA365D2}"/>
              </a:ext>
            </a:extLst>
          </p:cNvPr>
          <p:cNvSpPr txBox="1"/>
          <p:nvPr/>
        </p:nvSpPr>
        <p:spPr>
          <a:xfrm>
            <a:off x="787400" y="52197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Echo Detector</a:t>
            </a:r>
          </a:p>
        </p:txBody>
      </p:sp>
      <p:sp>
        <p:nvSpPr>
          <p:cNvPr id="20" name="TextBox 19">
            <a:extLst>
              <a:ext uri="{FF2B5EF4-FFF2-40B4-BE49-F238E27FC236}">
                <a16:creationId xmlns:a16="http://schemas.microsoft.com/office/drawing/2014/main" id="{B28526A0-6EC2-4015-98BC-023F22905466}"/>
              </a:ext>
            </a:extLst>
          </p:cNvPr>
          <p:cNvSpPr txBox="1"/>
          <p:nvPr/>
        </p:nvSpPr>
        <p:spPr>
          <a:xfrm>
            <a:off x="4000500" y="5219700"/>
            <a:ext cx="7366000" cy="307777"/>
          </a:xfrm>
          <a:prstGeom prst="rect">
            <a:avLst/>
          </a:prstGeom>
          <a:noFill/>
        </p:spPr>
        <p:txBody>
          <a:bodyPr vert="horz" wrap="square" lIns="0" tIns="0" rIns="0" bIns="0" rtlCol="0">
            <a:spAutoFit/>
          </a:bodyPr>
          <a:lstStyle/>
          <a:p>
            <a:r>
              <a:rPr lang="en-US" sz="2000">
                <a:solidFill>
                  <a:srgbClr val="CCDDEC"/>
                </a:solidFill>
                <a:latin typeface="Aptos"/>
              </a:rPr>
              <a:t>Autocorrelation searches for repeated delays</a:t>
            </a:r>
          </a:p>
        </p:txBody>
      </p:sp>
      <p:cxnSp>
        <p:nvCxnSpPr>
          <p:cNvPr id="21" name="Straight Connector 20">
            <a:extLst>
              <a:ext uri="{FF2B5EF4-FFF2-40B4-BE49-F238E27FC236}">
                <a16:creationId xmlns:a16="http://schemas.microsoft.com/office/drawing/2014/main" id="{7CD2354F-184B-401B-9B6A-61260FC5E77D}"/>
              </a:ext>
            </a:extLst>
          </p:cNvPr>
          <p:cNvCxnSpPr/>
          <p:nvPr/>
        </p:nvCxnSpPr>
        <p:spPr>
          <a:xfrm>
            <a:off x="787400" y="59182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53E65E8-3BAE-4873-A235-CAF6E905D9B0}"/>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3C789FC-9C37-4019-A384-D1DB4FE0B390}"/>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03</a:t>
            </a:r>
          </a:p>
        </p:txBody>
      </p:sp>
    </p:spTree>
    <p:extLst>
      <p:ext uri="{BB962C8B-B14F-4D97-AF65-F5344CB8AC3E}">
        <p14:creationId xmlns:p14="http://schemas.microsoft.com/office/powerpoint/2010/main" val="363412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B571B0-5B41-4E92-ADC0-9F03870EA790}"/>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E09956-6B66-48BF-9A62-1ECA2767BA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7500" y="63500"/>
            <a:ext cx="11557000" cy="6273800"/>
          </a:xfrm>
          <a:prstGeom prst="rect">
            <a:avLst/>
          </a:prstGeom>
        </p:spPr>
      </p:pic>
      <p:sp>
        <p:nvSpPr>
          <p:cNvPr id="5" name="TextBox 4">
            <a:extLst>
              <a:ext uri="{FF2B5EF4-FFF2-40B4-BE49-F238E27FC236}">
                <a16:creationId xmlns:a16="http://schemas.microsoft.com/office/drawing/2014/main" id="{CAD7D8D1-A91D-4F40-A99D-6799812E34C3}"/>
              </a:ext>
            </a:extLst>
          </p:cNvPr>
          <p:cNvSpPr txBox="1"/>
          <p:nvPr/>
        </p:nvSpPr>
        <p:spPr>
          <a:xfrm>
            <a:off x="660400" y="6451600"/>
            <a:ext cx="10947400" cy="215444"/>
          </a:xfrm>
          <a:prstGeom prst="rect">
            <a:avLst/>
          </a:prstGeom>
          <a:noFill/>
        </p:spPr>
        <p:txBody>
          <a:bodyPr vert="horz" wrap="square" lIns="0" tIns="0" rIns="0" bIns="0" rtlCol="0">
            <a:spAutoFit/>
          </a:bodyPr>
          <a:lstStyle/>
          <a:p>
            <a:r>
              <a:rPr lang="en-US" sz="1400">
                <a:solidFill>
                  <a:srgbClr val="85A0B8"/>
                </a:solidFill>
                <a:latin typeface="Aptos"/>
              </a:rPr>
              <a:t>Code path: dashboard.py, models/transforms.py, models/filters.py, models/peak_detection.py</a:t>
            </a:r>
          </a:p>
        </p:txBody>
      </p:sp>
    </p:spTree>
    <p:extLst>
      <p:ext uri="{BB962C8B-B14F-4D97-AF65-F5344CB8AC3E}">
        <p14:creationId xmlns:p14="http://schemas.microsoft.com/office/powerpoint/2010/main" val="39259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A3B607-476D-45F7-B894-6BC09AE2C0CA}"/>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5CF7FEF-6F16-47BA-B35A-323B1EB2DB6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Heart timing: from peaks to BPM</a:t>
            </a:r>
          </a:p>
        </p:txBody>
      </p:sp>
      <p:cxnSp>
        <p:nvCxnSpPr>
          <p:cNvPr id="4" name="Straight Connector 3">
            <a:extLst>
              <a:ext uri="{FF2B5EF4-FFF2-40B4-BE49-F238E27FC236}">
                <a16:creationId xmlns:a16="http://schemas.microsoft.com/office/drawing/2014/main" id="{3CF996BA-1831-4521-96C2-621EECB7C18F}"/>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E290013-1AFC-4539-BB93-B5BEAAA065C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A0C07CD8-FB29-490D-A123-62E7B1C185B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5</a:t>
            </a:r>
          </a:p>
        </p:txBody>
      </p:sp>
      <p:pic>
        <p:nvPicPr>
          <p:cNvPr id="8" name="Picture 7">
            <a:extLst>
              <a:ext uri="{FF2B5EF4-FFF2-40B4-BE49-F238E27FC236}">
                <a16:creationId xmlns:a16="http://schemas.microsoft.com/office/drawing/2014/main" id="{E82A8706-DDE1-4100-B93C-98716C3063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295400"/>
            <a:ext cx="11049000" cy="4572000"/>
          </a:xfrm>
          <a:prstGeom prst="rect">
            <a:avLst/>
          </a:prstGeom>
        </p:spPr>
      </p:pic>
      <p:sp>
        <p:nvSpPr>
          <p:cNvPr id="9" name="TextBox 8">
            <a:extLst>
              <a:ext uri="{FF2B5EF4-FFF2-40B4-BE49-F238E27FC236}">
                <a16:creationId xmlns:a16="http://schemas.microsoft.com/office/drawing/2014/main" id="{70F80050-E74D-40B8-8605-F549729FA8CE}"/>
              </a:ext>
            </a:extLst>
          </p:cNvPr>
          <p:cNvSpPr txBox="1"/>
          <p:nvPr/>
        </p:nvSpPr>
        <p:spPr>
          <a:xfrm>
            <a:off x="838200" y="5727700"/>
            <a:ext cx="825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BPM = 60 / median(S1-to-S1 intervals)</a:t>
            </a:r>
          </a:p>
        </p:txBody>
      </p:sp>
      <p:sp>
        <p:nvSpPr>
          <p:cNvPr id="10" name="TextBox 9">
            <a:extLst>
              <a:ext uri="{FF2B5EF4-FFF2-40B4-BE49-F238E27FC236}">
                <a16:creationId xmlns:a16="http://schemas.microsoft.com/office/drawing/2014/main" id="{1D217099-D4AF-437F-B0EA-50CDC7D04882}"/>
              </a:ext>
            </a:extLst>
          </p:cNvPr>
          <p:cNvSpPr txBox="1"/>
          <p:nvPr/>
        </p:nvSpPr>
        <p:spPr>
          <a:xfrm>
            <a:off x="838200" y="6172200"/>
            <a:ext cx="10414000" cy="230832"/>
          </a:xfrm>
          <a:prstGeom prst="rect">
            <a:avLst/>
          </a:prstGeom>
          <a:noFill/>
        </p:spPr>
        <p:txBody>
          <a:bodyPr vert="horz" wrap="square" lIns="0" tIns="0" rIns="0" bIns="0" rtlCol="0">
            <a:spAutoFit/>
          </a:bodyPr>
          <a:lstStyle/>
          <a:p>
            <a:r>
              <a:rPr lang="en-US" sz="1500">
                <a:solidFill>
                  <a:srgbClr val="85A0B8"/>
                </a:solidFill>
                <a:latin typeface="Aptos"/>
              </a:rPr>
              <a:t>About 60 BPM from the preview peaks; the app computes its own estimate.</a:t>
            </a:r>
          </a:p>
        </p:txBody>
      </p:sp>
      <p:sp>
        <p:nvSpPr>
          <p:cNvPr id="7" name="Rectangle 6">
            <a:extLst>
              <a:ext uri="{FF2B5EF4-FFF2-40B4-BE49-F238E27FC236}">
                <a16:creationId xmlns:a16="http://schemas.microsoft.com/office/drawing/2014/main" id="{AAE4D793-768D-40AC-8825-0AD899DD8F9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649664C-ED5D-40D1-BCD8-2E271389D168}"/>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05</a:t>
            </a:r>
          </a:p>
        </p:txBody>
      </p:sp>
    </p:spTree>
    <p:extLst>
      <p:ext uri="{BB962C8B-B14F-4D97-AF65-F5344CB8AC3E}">
        <p14:creationId xmlns:p14="http://schemas.microsoft.com/office/powerpoint/2010/main" val="2834518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88762-8882-4B46-9E53-D1A2AD19A5E8}"/>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5BDA47-C063-49CB-A51E-D1DD71781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0"/>
            <a:ext cx="11684000" cy="6845300"/>
          </a:xfrm>
          <a:prstGeom prst="rect">
            <a:avLst/>
          </a:prstGeom>
        </p:spPr>
      </p:pic>
    </p:spTree>
    <p:extLst>
      <p:ext uri="{BB962C8B-B14F-4D97-AF65-F5344CB8AC3E}">
        <p14:creationId xmlns:p14="http://schemas.microsoft.com/office/powerpoint/2010/main" val="2736596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B34B23-5642-4A56-9FD8-5B3BA387E132}"/>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775ECF-82CD-4A71-8AD4-727023BEEA9D}"/>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Filtering changes frequency balance</a:t>
            </a:r>
          </a:p>
        </p:txBody>
      </p:sp>
      <p:cxnSp>
        <p:nvCxnSpPr>
          <p:cNvPr id="4" name="Straight Connector 3">
            <a:extLst>
              <a:ext uri="{FF2B5EF4-FFF2-40B4-BE49-F238E27FC236}">
                <a16:creationId xmlns:a16="http://schemas.microsoft.com/office/drawing/2014/main" id="{E3E84DFE-57CB-4CE4-8B22-228DF97F8273}"/>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D053F3E-16B1-4073-952C-83FBEFB0689E}"/>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377E5A36-11A5-49D9-B99C-ACEAE15E77E7}"/>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7</a:t>
            </a:r>
          </a:p>
        </p:txBody>
      </p:sp>
      <p:pic>
        <p:nvPicPr>
          <p:cNvPr id="8" name="Picture 7">
            <a:extLst>
              <a:ext uri="{FF2B5EF4-FFF2-40B4-BE49-F238E27FC236}">
                <a16:creationId xmlns:a16="http://schemas.microsoft.com/office/drawing/2014/main" id="{A5576112-8C9A-42DB-9C64-4D554B5074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358900"/>
            <a:ext cx="11125200" cy="4368800"/>
          </a:xfrm>
          <a:prstGeom prst="rect">
            <a:avLst/>
          </a:prstGeom>
        </p:spPr>
      </p:pic>
      <p:sp>
        <p:nvSpPr>
          <p:cNvPr id="9" name="TextBox 8">
            <a:extLst>
              <a:ext uri="{FF2B5EF4-FFF2-40B4-BE49-F238E27FC236}">
                <a16:creationId xmlns:a16="http://schemas.microsoft.com/office/drawing/2014/main" id="{035B2A2B-B414-4F43-9E87-D342BEDBE186}"/>
              </a:ext>
            </a:extLst>
          </p:cNvPr>
          <p:cNvSpPr txBox="1"/>
          <p:nvPr/>
        </p:nvSpPr>
        <p:spPr>
          <a:xfrm>
            <a:off x="774700" y="5816600"/>
            <a:ext cx="10655300" cy="276999"/>
          </a:xfrm>
          <a:prstGeom prst="rect">
            <a:avLst/>
          </a:prstGeom>
          <a:noFill/>
        </p:spPr>
        <p:txBody>
          <a:bodyPr vert="horz" wrap="square" lIns="0" tIns="0" rIns="0" bIns="0" rtlCol="0">
            <a:spAutoFit/>
          </a:bodyPr>
          <a:lstStyle/>
          <a:p>
            <a:r>
              <a:rPr lang="en-US">
                <a:solidFill>
                  <a:srgbClr val="CCDDEC"/>
                </a:solidFill>
                <a:latin typeface="Aptos"/>
              </a:rPr>
              <a:t>The song spectrum is measured. The second curve illustrates a 1 kHz Butterworth low-pass response.</a:t>
            </a:r>
          </a:p>
        </p:txBody>
      </p:sp>
      <p:sp>
        <p:nvSpPr>
          <p:cNvPr id="7" name="Rectangle 6">
            <a:extLst>
              <a:ext uri="{FF2B5EF4-FFF2-40B4-BE49-F238E27FC236}">
                <a16:creationId xmlns:a16="http://schemas.microsoft.com/office/drawing/2014/main" id="{4503B192-2378-498A-9A1B-4B027F1C8C14}"/>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A63025-11F3-41A4-8F1D-6811DD7839AB}"/>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07</a:t>
            </a:r>
          </a:p>
        </p:txBody>
      </p:sp>
    </p:spTree>
    <p:extLst>
      <p:ext uri="{BB962C8B-B14F-4D97-AF65-F5344CB8AC3E}">
        <p14:creationId xmlns:p14="http://schemas.microsoft.com/office/powerpoint/2010/main" val="141829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Delay, echo, tremolo and distortion</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8</a:t>
            </a:r>
          </a:p>
        </p:txBody>
      </p:sp>
      <p:sp>
        <p:nvSpPr>
          <p:cNvPr id="7" name="TextBox 6">
            <a:extLst>
              <a:ext uri="{FF2B5EF4-FFF2-40B4-BE49-F238E27FC236}">
                <a16:creationId xmlns:a16="http://schemas.microsoft.com/office/drawing/2014/main" id="{940ECA6E-E984-4789-A792-1AAB50BEB661}"/>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Echo adds later, quieter copies of the same event.</a:t>
            </a:r>
          </a:p>
        </p:txBody>
      </p:sp>
      <p:cxnSp>
        <p:nvCxnSpPr>
          <p:cNvPr id="8" name="Straight Connector 7">
            <a:extLst>
              <a:ext uri="{FF2B5EF4-FFF2-40B4-BE49-F238E27FC236}">
                <a16:creationId xmlns:a16="http://schemas.microsoft.com/office/drawing/2014/main" id="{9E558035-C4FA-4647-AF98-557A6DE36E2F}"/>
              </a:ext>
            </a:extLst>
          </p:cNvPr>
          <p:cNvCxnSpPr/>
          <p:nvPr/>
        </p:nvCxnSpPr>
        <p:spPr>
          <a:xfrm>
            <a:off x="1219200" y="3810000"/>
            <a:ext cx="10007600" cy="0"/>
          </a:xfrm>
          <a:prstGeom prst="line">
            <a:avLst/>
          </a:prstGeom>
          <a:ln w="254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96B8E0E-745F-4C37-A088-95357B5EC3F2}"/>
              </a:ext>
            </a:extLst>
          </p:cNvPr>
          <p:cNvCxnSpPr/>
          <p:nvPr/>
        </p:nvCxnSpPr>
        <p:spPr>
          <a:xfrm>
            <a:off x="2159000" y="2260600"/>
            <a:ext cx="0" cy="15494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22A64EE-175F-4E61-98D6-74C10C2B00D6}"/>
              </a:ext>
            </a:extLst>
          </p:cNvPr>
          <p:cNvSpPr txBox="1"/>
          <p:nvPr/>
        </p:nvSpPr>
        <p:spPr>
          <a:xfrm>
            <a:off x="1549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original</a:t>
            </a:r>
          </a:p>
        </p:txBody>
      </p:sp>
      <p:cxnSp>
        <p:nvCxnSpPr>
          <p:cNvPr id="11" name="Straight Connector 10">
            <a:extLst>
              <a:ext uri="{FF2B5EF4-FFF2-40B4-BE49-F238E27FC236}">
                <a16:creationId xmlns:a16="http://schemas.microsoft.com/office/drawing/2014/main" id="{3EE52788-788B-4D27-BBD5-AC6FE0BB79B4}"/>
              </a:ext>
            </a:extLst>
          </p:cNvPr>
          <p:cNvCxnSpPr/>
          <p:nvPr/>
        </p:nvCxnSpPr>
        <p:spPr>
          <a:xfrm>
            <a:off x="4445000" y="2692400"/>
            <a:ext cx="0" cy="11176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8DB76C-E454-4759-804F-68C17EDEF882}"/>
              </a:ext>
            </a:extLst>
          </p:cNvPr>
          <p:cNvSpPr txBox="1"/>
          <p:nvPr/>
        </p:nvSpPr>
        <p:spPr>
          <a:xfrm>
            <a:off x="3835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0.3 s</a:t>
            </a:r>
          </a:p>
        </p:txBody>
      </p:sp>
      <p:cxnSp>
        <p:nvCxnSpPr>
          <p:cNvPr id="13" name="Straight Connector 12">
            <a:extLst>
              <a:ext uri="{FF2B5EF4-FFF2-40B4-BE49-F238E27FC236}">
                <a16:creationId xmlns:a16="http://schemas.microsoft.com/office/drawing/2014/main" id="{37D5B6CD-B29D-4452-ABDC-CB70BA899ACB}"/>
              </a:ext>
            </a:extLst>
          </p:cNvPr>
          <p:cNvCxnSpPr/>
          <p:nvPr/>
        </p:nvCxnSpPr>
        <p:spPr>
          <a:xfrm>
            <a:off x="6731000" y="3035300"/>
            <a:ext cx="0" cy="7747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713FF6D-794C-4F10-9F23-187C851C90DA}"/>
              </a:ext>
            </a:extLst>
          </p:cNvPr>
          <p:cNvSpPr txBox="1"/>
          <p:nvPr/>
        </p:nvSpPr>
        <p:spPr>
          <a:xfrm>
            <a:off x="6121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0.6 s</a:t>
            </a:r>
          </a:p>
        </p:txBody>
      </p:sp>
      <p:cxnSp>
        <p:nvCxnSpPr>
          <p:cNvPr id="15" name="Straight Connector 14">
            <a:extLst>
              <a:ext uri="{FF2B5EF4-FFF2-40B4-BE49-F238E27FC236}">
                <a16:creationId xmlns:a16="http://schemas.microsoft.com/office/drawing/2014/main" id="{0C8D6DAD-5E10-47C1-880C-73DB4823562B}"/>
              </a:ext>
            </a:extLst>
          </p:cNvPr>
          <p:cNvCxnSpPr/>
          <p:nvPr/>
        </p:nvCxnSpPr>
        <p:spPr>
          <a:xfrm>
            <a:off x="9017000" y="3276600"/>
            <a:ext cx="0" cy="5334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8778A6-A60E-484A-A97B-342419D7FE95}"/>
              </a:ext>
            </a:extLst>
          </p:cNvPr>
          <p:cNvSpPr txBox="1"/>
          <p:nvPr/>
        </p:nvSpPr>
        <p:spPr>
          <a:xfrm>
            <a:off x="8407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0.9 s</a:t>
            </a:r>
          </a:p>
        </p:txBody>
      </p:sp>
      <p:sp>
        <p:nvSpPr>
          <p:cNvPr id="17" name="TextBox 16">
            <a:extLst>
              <a:ext uri="{FF2B5EF4-FFF2-40B4-BE49-F238E27FC236}">
                <a16:creationId xmlns:a16="http://schemas.microsoft.com/office/drawing/2014/main" id="{E5B35C40-04F1-422A-9ACF-D5DCC8633F4E}"/>
              </a:ext>
            </a:extLst>
          </p:cNvPr>
          <p:cNvSpPr txBox="1"/>
          <p:nvPr/>
        </p:nvSpPr>
        <p:spPr>
          <a:xfrm>
            <a:off x="825500" y="4914900"/>
            <a:ext cx="10795000" cy="338554"/>
          </a:xfrm>
          <a:prstGeom prst="rect">
            <a:avLst/>
          </a:prstGeom>
          <a:noFill/>
        </p:spPr>
        <p:txBody>
          <a:bodyPr vert="horz" wrap="square" lIns="0" tIns="0" rIns="0" bIns="0" rtlCol="0">
            <a:spAutoFit/>
          </a:bodyPr>
          <a:lstStyle/>
          <a:p>
            <a:r>
              <a:rPr lang="en-US" sz="2200">
                <a:solidFill>
                  <a:srgbClr val="CCDDEC"/>
                </a:solidFill>
                <a:latin typeface="Aptos"/>
              </a:rPr>
              <a:t>Tremolo changes gain over time. Distortion bends the waveform and adds harmonics.</a:t>
            </a:r>
          </a:p>
        </p:txBody>
      </p:sp>
      <p:sp>
        <p:nvSpPr>
          <p:cNvPr id="18" name="Rectangle 17">
            <a:extLst>
              <a:ext uri="{FF2B5EF4-FFF2-40B4-BE49-F238E27FC236}">
                <a16:creationId xmlns:a16="http://schemas.microsoft.com/office/drawing/2014/main" id="{11903AEC-9DB4-4CDC-B875-2897A151238E}"/>
              </a:ext>
            </a:extLst>
          </p:cNvPr>
          <p:cNvSpPr/>
          <p:nvPr/>
        </p:nvSpPr>
        <p:spPr>
          <a:xfrm>
            <a:off x="787400" y="5842000"/>
            <a:ext cx="10617200" cy="520700"/>
          </a:xfrm>
          <a:prstGeom prst="rect">
            <a:avLst/>
          </a:prstGeom>
          <a:solidFill>
            <a:srgbClr val="0F2235"/>
          </a:solidFill>
          <a:ln w="12700" cap="flat" cmpd="sng" algn="ctr">
            <a:noFill/>
            <a:prstDash val="solid"/>
            <a:miter lim="800000"/>
          </a:ln>
          <a:effectLst/>
          <a:extLst>
            <a:ext uri="{91240B29-F687-4F45-9708-019B960494DF}">
              <a14:hiddenLine xmlns:a14="http://schemas.microsoft.com/office/drawing/2010/main" w="12700" cap="flat" cmpd="sng" algn="ctr">
                <a:solidFill>
                  <a:srgbClr val="264B6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B62D7F7-7D71-4E57-8FFC-B31243CBB029}"/>
              </a:ext>
            </a:extLst>
          </p:cNvPr>
          <p:cNvSpPr txBox="1"/>
          <p:nvPr/>
        </p:nvSpPr>
        <p:spPr>
          <a:xfrm>
            <a:off x="977900" y="5969000"/>
            <a:ext cx="10223500" cy="246221"/>
          </a:xfrm>
          <a:prstGeom prst="rect">
            <a:avLst/>
          </a:prstGeom>
          <a:noFill/>
        </p:spPr>
        <p:txBody>
          <a:bodyPr vert="horz" wrap="square" lIns="0" tIns="0" rIns="0" bIns="0" rtlCol="0">
            <a:spAutoFit/>
          </a:bodyPr>
          <a:lstStyle/>
          <a:p>
            <a:r>
              <a:rPr lang="en-US" sz="1600">
                <a:solidFill>
                  <a:srgbClr val="37D9E9"/>
                </a:solidFill>
                <a:latin typeface="Consolas" panose="020B0609020204030204" pitchFamily="49" charset="0"/>
              </a:rPr>
              <a:t>output[start:start + len(audio)] += audio * amount ** repeat</a:t>
            </a:r>
          </a:p>
        </p:txBody>
      </p:sp>
      <p:sp>
        <p:nvSpPr>
          <p:cNvPr id="20" name="Rectangle 19">
            <a:extLst>
              <a:ext uri="{FF2B5EF4-FFF2-40B4-BE49-F238E27FC236}">
                <a16:creationId xmlns:a16="http://schemas.microsoft.com/office/drawing/2014/main" id="{7CA8ED24-65B8-4F5C-BC11-E9410D4A590A}"/>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BEC9943-36DB-47DE-9E82-0137AE4891D3}"/>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08</a:t>
            </a:r>
          </a:p>
        </p:txBody>
      </p:sp>
    </p:spTree>
    <p:extLst>
      <p:ext uri="{BB962C8B-B14F-4D97-AF65-F5344CB8AC3E}">
        <p14:creationId xmlns:p14="http://schemas.microsoft.com/office/powerpoint/2010/main" val="572956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35B12C-D8F6-4FB2-AA03-AB246F004A9C}"/>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70FEE7-7A7F-487A-B94C-9FCF00CFE49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Musical onsets and pitch</a:t>
            </a:r>
          </a:p>
        </p:txBody>
      </p:sp>
      <p:cxnSp>
        <p:nvCxnSpPr>
          <p:cNvPr id="4" name="Straight Connector 3">
            <a:extLst>
              <a:ext uri="{FF2B5EF4-FFF2-40B4-BE49-F238E27FC236}">
                <a16:creationId xmlns:a16="http://schemas.microsoft.com/office/drawing/2014/main" id="{4A49BF5B-F57A-4F71-9192-6A5690E538C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843B60D-A13F-4278-8291-9DFA0A247A5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4467141-AB74-4656-BCC3-41764FE2698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9</a:t>
            </a:r>
          </a:p>
        </p:txBody>
      </p:sp>
      <p:pic>
        <p:nvPicPr>
          <p:cNvPr id="8" name="Picture 7">
            <a:extLst>
              <a:ext uri="{FF2B5EF4-FFF2-40B4-BE49-F238E27FC236}">
                <a16:creationId xmlns:a16="http://schemas.microsoft.com/office/drawing/2014/main" id="{C10C11F0-9CE4-48AE-A390-2DBC4118F9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1346200"/>
            <a:ext cx="11430000" cy="4648200"/>
          </a:xfrm>
          <a:prstGeom prst="rect">
            <a:avLst/>
          </a:prstGeom>
        </p:spPr>
      </p:pic>
      <p:sp>
        <p:nvSpPr>
          <p:cNvPr id="9" name="TextBox 8">
            <a:extLst>
              <a:ext uri="{FF2B5EF4-FFF2-40B4-BE49-F238E27FC236}">
                <a16:creationId xmlns:a16="http://schemas.microsoft.com/office/drawing/2014/main" id="{139BC269-CC51-4F71-9996-0BA88561C55C}"/>
              </a:ext>
            </a:extLst>
          </p:cNvPr>
          <p:cNvSpPr txBox="1"/>
          <p:nvPr/>
        </p:nvSpPr>
        <p:spPr>
          <a:xfrm>
            <a:off x="673100" y="6045200"/>
            <a:ext cx="10845800" cy="276999"/>
          </a:xfrm>
          <a:prstGeom prst="rect">
            <a:avLst/>
          </a:prstGeom>
          <a:noFill/>
        </p:spPr>
        <p:txBody>
          <a:bodyPr vert="horz" wrap="square" lIns="0" tIns="0" rIns="0" bIns="0" rtlCol="0">
            <a:spAutoFit/>
          </a:bodyPr>
          <a:lstStyle/>
          <a:p>
            <a:r>
              <a:rPr lang="en-US">
                <a:solidFill>
                  <a:srgbClr val="CCDDEC"/>
                </a:solidFill>
                <a:latin typeface="Aptos"/>
              </a:rPr>
              <a:t>Onsets: positive STFT magnitude changes.   Pitch: frequency = sample rate / repeating lag.</a:t>
            </a:r>
          </a:p>
        </p:txBody>
      </p:sp>
      <p:sp>
        <p:nvSpPr>
          <p:cNvPr id="7" name="Rectangle 6">
            <a:extLst>
              <a:ext uri="{FF2B5EF4-FFF2-40B4-BE49-F238E27FC236}">
                <a16:creationId xmlns:a16="http://schemas.microsoft.com/office/drawing/2014/main" id="{8F008345-2AD1-4516-88E4-5EA1B714846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FDF348-6A83-4FBF-9D6D-8EB10842F82A}"/>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09</a:t>
            </a:r>
          </a:p>
        </p:txBody>
      </p:sp>
    </p:spTree>
    <p:extLst>
      <p:ext uri="{BB962C8B-B14F-4D97-AF65-F5344CB8AC3E}">
        <p14:creationId xmlns:p14="http://schemas.microsoft.com/office/powerpoint/2010/main" val="422826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5BA698-1FEE-487B-9104-A6A16A73E5E1}"/>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5CC62A-3840-401F-AEEC-9DBA25CF1668}"/>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Similarity, alignment and echo</a:t>
            </a:r>
          </a:p>
        </p:txBody>
      </p:sp>
      <p:cxnSp>
        <p:nvCxnSpPr>
          <p:cNvPr id="4" name="Straight Connector 3">
            <a:extLst>
              <a:ext uri="{FF2B5EF4-FFF2-40B4-BE49-F238E27FC236}">
                <a16:creationId xmlns:a16="http://schemas.microsoft.com/office/drawing/2014/main" id="{201FAF34-1F3A-4C0D-B9A5-64FC8E2EFEA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3635DE6-14A5-4497-BB98-766E78CB6C7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6C34C6C0-B422-415A-9D17-325150F9812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10</a:t>
            </a:r>
          </a:p>
        </p:txBody>
      </p:sp>
      <p:sp>
        <p:nvSpPr>
          <p:cNvPr id="7" name="TextBox 6">
            <a:extLst>
              <a:ext uri="{FF2B5EF4-FFF2-40B4-BE49-F238E27FC236}">
                <a16:creationId xmlns:a16="http://schemas.microsoft.com/office/drawing/2014/main" id="{987F3B86-0290-4252-80F1-65A6633E9D7A}"/>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Compare clips by lining up their loudness patterns first.</a:t>
            </a:r>
          </a:p>
        </p:txBody>
      </p:sp>
      <p:sp>
        <p:nvSpPr>
          <p:cNvPr id="8" name="TextBox 7">
            <a:extLst>
              <a:ext uri="{FF2B5EF4-FFF2-40B4-BE49-F238E27FC236}">
                <a16:creationId xmlns:a16="http://schemas.microsoft.com/office/drawing/2014/main" id="{62A7EF65-C2F0-4B4E-9244-4E862BB22E18}"/>
              </a:ext>
            </a:extLst>
          </p:cNvPr>
          <p:cNvSpPr txBox="1"/>
          <p:nvPr/>
        </p:nvSpPr>
        <p:spPr>
          <a:xfrm>
            <a:off x="825500" y="2438400"/>
            <a:ext cx="1270000" cy="276999"/>
          </a:xfrm>
          <a:prstGeom prst="rect">
            <a:avLst/>
          </a:prstGeom>
          <a:noFill/>
        </p:spPr>
        <p:txBody>
          <a:bodyPr vert="horz" wrap="square" lIns="0" tIns="0" rIns="0" bIns="0" rtlCol="0">
            <a:spAutoFit/>
          </a:bodyPr>
          <a:lstStyle/>
          <a:p>
            <a:r>
              <a:rPr lang="en-US" b="1">
                <a:solidFill>
                  <a:srgbClr val="CCDDEC"/>
                </a:solidFill>
                <a:latin typeface="Aptos"/>
              </a:rPr>
              <a:t>Clip A</a:t>
            </a:r>
          </a:p>
        </p:txBody>
      </p:sp>
      <p:sp>
        <p:nvSpPr>
          <p:cNvPr id="9" name="TextBox 8">
            <a:extLst>
              <a:ext uri="{FF2B5EF4-FFF2-40B4-BE49-F238E27FC236}">
                <a16:creationId xmlns:a16="http://schemas.microsoft.com/office/drawing/2014/main" id="{178438CC-83E7-4BEC-94DE-B3C88DB17A6B}"/>
              </a:ext>
            </a:extLst>
          </p:cNvPr>
          <p:cNvSpPr txBox="1"/>
          <p:nvPr/>
        </p:nvSpPr>
        <p:spPr>
          <a:xfrm>
            <a:off x="825500" y="3302000"/>
            <a:ext cx="1270000" cy="276999"/>
          </a:xfrm>
          <a:prstGeom prst="rect">
            <a:avLst/>
          </a:prstGeom>
          <a:noFill/>
        </p:spPr>
        <p:txBody>
          <a:bodyPr vert="horz" wrap="square" lIns="0" tIns="0" rIns="0" bIns="0" rtlCol="0">
            <a:spAutoFit/>
          </a:bodyPr>
          <a:lstStyle/>
          <a:p>
            <a:r>
              <a:rPr lang="en-US" b="1">
                <a:solidFill>
                  <a:srgbClr val="CCDDEC"/>
                </a:solidFill>
                <a:latin typeface="Aptos"/>
              </a:rPr>
              <a:t>Clip B</a:t>
            </a:r>
          </a:p>
        </p:txBody>
      </p:sp>
      <p:cxnSp>
        <p:nvCxnSpPr>
          <p:cNvPr id="10" name="Straight Connector 9">
            <a:extLst>
              <a:ext uri="{FF2B5EF4-FFF2-40B4-BE49-F238E27FC236}">
                <a16:creationId xmlns:a16="http://schemas.microsoft.com/office/drawing/2014/main" id="{AE8D54E3-D5A3-4BB5-B007-3F6E2E1AFD33}"/>
              </a:ext>
            </a:extLst>
          </p:cNvPr>
          <p:cNvCxnSpPr/>
          <p:nvPr/>
        </p:nvCxnSpPr>
        <p:spPr>
          <a:xfrm>
            <a:off x="1981200" y="29845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52608B-A3E6-438D-82DC-0CC2377FA092}"/>
              </a:ext>
            </a:extLst>
          </p:cNvPr>
          <p:cNvCxnSpPr/>
          <p:nvPr/>
        </p:nvCxnSpPr>
        <p:spPr>
          <a:xfrm>
            <a:off x="1981200" y="38481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FC2C37-9EF4-425A-85D5-CEC6DE2D9D86}"/>
              </a:ext>
            </a:extLst>
          </p:cNvPr>
          <p:cNvCxnSpPr/>
          <p:nvPr/>
        </p:nvCxnSpPr>
        <p:spPr>
          <a:xfrm>
            <a:off x="37338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C37D88A-5F93-471A-9AAC-2B278C9591EC}"/>
              </a:ext>
            </a:extLst>
          </p:cNvPr>
          <p:cNvCxnSpPr/>
          <p:nvPr/>
        </p:nvCxnSpPr>
        <p:spPr>
          <a:xfrm>
            <a:off x="45212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BDDCBB3-8F05-4F02-93A8-A0B7A7C2B3B4}"/>
              </a:ext>
            </a:extLst>
          </p:cNvPr>
          <p:cNvCxnSpPr/>
          <p:nvPr/>
        </p:nvCxnSpPr>
        <p:spPr>
          <a:xfrm>
            <a:off x="5905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CCCE47-D457-4C19-B971-8641677FB010}"/>
              </a:ext>
            </a:extLst>
          </p:cNvPr>
          <p:cNvCxnSpPr/>
          <p:nvPr/>
        </p:nvCxnSpPr>
        <p:spPr>
          <a:xfrm>
            <a:off x="6692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98A7CF-3BE3-45EF-8011-C23883120D6E}"/>
              </a:ext>
            </a:extLst>
          </p:cNvPr>
          <p:cNvCxnSpPr/>
          <p:nvPr/>
        </p:nvCxnSpPr>
        <p:spPr>
          <a:xfrm>
            <a:off x="8064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A315AF-8ED2-4FA4-8C3D-4A07955A2C5B}"/>
              </a:ext>
            </a:extLst>
          </p:cNvPr>
          <p:cNvCxnSpPr/>
          <p:nvPr/>
        </p:nvCxnSpPr>
        <p:spPr>
          <a:xfrm>
            <a:off x="8851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7F73AF-71C0-422D-A639-80D6430AE002}"/>
              </a:ext>
            </a:extLst>
          </p:cNvPr>
          <p:cNvSpPr txBox="1"/>
          <p:nvPr/>
        </p:nvSpPr>
        <p:spPr>
          <a:xfrm>
            <a:off x="2108200" y="4267200"/>
            <a:ext cx="9398000" cy="307777"/>
          </a:xfrm>
          <a:prstGeom prst="rect">
            <a:avLst/>
          </a:prstGeom>
          <a:noFill/>
        </p:spPr>
        <p:txBody>
          <a:bodyPr vert="horz" wrap="square" lIns="0" tIns="0" rIns="0" bIns="0" rtlCol="0">
            <a:spAutoFit/>
          </a:bodyPr>
          <a:lstStyle/>
          <a:p>
            <a:r>
              <a:rPr lang="en-US" sz="2000">
                <a:solidFill>
                  <a:srgbClr val="CCDDEC"/>
                </a:solidFill>
                <a:latin typeface="Aptos"/>
              </a:rPr>
              <a:t>A shift brings matching events together before subtraction or correlation.</a:t>
            </a:r>
          </a:p>
        </p:txBody>
      </p:sp>
      <p:cxnSp>
        <p:nvCxnSpPr>
          <p:cNvPr id="19" name="Straight Connector 18">
            <a:extLst>
              <a:ext uri="{FF2B5EF4-FFF2-40B4-BE49-F238E27FC236}">
                <a16:creationId xmlns:a16="http://schemas.microsoft.com/office/drawing/2014/main" id="{69748472-D746-4BAF-A4C9-18FE15903928}"/>
              </a:ext>
            </a:extLst>
          </p:cNvPr>
          <p:cNvCxnSpPr/>
          <p:nvPr/>
        </p:nvCxnSpPr>
        <p:spPr>
          <a:xfrm>
            <a:off x="850900" y="4940300"/>
            <a:ext cx="10490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C7CE7F5-D005-4BA4-A835-1F534C298CF0}"/>
              </a:ext>
            </a:extLst>
          </p:cNvPr>
          <p:cNvSpPr txBox="1"/>
          <p:nvPr/>
        </p:nvSpPr>
        <p:spPr>
          <a:xfrm>
            <a:off x="825500" y="5194300"/>
            <a:ext cx="10541000" cy="646331"/>
          </a:xfrm>
          <a:prstGeom prst="rect">
            <a:avLst/>
          </a:prstGeom>
          <a:noFill/>
        </p:spPr>
        <p:txBody>
          <a:bodyPr vert="horz" wrap="square" lIns="0" tIns="0" rIns="0" bIns="0" rtlCol="0">
            <a:spAutoFit/>
          </a:bodyPr>
          <a:lstStyle/>
          <a:p>
            <a:r>
              <a:rPr lang="en-US" sz="2100">
                <a:solidFill>
                  <a:srgbClr val="CCDDEC"/>
                </a:solidFill>
                <a:latin typeface="Aptos"/>
              </a:rPr>
              <a:t>Echo detection slides one signal against itself. A secondary autocorrelation peak gives a candidate delay.</a:t>
            </a:r>
          </a:p>
        </p:txBody>
      </p:sp>
      <p:sp>
        <p:nvSpPr>
          <p:cNvPr id="21" name="TextBox 20">
            <a:extLst>
              <a:ext uri="{FF2B5EF4-FFF2-40B4-BE49-F238E27FC236}">
                <a16:creationId xmlns:a16="http://schemas.microsoft.com/office/drawing/2014/main" id="{387E966C-9797-419E-8D4F-54B695ED1DCA}"/>
              </a:ext>
            </a:extLst>
          </p:cNvPr>
          <p:cNvSpPr txBox="1"/>
          <p:nvPr/>
        </p:nvSpPr>
        <p:spPr>
          <a:xfrm>
            <a:off x="825500" y="6057900"/>
            <a:ext cx="10541000" cy="261610"/>
          </a:xfrm>
          <a:prstGeom prst="rect">
            <a:avLst/>
          </a:prstGeom>
          <a:noFill/>
        </p:spPr>
        <p:txBody>
          <a:bodyPr vert="horz" wrap="square" lIns="0" tIns="0" rIns="0" bIns="0" rtlCol="0">
            <a:spAutoFit/>
          </a:bodyPr>
          <a:lstStyle/>
          <a:p>
            <a:r>
              <a:rPr lang="en-US" sz="1700">
                <a:solidFill>
                  <a:srgbClr val="85A0B8"/>
                </a:solidFill>
                <a:latin typeface="Aptos"/>
              </a:rPr>
              <a:t>Repeated music can produce a similar peak, so a detected delay is evidence of repetition.</a:t>
            </a:r>
          </a:p>
        </p:txBody>
      </p:sp>
      <p:sp>
        <p:nvSpPr>
          <p:cNvPr id="22" name="Rectangle 21">
            <a:extLst>
              <a:ext uri="{FF2B5EF4-FFF2-40B4-BE49-F238E27FC236}">
                <a16:creationId xmlns:a16="http://schemas.microsoft.com/office/drawing/2014/main" id="{E47278C7-62FF-4FAD-AF33-44C9CA4BD34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F20897D-F9AE-4740-8D96-DE0A62C1565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10</a:t>
            </a:r>
          </a:p>
        </p:txBody>
      </p:sp>
    </p:spTree>
    <p:extLst>
      <p:ext uri="{BB962C8B-B14F-4D97-AF65-F5344CB8AC3E}">
        <p14:creationId xmlns:p14="http://schemas.microsoft.com/office/powerpoint/2010/main" val="594913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Encryption and steganography use audio differently</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11</a:t>
            </a:r>
          </a:p>
        </p:txBody>
      </p:sp>
      <p:sp>
        <p:nvSpPr>
          <p:cNvPr id="7" name="TextBox 6">
            <a:extLst>
              <a:ext uri="{FF2B5EF4-FFF2-40B4-BE49-F238E27FC236}">
                <a16:creationId xmlns:a16="http://schemas.microsoft.com/office/drawing/2014/main" id="{0641A873-BA98-4EC8-BFFD-F4502ED33135}"/>
              </a:ext>
            </a:extLst>
          </p:cNvPr>
          <p:cNvSpPr txBox="1"/>
          <p:nvPr/>
        </p:nvSpPr>
        <p:spPr>
          <a:xfrm>
            <a:off x="787400" y="1549400"/>
            <a:ext cx="3302000" cy="415498"/>
          </a:xfrm>
          <a:prstGeom prst="rect">
            <a:avLst/>
          </a:prstGeom>
          <a:noFill/>
        </p:spPr>
        <p:txBody>
          <a:bodyPr vert="horz" wrap="square" lIns="0" tIns="0" rIns="0" bIns="0" rtlCol="0">
            <a:spAutoFit/>
          </a:bodyPr>
          <a:lstStyle/>
          <a:p>
            <a:r>
              <a:rPr lang="en-US" sz="2700" b="1">
                <a:solidFill>
                  <a:srgbClr val="37D9E9"/>
                </a:solidFill>
                <a:latin typeface="Bahnschrift" panose="020B0502040204020203" pitchFamily="34" charset="0"/>
              </a:rPr>
              <a:t>Encryption</a:t>
            </a:r>
          </a:p>
        </p:txBody>
      </p:sp>
      <p:sp>
        <p:nvSpPr>
          <p:cNvPr id="8" name="TextBox 7">
            <a:extLst>
              <a:ext uri="{FF2B5EF4-FFF2-40B4-BE49-F238E27FC236}">
                <a16:creationId xmlns:a16="http://schemas.microsoft.com/office/drawing/2014/main" id="{7DDBC4E5-7F51-47CF-BF25-71452182D07A}"/>
              </a:ext>
            </a:extLst>
          </p:cNvPr>
          <p:cNvSpPr txBox="1"/>
          <p:nvPr/>
        </p:nvSpPr>
        <p:spPr>
          <a:xfrm>
            <a:off x="787400" y="2260600"/>
            <a:ext cx="3175000" cy="338554"/>
          </a:xfrm>
          <a:prstGeom prst="rect">
            <a:avLst/>
          </a:prstGeom>
          <a:noFill/>
        </p:spPr>
        <p:txBody>
          <a:bodyPr vert="horz" wrap="square" lIns="0" tIns="0" rIns="0" bIns="0" rtlCol="0">
            <a:spAutoFit/>
          </a:bodyPr>
          <a:lstStyle/>
          <a:p>
            <a:r>
              <a:rPr lang="en-US" sz="2200">
                <a:solidFill>
                  <a:srgbClr val="CCDDEC"/>
                </a:solidFill>
                <a:latin typeface="Aptos"/>
              </a:rPr>
              <a:t>1  Original file bytes</a:t>
            </a:r>
          </a:p>
        </p:txBody>
      </p:sp>
      <p:sp>
        <p:nvSpPr>
          <p:cNvPr id="9" name="TextBox 8">
            <a:extLst>
              <a:ext uri="{FF2B5EF4-FFF2-40B4-BE49-F238E27FC236}">
                <a16:creationId xmlns:a16="http://schemas.microsoft.com/office/drawing/2014/main" id="{4B0B5C02-DAC3-42BA-98F1-BD03BCE93A2C}"/>
              </a:ext>
            </a:extLst>
          </p:cNvPr>
          <p:cNvSpPr txBox="1"/>
          <p:nvPr/>
        </p:nvSpPr>
        <p:spPr>
          <a:xfrm>
            <a:off x="4330700" y="2260600"/>
            <a:ext cx="3530600" cy="338554"/>
          </a:xfrm>
          <a:prstGeom prst="rect">
            <a:avLst/>
          </a:prstGeom>
          <a:noFill/>
        </p:spPr>
        <p:txBody>
          <a:bodyPr vert="horz" wrap="square" lIns="0" tIns="0" rIns="0" bIns="0" rtlCol="0">
            <a:spAutoFit/>
          </a:bodyPr>
          <a:lstStyle/>
          <a:p>
            <a:r>
              <a:rPr lang="en-US" sz="2200">
                <a:solidFill>
                  <a:srgbClr val="CCDDEC"/>
                </a:solidFill>
                <a:latin typeface="Aptos"/>
              </a:rPr>
              <a:t>2  AES-GCM ciphertext</a:t>
            </a:r>
          </a:p>
        </p:txBody>
      </p:sp>
      <p:sp>
        <p:nvSpPr>
          <p:cNvPr id="10" name="TextBox 9">
            <a:extLst>
              <a:ext uri="{FF2B5EF4-FFF2-40B4-BE49-F238E27FC236}">
                <a16:creationId xmlns:a16="http://schemas.microsoft.com/office/drawing/2014/main" id="{B92427CF-0E2D-4B61-90F0-6ACA46DB7A1D}"/>
              </a:ext>
            </a:extLst>
          </p:cNvPr>
          <p:cNvSpPr txBox="1"/>
          <p:nvPr/>
        </p:nvSpPr>
        <p:spPr>
          <a:xfrm>
            <a:off x="8242300" y="2260600"/>
            <a:ext cx="3111500" cy="338554"/>
          </a:xfrm>
          <a:prstGeom prst="rect">
            <a:avLst/>
          </a:prstGeom>
          <a:noFill/>
        </p:spPr>
        <p:txBody>
          <a:bodyPr vert="horz" wrap="square" lIns="0" tIns="0" rIns="0" bIns="0" rtlCol="0">
            <a:spAutoFit/>
          </a:bodyPr>
          <a:lstStyle/>
          <a:p>
            <a:r>
              <a:rPr lang="en-US" sz="2200">
                <a:solidFill>
                  <a:srgbClr val="CCDDEC"/>
                </a:solidFill>
                <a:latin typeface="Aptos"/>
              </a:rPr>
              <a:t>3  PCM WAV samples</a:t>
            </a:r>
          </a:p>
        </p:txBody>
      </p:sp>
      <p:cxnSp>
        <p:nvCxnSpPr>
          <p:cNvPr id="11" name="Straight Connector 10">
            <a:extLst>
              <a:ext uri="{FF2B5EF4-FFF2-40B4-BE49-F238E27FC236}">
                <a16:creationId xmlns:a16="http://schemas.microsoft.com/office/drawing/2014/main" id="{E6FF0F83-D269-4B12-B33D-DF8B8887B36C}"/>
              </a:ext>
            </a:extLst>
          </p:cNvPr>
          <p:cNvCxnSpPr/>
          <p:nvPr/>
        </p:nvCxnSpPr>
        <p:spPr>
          <a:xfrm>
            <a:off x="3733800" y="2578100"/>
            <a:ext cx="444500" cy="0"/>
          </a:xfrm>
          <a:prstGeom prst="line">
            <a:avLst/>
          </a:prstGeom>
          <a:ln w="254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5A0D9AF-8C13-4D2C-A27C-332A36AD3137}"/>
              </a:ext>
            </a:extLst>
          </p:cNvPr>
          <p:cNvCxnSpPr/>
          <p:nvPr/>
        </p:nvCxnSpPr>
        <p:spPr>
          <a:xfrm>
            <a:off x="7696200" y="2578100"/>
            <a:ext cx="393700" cy="0"/>
          </a:xfrm>
          <a:prstGeom prst="line">
            <a:avLst/>
          </a:prstGeom>
          <a:ln w="25400">
            <a:solidFill>
              <a:srgbClr val="264B6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20184E0-418D-4258-A894-FCC3460C366B}"/>
              </a:ext>
            </a:extLst>
          </p:cNvPr>
          <p:cNvSpPr txBox="1"/>
          <p:nvPr/>
        </p:nvSpPr>
        <p:spPr>
          <a:xfrm>
            <a:off x="787400" y="3187700"/>
            <a:ext cx="10604500" cy="276999"/>
          </a:xfrm>
          <a:prstGeom prst="rect">
            <a:avLst/>
          </a:prstGeom>
          <a:noFill/>
        </p:spPr>
        <p:txBody>
          <a:bodyPr vert="horz" wrap="square" lIns="0" tIns="0" rIns="0" bIns="0" rtlCol="0">
            <a:spAutoFit/>
          </a:bodyPr>
          <a:lstStyle/>
          <a:p>
            <a:r>
              <a:rPr lang="en-US">
                <a:solidFill>
                  <a:srgbClr val="85A0B8"/>
                </a:solidFill>
                <a:latin typeface="Aptos"/>
              </a:rPr>
              <a:t>Recovery needs the password and unchanged sample values.</a:t>
            </a:r>
          </a:p>
        </p:txBody>
      </p:sp>
      <p:cxnSp>
        <p:nvCxnSpPr>
          <p:cNvPr id="14" name="Straight Connector 13">
            <a:extLst>
              <a:ext uri="{FF2B5EF4-FFF2-40B4-BE49-F238E27FC236}">
                <a16:creationId xmlns:a16="http://schemas.microsoft.com/office/drawing/2014/main" id="{D843F084-CD15-47A7-AFFB-A7C7E6A564A9}"/>
              </a:ext>
            </a:extLst>
          </p:cNvPr>
          <p:cNvCxnSpPr/>
          <p:nvPr/>
        </p:nvCxnSpPr>
        <p:spPr>
          <a:xfrm>
            <a:off x="787400" y="3975100"/>
            <a:ext cx="106172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941B58A-22AF-4495-BCCA-C6515E790E4A}"/>
              </a:ext>
            </a:extLst>
          </p:cNvPr>
          <p:cNvSpPr txBox="1"/>
          <p:nvPr/>
        </p:nvSpPr>
        <p:spPr>
          <a:xfrm>
            <a:off x="787400" y="4267200"/>
            <a:ext cx="3937000" cy="415498"/>
          </a:xfrm>
          <a:prstGeom prst="rect">
            <a:avLst/>
          </a:prstGeom>
          <a:noFill/>
        </p:spPr>
        <p:txBody>
          <a:bodyPr vert="horz" wrap="square" lIns="0" tIns="0" rIns="0" bIns="0" rtlCol="0">
            <a:spAutoFit/>
          </a:bodyPr>
          <a:lstStyle/>
          <a:p>
            <a:r>
              <a:rPr lang="en-US" sz="2700" b="1">
                <a:solidFill>
                  <a:srgbClr val="FF64A5"/>
                </a:solidFill>
                <a:latin typeface="Bahnschrift" panose="020B0502040204020203" pitchFamily="34" charset="0"/>
              </a:rPr>
              <a:t>Steganography</a:t>
            </a:r>
          </a:p>
        </p:txBody>
      </p:sp>
      <p:sp>
        <p:nvSpPr>
          <p:cNvPr id="16" name="TextBox 15">
            <a:extLst>
              <a:ext uri="{FF2B5EF4-FFF2-40B4-BE49-F238E27FC236}">
                <a16:creationId xmlns:a16="http://schemas.microsoft.com/office/drawing/2014/main" id="{6D59C03B-D495-4A8A-96B6-2C2722474F0C}"/>
              </a:ext>
            </a:extLst>
          </p:cNvPr>
          <p:cNvSpPr txBox="1"/>
          <p:nvPr/>
        </p:nvSpPr>
        <p:spPr>
          <a:xfrm>
            <a:off x="787400" y="4978400"/>
            <a:ext cx="3175000" cy="338554"/>
          </a:xfrm>
          <a:prstGeom prst="rect">
            <a:avLst/>
          </a:prstGeom>
          <a:noFill/>
        </p:spPr>
        <p:txBody>
          <a:bodyPr vert="horz" wrap="square" lIns="0" tIns="0" rIns="0" bIns="0" rtlCol="0">
            <a:spAutoFit/>
          </a:bodyPr>
          <a:lstStyle/>
          <a:p>
            <a:r>
              <a:rPr lang="en-US" sz="2200">
                <a:solidFill>
                  <a:srgbClr val="CCDDEC"/>
                </a:solidFill>
                <a:latin typeface="Aptos"/>
              </a:rPr>
              <a:t>1  UTF-8 message bits</a:t>
            </a:r>
          </a:p>
        </p:txBody>
      </p:sp>
      <p:sp>
        <p:nvSpPr>
          <p:cNvPr id="17" name="TextBox 16">
            <a:extLst>
              <a:ext uri="{FF2B5EF4-FFF2-40B4-BE49-F238E27FC236}">
                <a16:creationId xmlns:a16="http://schemas.microsoft.com/office/drawing/2014/main" id="{300D32E1-DE8E-4C1F-B9E8-ACB7BA2B28EC}"/>
              </a:ext>
            </a:extLst>
          </p:cNvPr>
          <p:cNvSpPr txBox="1"/>
          <p:nvPr/>
        </p:nvSpPr>
        <p:spPr>
          <a:xfrm>
            <a:off x="4330700" y="4978400"/>
            <a:ext cx="3530600" cy="338554"/>
          </a:xfrm>
          <a:prstGeom prst="rect">
            <a:avLst/>
          </a:prstGeom>
          <a:noFill/>
        </p:spPr>
        <p:txBody>
          <a:bodyPr vert="horz" wrap="square" lIns="0" tIns="0" rIns="0" bIns="0" rtlCol="0">
            <a:spAutoFit/>
          </a:bodyPr>
          <a:lstStyle/>
          <a:p>
            <a:r>
              <a:rPr lang="en-US" sz="2200">
                <a:solidFill>
                  <a:srgbClr val="CCDDEC"/>
                </a:solidFill>
                <a:latin typeface="Aptos"/>
              </a:rPr>
              <a:t>2  FFT magnitude parity</a:t>
            </a:r>
          </a:p>
        </p:txBody>
      </p:sp>
      <p:sp>
        <p:nvSpPr>
          <p:cNvPr id="18" name="TextBox 17">
            <a:extLst>
              <a:ext uri="{FF2B5EF4-FFF2-40B4-BE49-F238E27FC236}">
                <a16:creationId xmlns:a16="http://schemas.microsoft.com/office/drawing/2014/main" id="{9FB21013-DF1A-4EC1-B73F-C9A1602775E2}"/>
              </a:ext>
            </a:extLst>
          </p:cNvPr>
          <p:cNvSpPr txBox="1"/>
          <p:nvPr/>
        </p:nvSpPr>
        <p:spPr>
          <a:xfrm>
            <a:off x="8242300" y="4978400"/>
            <a:ext cx="3111500" cy="338554"/>
          </a:xfrm>
          <a:prstGeom prst="rect">
            <a:avLst/>
          </a:prstGeom>
          <a:noFill/>
        </p:spPr>
        <p:txBody>
          <a:bodyPr vert="horz" wrap="square" lIns="0" tIns="0" rIns="0" bIns="0" rtlCol="0">
            <a:spAutoFit/>
          </a:bodyPr>
          <a:lstStyle/>
          <a:p>
            <a:r>
              <a:rPr lang="en-US" sz="2200">
                <a:solidFill>
                  <a:srgbClr val="CCDDEC"/>
                </a:solidFill>
                <a:latin typeface="Aptos"/>
              </a:rPr>
              <a:t>3  Playable WAV</a:t>
            </a:r>
          </a:p>
        </p:txBody>
      </p:sp>
      <p:cxnSp>
        <p:nvCxnSpPr>
          <p:cNvPr id="19" name="Straight Connector 18">
            <a:extLst>
              <a:ext uri="{FF2B5EF4-FFF2-40B4-BE49-F238E27FC236}">
                <a16:creationId xmlns:a16="http://schemas.microsoft.com/office/drawing/2014/main" id="{9F09988D-B9C0-4E49-B4AF-1FD45D2441B5}"/>
              </a:ext>
            </a:extLst>
          </p:cNvPr>
          <p:cNvCxnSpPr/>
          <p:nvPr/>
        </p:nvCxnSpPr>
        <p:spPr>
          <a:xfrm>
            <a:off x="3733800" y="5295900"/>
            <a:ext cx="444500" cy="0"/>
          </a:xfrm>
          <a:prstGeom prst="line">
            <a:avLst/>
          </a:prstGeom>
          <a:ln w="254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35F23F7-C4DA-4A06-AE90-7B7BD62D24B2}"/>
              </a:ext>
            </a:extLst>
          </p:cNvPr>
          <p:cNvCxnSpPr/>
          <p:nvPr/>
        </p:nvCxnSpPr>
        <p:spPr>
          <a:xfrm>
            <a:off x="7696200" y="5295900"/>
            <a:ext cx="393700" cy="0"/>
          </a:xfrm>
          <a:prstGeom prst="line">
            <a:avLst/>
          </a:prstGeom>
          <a:ln w="25400">
            <a:solidFill>
              <a:srgbClr val="FF64A5"/>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49B009-91E9-490A-BB21-F36647414EA1}"/>
              </a:ext>
            </a:extLst>
          </p:cNvPr>
          <p:cNvSpPr txBox="1"/>
          <p:nvPr/>
        </p:nvSpPr>
        <p:spPr>
          <a:xfrm>
            <a:off x="787400" y="5943600"/>
            <a:ext cx="10604500" cy="276999"/>
          </a:xfrm>
          <a:prstGeom prst="rect">
            <a:avLst/>
          </a:prstGeom>
          <a:noFill/>
        </p:spPr>
        <p:txBody>
          <a:bodyPr vert="horz" wrap="square" lIns="0" tIns="0" rIns="0" bIns="0" rtlCol="0">
            <a:spAutoFit/>
          </a:bodyPr>
          <a:lstStyle/>
          <a:p>
            <a:r>
              <a:rPr lang="en-US">
                <a:solidFill>
                  <a:srgbClr val="85A0B8"/>
                </a:solidFill>
                <a:latin typeface="Aptos"/>
              </a:rPr>
              <a:t>Three copies per bit help extraction; the message is not encrypted.</a:t>
            </a:r>
          </a:p>
        </p:txBody>
      </p:sp>
      <p:sp>
        <p:nvSpPr>
          <p:cNvPr id="22" name="Rectangle 21">
            <a:extLst>
              <a:ext uri="{FF2B5EF4-FFF2-40B4-BE49-F238E27FC236}">
                <a16:creationId xmlns:a16="http://schemas.microsoft.com/office/drawing/2014/main" id="{4CB30235-A372-4980-AEBA-9BEC61A9059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D14065C-5814-4ACD-9688-78C3AEB726B0}"/>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11</a:t>
            </a:r>
          </a:p>
        </p:txBody>
      </p:sp>
    </p:spTree>
    <p:extLst>
      <p:ext uri="{BB962C8B-B14F-4D97-AF65-F5344CB8AC3E}">
        <p14:creationId xmlns:p14="http://schemas.microsoft.com/office/powerpoint/2010/main" val="3444313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48E8B3-7ABF-4EDA-BD7E-C94E226022C7}"/>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DE48DB-2634-473A-9867-6470B9556919}"/>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Results and limits</a:t>
            </a:r>
          </a:p>
        </p:txBody>
      </p:sp>
      <p:cxnSp>
        <p:nvCxnSpPr>
          <p:cNvPr id="4" name="Straight Connector 3">
            <a:extLst>
              <a:ext uri="{FF2B5EF4-FFF2-40B4-BE49-F238E27FC236}">
                <a16:creationId xmlns:a16="http://schemas.microsoft.com/office/drawing/2014/main" id="{802453A6-2608-4C7A-88C4-5D4D57956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1D8BD4F-C953-4B6B-B537-6A95D21E7BE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83C82A2-01C5-4036-A6C8-756E5A7E0DBC}"/>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12</a:t>
            </a:r>
          </a:p>
        </p:txBody>
      </p:sp>
      <p:sp>
        <p:nvSpPr>
          <p:cNvPr id="7" name="TextBox 6">
            <a:extLst>
              <a:ext uri="{FF2B5EF4-FFF2-40B4-BE49-F238E27FC236}">
                <a16:creationId xmlns:a16="http://schemas.microsoft.com/office/drawing/2014/main" id="{134961D9-FE06-478D-900C-F7A09D26F66A}"/>
              </a:ext>
            </a:extLst>
          </p:cNvPr>
          <p:cNvSpPr txBox="1"/>
          <p:nvPr/>
        </p:nvSpPr>
        <p:spPr>
          <a:xfrm>
            <a:off x="774700" y="1498600"/>
            <a:ext cx="10287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What the examples show</a:t>
            </a:r>
          </a:p>
        </p:txBody>
      </p:sp>
      <p:sp>
        <p:nvSpPr>
          <p:cNvPr id="8" name="TextBox 7">
            <a:extLst>
              <a:ext uri="{FF2B5EF4-FFF2-40B4-BE49-F238E27FC236}">
                <a16:creationId xmlns:a16="http://schemas.microsoft.com/office/drawing/2014/main" id="{694D0956-172B-45C7-A51E-17DDB93470B6}"/>
              </a:ext>
            </a:extLst>
          </p:cNvPr>
          <p:cNvSpPr txBox="1"/>
          <p:nvPr/>
        </p:nvSpPr>
        <p:spPr>
          <a:xfrm>
            <a:off x="774700" y="2133600"/>
            <a:ext cx="10604500" cy="323165"/>
          </a:xfrm>
          <a:prstGeom prst="rect">
            <a:avLst/>
          </a:prstGeom>
          <a:noFill/>
        </p:spPr>
        <p:txBody>
          <a:bodyPr vert="horz" wrap="square" lIns="0" tIns="0" rIns="0" bIns="0" rtlCol="0">
            <a:spAutoFit/>
          </a:bodyPr>
          <a:lstStyle/>
          <a:p>
            <a:r>
              <a:rPr lang="en-US" sz="2100">
                <a:solidFill>
                  <a:srgbClr val="CCDDEC"/>
                </a:solidFill>
                <a:latin typeface="Aptos"/>
              </a:rPr>
              <a:t>a0001.wav: repeating sound bursts become candidate S1/S2 cycles after smoothing.</a:t>
            </a:r>
          </a:p>
        </p:txBody>
      </p:sp>
      <p:sp>
        <p:nvSpPr>
          <p:cNvPr id="9" name="TextBox 8">
            <a:extLst>
              <a:ext uri="{FF2B5EF4-FFF2-40B4-BE49-F238E27FC236}">
                <a16:creationId xmlns:a16="http://schemas.microsoft.com/office/drawing/2014/main" id="{22148F1C-2D73-4188-91D9-477D3754C592}"/>
              </a:ext>
            </a:extLst>
          </p:cNvPr>
          <p:cNvSpPr txBox="1"/>
          <p:nvPr/>
        </p:nvSpPr>
        <p:spPr>
          <a:xfrm>
            <a:off x="774700" y="3022600"/>
            <a:ext cx="10604500" cy="646331"/>
          </a:xfrm>
          <a:prstGeom prst="rect">
            <a:avLst/>
          </a:prstGeom>
          <a:noFill/>
        </p:spPr>
        <p:txBody>
          <a:bodyPr vert="horz" wrap="square" lIns="0" tIns="0" rIns="0" bIns="0" rtlCol="0">
            <a:spAutoFit/>
          </a:bodyPr>
          <a:lstStyle/>
          <a:p>
            <a:r>
              <a:rPr lang="en-US" sz="2100">
                <a:solidFill>
                  <a:srgbClr val="CCDDEC"/>
                </a:solidFill>
                <a:latin typeface="Aptos"/>
              </a:rPr>
              <a:t>Wake Me Up.mp3: waveform, spectrum and spectrogram reveal different properties of the same ten seconds.</a:t>
            </a:r>
          </a:p>
        </p:txBody>
      </p:sp>
      <p:cxnSp>
        <p:nvCxnSpPr>
          <p:cNvPr id="10" name="Straight Connector 9">
            <a:extLst>
              <a:ext uri="{FF2B5EF4-FFF2-40B4-BE49-F238E27FC236}">
                <a16:creationId xmlns:a16="http://schemas.microsoft.com/office/drawing/2014/main" id="{D356AE05-75E4-4AA6-9CCA-9137C6714E54}"/>
              </a:ext>
            </a:extLst>
          </p:cNvPr>
          <p:cNvCxnSpPr/>
          <p:nvPr/>
        </p:nvCxnSpPr>
        <p:spPr>
          <a:xfrm>
            <a:off x="774700" y="4114800"/>
            <a:ext cx="106426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C6D189-558F-4E23-8DF8-57167EA87428}"/>
              </a:ext>
            </a:extLst>
          </p:cNvPr>
          <p:cNvSpPr txBox="1"/>
          <p:nvPr/>
        </p:nvSpPr>
        <p:spPr>
          <a:xfrm>
            <a:off x="774700" y="4419600"/>
            <a:ext cx="10541000" cy="384721"/>
          </a:xfrm>
          <a:prstGeom prst="rect">
            <a:avLst/>
          </a:prstGeom>
          <a:noFill/>
        </p:spPr>
        <p:txBody>
          <a:bodyPr vert="horz" wrap="square" lIns="0" tIns="0" rIns="0" bIns="0" rtlCol="0">
            <a:spAutoFit/>
          </a:bodyPr>
          <a:lstStyle/>
          <a:p>
            <a:r>
              <a:rPr lang="en-US" sz="2500" b="1">
                <a:solidFill>
                  <a:srgbClr val="FF64A5"/>
                </a:solidFill>
                <a:latin typeface="Bahnschrift" panose="020B0502040204020203" pitchFamily="34" charset="0"/>
              </a:rPr>
              <a:t>What the algorithms cannot prove</a:t>
            </a:r>
          </a:p>
        </p:txBody>
      </p:sp>
      <p:sp>
        <p:nvSpPr>
          <p:cNvPr id="12" name="TextBox 11">
            <a:extLst>
              <a:ext uri="{FF2B5EF4-FFF2-40B4-BE49-F238E27FC236}">
                <a16:creationId xmlns:a16="http://schemas.microsoft.com/office/drawing/2014/main" id="{B1E9520E-BD50-4B87-B695-C74AEDCE2883}"/>
              </a:ext>
            </a:extLst>
          </p:cNvPr>
          <p:cNvSpPr txBox="1"/>
          <p:nvPr/>
        </p:nvSpPr>
        <p:spPr>
          <a:xfrm>
            <a:off x="774700" y="5118100"/>
            <a:ext cx="10604500" cy="646331"/>
          </a:xfrm>
          <a:prstGeom prst="rect">
            <a:avLst/>
          </a:prstGeom>
          <a:noFill/>
        </p:spPr>
        <p:txBody>
          <a:bodyPr vert="horz" wrap="square" lIns="0" tIns="0" rIns="0" bIns="0" rtlCol="0">
            <a:spAutoFit/>
          </a:bodyPr>
          <a:lstStyle/>
          <a:p>
            <a:r>
              <a:rPr lang="en-US" sz="2100">
                <a:solidFill>
                  <a:srgbClr val="CCDDEC"/>
                </a:solidFill>
                <a:latin typeface="Aptos"/>
              </a:rPr>
              <a:t>Heart labels are timing estimates. Onset and echo peaks can come from other repeating sounds. Encryption needs an unchanged PCM carrier.</a:t>
            </a:r>
          </a:p>
        </p:txBody>
      </p:sp>
      <p:sp>
        <p:nvSpPr>
          <p:cNvPr id="13" name="TextBox 12">
            <a:extLst>
              <a:ext uri="{FF2B5EF4-FFF2-40B4-BE49-F238E27FC236}">
                <a16:creationId xmlns:a16="http://schemas.microsoft.com/office/drawing/2014/main" id="{E8924948-9B0C-4816-B60A-8634E00F2DCA}"/>
              </a:ext>
            </a:extLst>
          </p:cNvPr>
          <p:cNvSpPr txBox="1"/>
          <p:nvPr/>
        </p:nvSpPr>
        <p:spPr>
          <a:xfrm>
            <a:off x="774700" y="6159500"/>
            <a:ext cx="10604500" cy="261610"/>
          </a:xfrm>
          <a:prstGeom prst="rect">
            <a:avLst/>
          </a:prstGeom>
          <a:noFill/>
        </p:spPr>
        <p:txBody>
          <a:bodyPr vert="horz" wrap="square" lIns="0" tIns="0" rIns="0" bIns="0" rtlCol="0">
            <a:spAutoFit/>
          </a:bodyPr>
          <a:lstStyle/>
          <a:p>
            <a:r>
              <a:rPr lang="en-US" sz="1700">
                <a:solidFill>
                  <a:srgbClr val="85A0B8"/>
                </a:solidFill>
                <a:latin typeface="Aptos"/>
              </a:rPr>
              <a:t>Demo path: heart upload, filter and markers, then song analysis views.</a:t>
            </a:r>
          </a:p>
        </p:txBody>
      </p:sp>
      <p:sp>
        <p:nvSpPr>
          <p:cNvPr id="14" name="Rectangle 13">
            <a:extLst>
              <a:ext uri="{FF2B5EF4-FFF2-40B4-BE49-F238E27FC236}">
                <a16:creationId xmlns:a16="http://schemas.microsoft.com/office/drawing/2014/main" id="{093E769D-E186-47C6-9F72-7307ACEE4D1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C1D057C-989E-45E1-AC0E-0560B9208D20}"/>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12</a:t>
            </a:r>
          </a:p>
        </p:txBody>
      </p:sp>
    </p:spTree>
    <p:extLst>
      <p:ext uri="{BB962C8B-B14F-4D97-AF65-F5344CB8AC3E}">
        <p14:creationId xmlns:p14="http://schemas.microsoft.com/office/powerpoint/2010/main" val="2554217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Words>
  <Application>Microsoft Office PowerPoint</Application>
  <PresentationFormat>Widescreen</PresentationFormat>
  <Paragraphs>112</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Bahnschrift</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Rakib Hassan</dc:creator>
  <cp:lastModifiedBy>Rakib Hassan</cp:lastModifiedBy>
  <cp:revision>2</cp:revision>
  <dcterms:created xsi:type="dcterms:W3CDTF">2026-09-25T16:02:10Z</dcterms:created>
  <dcterms:modified xsi:type="dcterms:W3CDTF">2026-09-25T16:25:19Z</dcterms:modified>
</cp:coreProperties>
</file>