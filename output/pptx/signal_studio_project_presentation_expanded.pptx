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8" r:id="rId10"/>
    <p:sldId id="269" r:id="rId11"/>
    <p:sldId id="270" r:id="rId12"/>
    <p:sldId id="264" r:id="rId13"/>
    <p:sldId id="265" r:id="rId14"/>
    <p:sldId id="266" r:id="rId15"/>
    <p:sldId id="271"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DB407-894A-4CD0-AD45-6C68018E116E}"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89E236-B6B3-4712-A06A-994BBBF0D2D2}" type="slidenum">
              <a:rPr lang="en-US" smtClean="0"/>
              <a:t>‹#›</a:t>
            </a:fld>
            <a:endParaRPr lang="en-US"/>
          </a:p>
        </p:txBody>
      </p:sp>
    </p:spTree>
    <p:extLst>
      <p:ext uri="{BB962C8B-B14F-4D97-AF65-F5344CB8AC3E}">
        <p14:creationId xmlns:p14="http://schemas.microsoft.com/office/powerpoint/2010/main" val="199067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project as an educational signal-processing application. The examples in this deck come from the supplied MP3 and data/training/training-a/a0001.wav. The song plots use the 50–60 second excerpt.</a:t>
            </a:r>
          </a:p>
        </p:txBody>
      </p:sp>
      <p:sp>
        <p:nvSpPr>
          <p:cNvPr id="4" name="Slide Number Placeholder 3"/>
          <p:cNvSpPr>
            <a:spLocks noGrp="1"/>
          </p:cNvSpPr>
          <p:nvPr>
            <p:ph type="sldNum" sz="quarter" idx="5"/>
          </p:nvPr>
        </p:nvSpPr>
        <p:spPr/>
        <p:txBody>
          <a:bodyPr/>
          <a:lstStyle/>
          <a:p>
            <a:fld id="{7C89E236-B6B3-4712-A06A-994BBBF0D2D2}" type="slidenum">
              <a:rPr lang="en-US" smtClean="0"/>
              <a:t>1</a:t>
            </a:fld>
            <a:endParaRPr lang="en-US"/>
          </a:p>
        </p:txBody>
      </p:sp>
    </p:spTree>
    <p:extLst>
      <p:ext uri="{BB962C8B-B14F-4D97-AF65-F5344CB8AC3E}">
        <p14:creationId xmlns:p14="http://schemas.microsoft.com/office/powerpoint/2010/main" val="2807945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a0001.wav, mono, 2,000 Hz, duration 35.666 seconds. dashboard.py uses np.arange(len(signal))/sample_rate for the waveform time axis. Clarify that the dots are a display subset; the underlying recording has 2,000 samples per second.</a:t>
            </a:r>
          </a:p>
        </p:txBody>
      </p:sp>
      <p:sp>
        <p:nvSpPr>
          <p:cNvPr id="4" name="Slide Number Placeholder 3"/>
          <p:cNvSpPr>
            <a:spLocks noGrp="1"/>
          </p:cNvSpPr>
          <p:nvPr>
            <p:ph type="sldNum" sz="quarter" idx="5"/>
          </p:nvPr>
        </p:nvSpPr>
        <p:spPr/>
        <p:txBody>
          <a:bodyPr/>
          <a:lstStyle/>
          <a:p>
            <a:fld id="{7C89E236-B6B3-4712-A06A-994BBBF0D2D2}" type="slidenum">
              <a:rPr lang="en-US" smtClean="0"/>
              <a:t>2</a:t>
            </a:fld>
            <a:endParaRPr lang="en-US"/>
          </a:p>
        </p:txBody>
      </p:sp>
    </p:spTree>
    <p:extLst>
      <p:ext uri="{BB962C8B-B14F-4D97-AF65-F5344CB8AC3E}">
        <p14:creationId xmlns:p14="http://schemas.microsoft.com/office/powerpoint/2010/main" val="3048254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map of the five workspaces. Heart sounds uses filtering and timing. The audio analyzer shows waveform, spectrum, spectrogram, effects, pitch, and comparison. The crypto page encrypts original file bytes into a reversible WAV carrier. Steganography hides text bits in selected FFT magnitudes. The Echo Detector examines repetition using autocorrelation. Use this map to orient the audience before the detailed examples.</a:t>
            </a:r>
          </a:p>
        </p:txBody>
      </p:sp>
      <p:sp>
        <p:nvSpPr>
          <p:cNvPr id="4" name="Slide Number Placeholder 3"/>
          <p:cNvSpPr>
            <a:spLocks noGrp="1"/>
          </p:cNvSpPr>
          <p:nvPr>
            <p:ph type="sldNum" sz="quarter" idx="5"/>
          </p:nvPr>
        </p:nvSpPr>
        <p:spPr/>
        <p:txBody>
          <a:bodyPr/>
          <a:lstStyle/>
          <a:p>
            <a:fld id="{7C89E236-B6B3-4712-A06A-994BBBF0D2D2}" type="slidenum">
              <a:rPr lang="en-US" smtClean="0"/>
              <a:t>3</a:t>
            </a:fld>
            <a:endParaRPr lang="en-US"/>
          </a:p>
        </p:txBody>
      </p:sp>
    </p:spTree>
    <p:extLst>
      <p:ext uri="{BB962C8B-B14F-4D97-AF65-F5344CB8AC3E}">
        <p14:creationId xmlns:p14="http://schemas.microsoft.com/office/powerpoint/2010/main" val="20958921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figure uses a0001.wav, 2,000 Hz. For the slide preview, a zero-phase 20–150 Hz bandpass and a smoothed rectified envelope were computed in JavaScript; the app performs its own SciPy Butterworth and filtfilt operations. Code: models/transforms.py design_digital_filter, models/filters.py apply_bandpass_filter, models/peak_detection.py get_envelope and detect_peaks. Explain that the envelope merges many waveform oscillations into a sound event.</a:t>
            </a:r>
          </a:p>
        </p:txBody>
      </p:sp>
      <p:sp>
        <p:nvSpPr>
          <p:cNvPr id="4" name="Slide Number Placeholder 3"/>
          <p:cNvSpPr>
            <a:spLocks noGrp="1"/>
          </p:cNvSpPr>
          <p:nvPr>
            <p:ph type="sldNum" sz="quarter" idx="5"/>
          </p:nvPr>
        </p:nvSpPr>
        <p:spPr/>
        <p:txBody>
          <a:bodyPr/>
          <a:lstStyle/>
          <a:p>
            <a:fld id="{7C89E236-B6B3-4712-A06A-994BBBF0D2D2}" type="slidenum">
              <a:rPr lang="en-US" smtClean="0"/>
              <a:t>4</a:t>
            </a:fld>
            <a:endParaRPr lang="en-US"/>
          </a:p>
        </p:txBody>
      </p:sp>
    </p:spTree>
    <p:extLst>
      <p:ext uri="{BB962C8B-B14F-4D97-AF65-F5344CB8AC3E}">
        <p14:creationId xmlns:p14="http://schemas.microsoft.com/office/powerpoint/2010/main" val="447284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displayed preview identifies alternating bursts around 0.41, 0.78, 1.40 and 1.77 seconds. A full S1–S2–S1 cycle gives one beat. models/peak_detection.py classify_s1_s2 uses plausible short and long gap rules. calculate_heart_rate uses the median complete S1-to-S1 interval. These labels and BPM are educational estimates, not medical diagnoses.</a:t>
            </a:r>
          </a:p>
        </p:txBody>
      </p:sp>
      <p:sp>
        <p:nvSpPr>
          <p:cNvPr id="4" name="Slide Number Placeholder 3"/>
          <p:cNvSpPr>
            <a:spLocks noGrp="1"/>
          </p:cNvSpPr>
          <p:nvPr>
            <p:ph type="sldNum" sz="quarter" idx="5"/>
          </p:nvPr>
        </p:nvSpPr>
        <p:spPr/>
        <p:txBody>
          <a:bodyPr/>
          <a:lstStyle/>
          <a:p>
            <a:fld id="{7C89E236-B6B3-4712-A06A-994BBBF0D2D2}" type="slidenum">
              <a:rPr lang="en-US" smtClean="0"/>
              <a:t>5</a:t>
            </a:fld>
            <a:endParaRPr lang="en-US"/>
          </a:p>
        </p:txBody>
      </p:sp>
    </p:spTree>
    <p:extLst>
      <p:ext uri="{BB962C8B-B14F-4D97-AF65-F5344CB8AC3E}">
        <p14:creationId xmlns:p14="http://schemas.microsoft.com/office/powerpoint/2010/main" val="3440759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supplied Avicii Wake Me Up MP3. Chrome decoded the file at 48,000 Hz, stereo, duration about 272.46 seconds. These graphs use channel 1 from seconds 50–60. Waveform shows amplitude vs time; RMS uses short blocks for level; the spectrum averages 32 FFT windows across the excerpt; the spectrogram shows frequency changing over time. The plotted preview is separate from the app output but illustrates the same signal properties. audio_processing.py has RMS, Welch spectrum and STFT functions.</a:t>
            </a:r>
          </a:p>
        </p:txBody>
      </p:sp>
      <p:sp>
        <p:nvSpPr>
          <p:cNvPr id="4" name="Slide Number Placeholder 3"/>
          <p:cNvSpPr>
            <a:spLocks noGrp="1"/>
          </p:cNvSpPr>
          <p:nvPr>
            <p:ph type="sldNum" sz="quarter" idx="5"/>
          </p:nvPr>
        </p:nvSpPr>
        <p:spPr/>
        <p:txBody>
          <a:bodyPr/>
          <a:lstStyle/>
          <a:p>
            <a:fld id="{7C89E236-B6B3-4712-A06A-994BBBF0D2D2}" type="slidenum">
              <a:rPr lang="en-US" smtClean="0"/>
              <a:t>6</a:t>
            </a:fld>
            <a:endParaRPr lang="en-US"/>
          </a:p>
        </p:txBody>
      </p:sp>
    </p:spTree>
    <p:extLst>
      <p:ext uri="{BB962C8B-B14F-4D97-AF65-F5344CB8AC3E}">
        <p14:creationId xmlns:p14="http://schemas.microsoft.com/office/powerpoint/2010/main" val="591448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plot uses the song excerpt. The gray spectrum is measured from a window in the supplied MP3; the teal curve is a theoretical fourth-order Butterworth low-pass response applied to that spectrum. It is an illustration, not a processed export from the app. audio_processing.py frequency_filter validates cutoffs against Nyquist, designs SOS sections and applies sosfiltfilt. Mention that cutoff is gradual rather than a hard boundary.</a:t>
            </a:r>
          </a:p>
        </p:txBody>
      </p:sp>
      <p:sp>
        <p:nvSpPr>
          <p:cNvPr id="4" name="Slide Number Placeholder 3"/>
          <p:cNvSpPr>
            <a:spLocks noGrp="1"/>
          </p:cNvSpPr>
          <p:nvPr>
            <p:ph type="sldNum" sz="quarter" idx="5"/>
          </p:nvPr>
        </p:nvSpPr>
        <p:spPr/>
        <p:txBody>
          <a:bodyPr/>
          <a:lstStyle/>
          <a:p>
            <a:fld id="{7C89E236-B6B3-4712-A06A-994BBBF0D2D2}" type="slidenum">
              <a:rPr lang="en-US" smtClean="0"/>
              <a:t>7</a:t>
            </a:fld>
            <a:endParaRPr lang="en-US"/>
          </a:p>
        </p:txBody>
      </p:sp>
    </p:spTree>
    <p:extLst>
      <p:ext uri="{BB962C8B-B14F-4D97-AF65-F5344CB8AC3E}">
        <p14:creationId xmlns:p14="http://schemas.microsoft.com/office/powerpoint/2010/main" val="4135198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Delay uses a time shift. The code in audio_processing.py calculates offset as delay_seconds times sample_rate, then adds one amplitude-scaled copy. A 0.3-second delay at 44.1 kHz is 13,230 samples. The timeline is schematic. In the app, choose Rooms &amp; effects, then Delay.</a:t>
            </a:r>
          </a:p>
        </p:txBody>
      </p:sp>
      <p:sp>
        <p:nvSpPr>
          <p:cNvPr id="4" name="Slide Number Placeholder 3"/>
          <p:cNvSpPr>
            <a:spLocks noGrp="1"/>
          </p:cNvSpPr>
          <p:nvPr>
            <p:ph type="sldNum" sz="quarter" idx="5"/>
          </p:nvPr>
        </p:nvSpPr>
        <p:spPr/>
        <p:txBody>
          <a:bodyPr/>
          <a:lstStyle/>
          <a:p>
            <a:fld id="{7C89E236-B6B3-4712-A06A-994BBBF0D2D2}" type="slidenum">
              <a:rPr lang="en-US" smtClean="0"/>
              <a:t>8</a:t>
            </a:fld>
            <a:endParaRPr lang="en-US"/>
          </a:p>
        </p:txBody>
      </p:sp>
    </p:spTree>
    <p:extLst>
      <p:ext uri="{BB962C8B-B14F-4D97-AF65-F5344CB8AC3E}">
        <p14:creationId xmlns:p14="http://schemas.microsoft.com/office/powerpoint/2010/main" val="20731668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Echo uses the same delay offset but four repeats in audio_processing.py. Each repeat is multiplied by amount raised to its repeat number, so an amount below 1 gives a decaying tail. The 0.3-second spacing in the diagram is an example; it is set by the time slider. Distinguish this effect from the separate Echo Detector, which looks for repeated delays in an existing recording.</a:t>
            </a:r>
          </a:p>
        </p:txBody>
      </p:sp>
      <p:sp>
        <p:nvSpPr>
          <p:cNvPr id="4" name="Slide Number Placeholder 3"/>
          <p:cNvSpPr>
            <a:spLocks noGrp="1"/>
          </p:cNvSpPr>
          <p:nvPr>
            <p:ph type="sldNum" sz="quarter" idx="5"/>
          </p:nvPr>
        </p:nvSpPr>
        <p:spPr/>
        <p:txBody>
          <a:bodyPr/>
          <a:lstStyle/>
          <a:p>
            <a:fld id="{7C89E236-B6B3-4712-A06A-994BBBF0D2D2}" type="slidenum">
              <a:rPr lang="en-US" smtClean="0"/>
              <a:t>9</a:t>
            </a:fld>
            <a:endParaRPr lang="en-US"/>
          </a:p>
        </p:txBody>
      </p:sp>
    </p:spTree>
    <p:extLst>
      <p:ext uri="{BB962C8B-B14F-4D97-AF65-F5344CB8AC3E}">
        <p14:creationId xmlns:p14="http://schemas.microsoft.com/office/powerpoint/2010/main" val="2079823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Tremolo is amplitude modulation. The original waveform is multiplied by a gain that follows a sine wave. audio_processing.py uses rate=max(0.2, delay_seconds*10); that shared slider becomes tremolo speed. The diagram is schematic, not the exact song waveform. Unlike delay or echo, tremolo does not place new copies later in time.</a:t>
            </a:r>
          </a:p>
        </p:txBody>
      </p:sp>
      <p:sp>
        <p:nvSpPr>
          <p:cNvPr id="4" name="Slide Number Placeholder 3"/>
          <p:cNvSpPr>
            <a:spLocks noGrp="1"/>
          </p:cNvSpPr>
          <p:nvPr>
            <p:ph type="sldNum" sz="quarter" idx="5"/>
          </p:nvPr>
        </p:nvSpPr>
        <p:spPr/>
        <p:txBody>
          <a:bodyPr/>
          <a:lstStyle/>
          <a:p>
            <a:fld id="{7C89E236-B6B3-4712-A06A-994BBBF0D2D2}" type="slidenum">
              <a:rPr lang="en-US" smtClean="0"/>
              <a:t>10</a:t>
            </a:fld>
            <a:endParaRPr lang="en-US"/>
          </a:p>
        </p:txBody>
      </p:sp>
    </p:spTree>
    <p:extLst>
      <p:ext uri="{BB962C8B-B14F-4D97-AF65-F5344CB8AC3E}">
        <p14:creationId xmlns:p14="http://schemas.microsoft.com/office/powerpoint/2010/main" val="792280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app applies tanh soft saturation in audio_processing.py. As amount rises, drive rises from 1 toward 23.8 at the UI maximum of 0.95. The output is normalized by tanh(drive). The rounded peaks in the schematic demonstrate nonlinear compression. Nonlinearity changes frequency content, creating harmonics; it is not merely louder audio.</a:t>
            </a:r>
          </a:p>
        </p:txBody>
      </p:sp>
      <p:sp>
        <p:nvSpPr>
          <p:cNvPr id="4" name="Slide Number Placeholder 3"/>
          <p:cNvSpPr>
            <a:spLocks noGrp="1"/>
          </p:cNvSpPr>
          <p:nvPr>
            <p:ph type="sldNum" sz="quarter" idx="5"/>
          </p:nvPr>
        </p:nvSpPr>
        <p:spPr/>
        <p:txBody>
          <a:bodyPr/>
          <a:lstStyle/>
          <a:p>
            <a:fld id="{7C89E236-B6B3-4712-A06A-994BBBF0D2D2}" type="slidenum">
              <a:rPr lang="en-US" smtClean="0"/>
              <a:t>11</a:t>
            </a:fld>
            <a:endParaRPr lang="en-US"/>
          </a:p>
        </p:txBody>
      </p:sp>
    </p:spTree>
    <p:extLst>
      <p:ext uri="{BB962C8B-B14F-4D97-AF65-F5344CB8AC3E}">
        <p14:creationId xmlns:p14="http://schemas.microsoft.com/office/powerpoint/2010/main" val="24078047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onset chart uses the 50–60 second excerpt of the user-supplied song. Candidate markers are from an illustrative spectral-flux calculation and should not be presented as the exact app output or a tempo grid. audio_processing.py detect_beats sums only positive changes in STFT magnitude and peak-picks. detect_pitch uses autocorrelation in a short frame; a polyphonic song can cause octave errors or no reliable result.</a:t>
            </a:r>
          </a:p>
        </p:txBody>
      </p:sp>
      <p:sp>
        <p:nvSpPr>
          <p:cNvPr id="4" name="Slide Number Placeholder 3"/>
          <p:cNvSpPr>
            <a:spLocks noGrp="1"/>
          </p:cNvSpPr>
          <p:nvPr>
            <p:ph type="sldNum" sz="quarter" idx="5"/>
          </p:nvPr>
        </p:nvSpPr>
        <p:spPr/>
        <p:txBody>
          <a:bodyPr/>
          <a:lstStyle/>
          <a:p>
            <a:fld id="{7C89E236-B6B3-4712-A06A-994BBBF0D2D2}" type="slidenum">
              <a:rPr lang="en-US" smtClean="0"/>
              <a:t>12</a:t>
            </a:fld>
            <a:endParaRPr lang="en-US"/>
          </a:p>
        </p:txBody>
      </p:sp>
    </p:spTree>
    <p:extLst>
      <p:ext uri="{BB962C8B-B14F-4D97-AF65-F5344CB8AC3E}">
        <p14:creationId xmlns:p14="http://schemas.microsoft.com/office/powerpoint/2010/main" val="27903499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audio_processing.py aligns clips using envelopes and normalized correlation, then computes waveform correlation, RMS difference and level difference on the overlap. models/echo_detector.py uses FFT autocorrelation to find a delayed self-match and checks whether the delay repeats across windows. A repeating rhythm can create a false echo candidate.</a:t>
            </a:r>
          </a:p>
        </p:txBody>
      </p:sp>
      <p:sp>
        <p:nvSpPr>
          <p:cNvPr id="4" name="Slide Number Placeholder 3"/>
          <p:cNvSpPr>
            <a:spLocks noGrp="1"/>
          </p:cNvSpPr>
          <p:nvPr>
            <p:ph type="sldNum" sz="quarter" idx="5"/>
          </p:nvPr>
        </p:nvSpPr>
        <p:spPr/>
        <p:txBody>
          <a:bodyPr/>
          <a:lstStyle/>
          <a:p>
            <a:fld id="{7C89E236-B6B3-4712-A06A-994BBBF0D2D2}" type="slidenum">
              <a:rPr lang="en-US" smtClean="0"/>
              <a:t>13</a:t>
            </a:fld>
            <a:endParaRPr lang="en-US"/>
          </a:p>
        </p:txBody>
      </p:sp>
    </p:spTree>
    <p:extLst>
      <p:ext uri="{BB962C8B-B14F-4D97-AF65-F5344CB8AC3E}">
        <p14:creationId xmlns:p14="http://schemas.microsoft.com/office/powerpoint/2010/main" val="27514252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active crypto page calls encrypt_audio_file_bytes in models/audio_crypto.py. It encrypts the original file bytes and filename with AES-GCM, using a key derived from the password by PBKDF2. The ciphertext is packed into int16 values and stored in a WAV container; its audio playback sounds noise-like. Decryption can recover the original file exactly if the password and carrier sample bytes are unchanged. Lossy conversion such as MP3 destroys the stored bytes.</a:t>
            </a:r>
          </a:p>
        </p:txBody>
      </p:sp>
      <p:sp>
        <p:nvSpPr>
          <p:cNvPr id="4" name="Slide Number Placeholder 3"/>
          <p:cNvSpPr>
            <a:spLocks noGrp="1"/>
          </p:cNvSpPr>
          <p:nvPr>
            <p:ph type="sldNum" sz="quarter" idx="5"/>
          </p:nvPr>
        </p:nvSpPr>
        <p:spPr/>
        <p:txBody>
          <a:bodyPr/>
          <a:lstStyle/>
          <a:p>
            <a:fld id="{7C89E236-B6B3-4712-A06A-994BBBF0D2D2}" type="slidenum">
              <a:rPr lang="en-US" smtClean="0"/>
              <a:t>14</a:t>
            </a:fld>
            <a:endParaRPr lang="en-US"/>
          </a:p>
        </p:txBody>
      </p:sp>
    </p:spTree>
    <p:extLst>
      <p:ext uri="{BB962C8B-B14F-4D97-AF65-F5344CB8AC3E}">
        <p14:creationId xmlns:p14="http://schemas.microsoft.com/office/powerpoint/2010/main" val="29989145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models/steganography.py converts UTF-8 text to bits, prefixes a signature and message length, and repeats each bit three times. It splits audio into 4096-sample blocks, takes an FFT, and changes selected mid-frequency magnitudes so their quantization index is even or odd. It keeps the phase and uses an inverse FFT to return to audio. Extraction reads the parity and uses majority vote. The lowest and highest 20 bins are skipped. This hides data; it does not encrypt the message.</a:t>
            </a:r>
          </a:p>
        </p:txBody>
      </p:sp>
      <p:sp>
        <p:nvSpPr>
          <p:cNvPr id="4" name="Slide Number Placeholder 3"/>
          <p:cNvSpPr>
            <a:spLocks noGrp="1"/>
          </p:cNvSpPr>
          <p:nvPr>
            <p:ph type="sldNum" sz="quarter" idx="5"/>
          </p:nvPr>
        </p:nvSpPr>
        <p:spPr/>
        <p:txBody>
          <a:bodyPr/>
          <a:lstStyle/>
          <a:p>
            <a:fld id="{7C89E236-B6B3-4712-A06A-994BBBF0D2D2}" type="slidenum">
              <a:rPr lang="en-US" smtClean="0"/>
              <a:t>15</a:t>
            </a:fld>
            <a:endParaRPr lang="en-US"/>
          </a:p>
        </p:txBody>
      </p:sp>
    </p:spTree>
    <p:extLst>
      <p:ext uri="{BB962C8B-B14F-4D97-AF65-F5344CB8AC3E}">
        <p14:creationId xmlns:p14="http://schemas.microsoft.com/office/powerpoint/2010/main" val="11223397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closing slide to separate observation from inference. The heartbeat preview shows repeating peaks that support a rough cycle estimate, but the software does not diagnose a condition. The song views show different signal properties of the same 50 to 60 second excerpt. Beat and echo detections can include false positives. Encryption needs unchanged PCM bytes, while steganography does not provide confidentiality. Finish with a short live walkthrough.</a:t>
            </a:r>
          </a:p>
        </p:txBody>
      </p:sp>
      <p:sp>
        <p:nvSpPr>
          <p:cNvPr id="4" name="Slide Number Placeholder 3"/>
          <p:cNvSpPr>
            <a:spLocks noGrp="1"/>
          </p:cNvSpPr>
          <p:nvPr>
            <p:ph type="sldNum" sz="quarter" idx="5"/>
          </p:nvPr>
        </p:nvSpPr>
        <p:spPr/>
        <p:txBody>
          <a:bodyPr/>
          <a:lstStyle/>
          <a:p>
            <a:fld id="{7C89E236-B6B3-4712-A06A-994BBBF0D2D2}" type="slidenum">
              <a:rPr lang="en-US" smtClean="0"/>
              <a:t>16</a:t>
            </a:fld>
            <a:endParaRPr lang="en-US"/>
          </a:p>
        </p:txBody>
      </p:sp>
    </p:spTree>
    <p:extLst>
      <p:ext uri="{BB962C8B-B14F-4D97-AF65-F5344CB8AC3E}">
        <p14:creationId xmlns:p14="http://schemas.microsoft.com/office/powerpoint/2010/main" val="729151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063A5-47EE-4BA1-89EB-A1AA2AC95F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30C466-BC78-4182-89E8-FF848F0B33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550434-AE1A-4D42-A450-8D3F383A2E13}"/>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84A91543-41AA-4D5C-B022-1ADF3AE021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694FAB-C8CE-4746-81D9-F8997DA7496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51578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C07EA-7792-45BE-9262-B90DA4323F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3D6358-B746-48E8-B6AA-4D1DABA59E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1BF2D9-582B-48D8-A3C2-061F4E3B4061}"/>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3E591D28-CD90-4351-AD3C-EDE62E828E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9F0FAC-A10F-4829-A9C1-BD0F56973BAF}"/>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3717320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334E9-8B49-48B3-94CB-E1D631A456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E7B3AB-EA8D-4367-A210-56C11FA321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9240CD-364F-4F2D-8001-BE523C5211F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4032327B-E2A7-456C-A538-0C7CB87BD4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4D2385-EB65-41FD-8E54-C913497E95FE}"/>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2430053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210E-5324-458E-8ABC-05EA253ACA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1BB34D-86BC-40D2-A2F8-5DA635B1D1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660174-AFF4-465D-B08A-C5D95549BE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0EDAEB-C9D2-4DAE-BECE-EA8341575AB1}"/>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AE8B38C4-F89C-4EA3-97ED-6AFF8E94FB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F6F82A-7508-41DD-9F0A-5B796B8A38ED}"/>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4179402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FFDF1-6684-48DD-8185-EAD833DE7C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DF2908-D62B-4B5A-A275-94F0BA3F1B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5F15DA-8358-4906-9C8C-154DA3DE1E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339939-A8B7-440D-96C1-741769242D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ECD921-32D5-414B-A60A-D8B511DC75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CACA73-A5ED-4CD5-952B-0DFE350DFED0}"/>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8" name="Footer Placeholder 7">
            <a:extLst>
              <a:ext uri="{FF2B5EF4-FFF2-40B4-BE49-F238E27FC236}">
                <a16:creationId xmlns:a16="http://schemas.microsoft.com/office/drawing/2014/main" id="{0F27C01D-CBB5-4C5A-B196-379C35F28F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6C10FF-62C1-4ED3-8C3E-8D05BE812511}"/>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661851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36CD1-4D68-43A6-B0DE-5E06577084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5F4498-F368-46D1-A487-DA183EF29A7B}"/>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4" name="Footer Placeholder 3">
            <a:extLst>
              <a:ext uri="{FF2B5EF4-FFF2-40B4-BE49-F238E27FC236}">
                <a16:creationId xmlns:a16="http://schemas.microsoft.com/office/drawing/2014/main" id="{E98F7157-A9C8-49F1-994E-37FC2FD3A8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93A895-BB1B-40CE-9E47-FDA8B1F60755}"/>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219067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ECD51D-8360-44DD-849A-BF22F030041B}"/>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3" name="Footer Placeholder 2">
            <a:extLst>
              <a:ext uri="{FF2B5EF4-FFF2-40B4-BE49-F238E27FC236}">
                <a16:creationId xmlns:a16="http://schemas.microsoft.com/office/drawing/2014/main" id="{F56D1D16-F6F1-43A4-A450-BF19EBE69D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AC2998-6015-4C96-9FC8-871F694CFFBE}"/>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616416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0FF1-56EC-4AEE-A0A5-C7C303E18F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B5407F-51DA-4822-9AC5-6FD5BD7833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20A4FD-52E4-484F-B06B-3039438017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799E0D-AB38-49DA-9C94-E70296C4D3D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D5A984ED-55FB-4E67-B2F1-F6AA6716D7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8A687C-68D4-46F4-9A2D-668B3C11249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2732514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1E1B-AA8C-4A1E-8E83-9233C2CF86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257863-789F-483B-A6B3-D94B5A4FA9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F865C3-2C4B-40BD-BE9D-BD936E5B85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D54BBC-18E2-496A-A405-2AB23DB949C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C200F5C7-3461-46D2-8A8C-CFB2734457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C1FEE0-8E75-4C1D-9854-A5D6E401A05C}"/>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122188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62AF4-CC73-4F4F-9A82-5E060B2B84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CB2E42-8EEB-4903-B0B9-F0C8C5ADF3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D5B17-4F46-41B1-9120-BF5E2024B47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1F78828A-7B10-4271-B127-31DF5AD441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5411BA-8F60-4D32-AD6A-6B63247D0BE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3280716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048C78-420E-41AE-AC2A-ADC386C1FC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810477-AE54-4533-B031-F4A8346CBD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C7EDF7-CEBC-4E56-8A07-49C7280A208E}"/>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3C3AC67F-AAEA-4469-A950-7C37699623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7724E1-5BBF-42B0-B3FF-E02ED3A70A5C}"/>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356169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34A16D-DA33-48AB-9623-1491F1323C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889257-3E79-45A5-BBB8-13D6868538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B5D5C8-FD22-4E39-AF4E-F4299B452E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FD495810-8117-4012-978A-F19C78BE69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717146B-3A3F-4166-8FE4-C4416F7A51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0C1287-7990-4D28-B71C-4E4ACC27B277}" type="slidenum">
              <a:rPr lang="en-US" smtClean="0"/>
              <a:t>‹#›</a:t>
            </a:fld>
            <a:endParaRPr lang="en-US"/>
          </a:p>
        </p:txBody>
      </p:sp>
    </p:spTree>
    <p:extLst>
      <p:ext uri="{BB962C8B-B14F-4D97-AF65-F5344CB8AC3E}">
        <p14:creationId xmlns:p14="http://schemas.microsoft.com/office/powerpoint/2010/main" val="1786956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7D19886-B0A8-47DC-9A1D-1A934F61CB4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9AEBAC7E-2364-46BC-AB17-86189AB66E9E}"/>
              </a:ext>
            </a:extLst>
          </p:cNvPr>
          <p:cNvSpPr txBox="1"/>
          <p:nvPr/>
        </p:nvSpPr>
        <p:spPr>
          <a:xfrm>
            <a:off x="825500" y="762000"/>
            <a:ext cx="9906000" cy="276999"/>
          </a:xfrm>
          <a:prstGeom prst="rect">
            <a:avLst/>
          </a:prstGeom>
          <a:noFill/>
        </p:spPr>
        <p:txBody>
          <a:bodyPr vert="horz" wrap="square" lIns="0" tIns="0" rIns="0" bIns="0" rtlCol="0">
            <a:spAutoFit/>
          </a:bodyPr>
          <a:lstStyle/>
          <a:p>
            <a:r>
              <a:rPr lang="en-US" b="1">
                <a:solidFill>
                  <a:srgbClr val="37D9E9"/>
                </a:solidFill>
                <a:latin typeface="Bahnschrift" panose="020B0502040204020203" pitchFamily="34" charset="0"/>
              </a:rPr>
              <a:t>SIGNAL STUDIO</a:t>
            </a:r>
          </a:p>
        </p:txBody>
      </p:sp>
      <p:sp>
        <p:nvSpPr>
          <p:cNvPr id="4" name="TextBox 3">
            <a:extLst>
              <a:ext uri="{FF2B5EF4-FFF2-40B4-BE49-F238E27FC236}">
                <a16:creationId xmlns:a16="http://schemas.microsoft.com/office/drawing/2014/main" id="{2263F133-9452-4BFB-8CD9-508017AC220F}"/>
              </a:ext>
            </a:extLst>
          </p:cNvPr>
          <p:cNvSpPr txBox="1"/>
          <p:nvPr/>
        </p:nvSpPr>
        <p:spPr>
          <a:xfrm>
            <a:off x="825500" y="1739900"/>
            <a:ext cx="10604500" cy="1415772"/>
          </a:xfrm>
          <a:prstGeom prst="rect">
            <a:avLst/>
          </a:prstGeom>
          <a:noFill/>
        </p:spPr>
        <p:txBody>
          <a:bodyPr vert="horz" wrap="square" lIns="0" tIns="0" rIns="0" bIns="0" rtlCol="0">
            <a:spAutoFit/>
          </a:bodyPr>
          <a:lstStyle/>
          <a:p>
            <a:r>
              <a:rPr lang="en-US" sz="4600" b="1">
                <a:solidFill>
                  <a:srgbClr val="EEF6FF"/>
                </a:solidFill>
                <a:latin typeface="Aptos"/>
              </a:rPr>
              <a:t>Understanding sound through signal properties</a:t>
            </a:r>
          </a:p>
        </p:txBody>
      </p:sp>
      <p:sp>
        <p:nvSpPr>
          <p:cNvPr id="5" name="TextBox 4">
            <a:extLst>
              <a:ext uri="{FF2B5EF4-FFF2-40B4-BE49-F238E27FC236}">
                <a16:creationId xmlns:a16="http://schemas.microsoft.com/office/drawing/2014/main" id="{09C8FB2D-5033-46B2-9530-198C40352426}"/>
              </a:ext>
            </a:extLst>
          </p:cNvPr>
          <p:cNvSpPr txBox="1"/>
          <p:nvPr/>
        </p:nvSpPr>
        <p:spPr>
          <a:xfrm>
            <a:off x="863600" y="4127500"/>
            <a:ext cx="10033000" cy="384721"/>
          </a:xfrm>
          <a:prstGeom prst="rect">
            <a:avLst/>
          </a:prstGeom>
          <a:noFill/>
        </p:spPr>
        <p:txBody>
          <a:bodyPr vert="horz" wrap="square" lIns="0" tIns="0" rIns="0" bIns="0" rtlCol="0">
            <a:spAutoFit/>
          </a:bodyPr>
          <a:lstStyle/>
          <a:p>
            <a:r>
              <a:rPr lang="en-US" sz="2500">
                <a:solidFill>
                  <a:srgbClr val="EEF6FF"/>
                </a:solidFill>
                <a:latin typeface="Aptos"/>
              </a:rPr>
              <a:t>A tour of the heart sound and audio analysis project</a:t>
            </a:r>
          </a:p>
        </p:txBody>
      </p:sp>
      <p:cxnSp>
        <p:nvCxnSpPr>
          <p:cNvPr id="6" name="Straight Connector 5">
            <a:extLst>
              <a:ext uri="{FF2B5EF4-FFF2-40B4-BE49-F238E27FC236}">
                <a16:creationId xmlns:a16="http://schemas.microsoft.com/office/drawing/2014/main" id="{CDD27BD1-76DD-4C43-B357-367A283F06E0}"/>
              </a:ext>
            </a:extLst>
          </p:cNvPr>
          <p:cNvCxnSpPr/>
          <p:nvPr/>
        </p:nvCxnSpPr>
        <p:spPr>
          <a:xfrm>
            <a:off x="863600" y="5397500"/>
            <a:ext cx="3454400" cy="0"/>
          </a:xfrm>
          <a:prstGeom prst="line">
            <a:avLst/>
          </a:prstGeom>
          <a:ln w="63500">
            <a:solidFill>
              <a:srgbClr val="FF64A5"/>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7AF98A0-2922-4AFC-BF00-16A69137E03C}"/>
              </a:ext>
            </a:extLst>
          </p:cNvPr>
          <p:cNvSpPr txBox="1"/>
          <p:nvPr/>
        </p:nvSpPr>
        <p:spPr>
          <a:xfrm>
            <a:off x="863600" y="5740400"/>
            <a:ext cx="10414000" cy="261610"/>
          </a:xfrm>
          <a:prstGeom prst="rect">
            <a:avLst/>
          </a:prstGeom>
          <a:noFill/>
        </p:spPr>
        <p:txBody>
          <a:bodyPr vert="horz" wrap="square" lIns="0" tIns="0" rIns="0" bIns="0" rtlCol="0">
            <a:spAutoFit/>
          </a:bodyPr>
          <a:lstStyle/>
          <a:p>
            <a:r>
              <a:rPr lang="en-US" sz="1700">
                <a:solidFill>
                  <a:srgbClr val="EEF6FF"/>
                </a:solidFill>
                <a:latin typeface="Aptos"/>
              </a:rPr>
              <a:t>Student IDs: 2305018 and 2305019</a:t>
            </a:r>
          </a:p>
        </p:txBody>
      </p:sp>
    </p:spTree>
    <p:extLst>
      <p:ext uri="{BB962C8B-B14F-4D97-AF65-F5344CB8AC3E}">
        <p14:creationId xmlns:p14="http://schemas.microsoft.com/office/powerpoint/2010/main" val="1289766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2A92CD-641E-41F5-A55D-7BB215F8A905}"/>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B0C3773-D41C-42AA-AB19-E270D2E24EFB}"/>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Samples turn sound into numbers</a:t>
            </a:r>
          </a:p>
        </p:txBody>
      </p:sp>
      <p:cxnSp>
        <p:nvCxnSpPr>
          <p:cNvPr id="4" name="Straight Connector 3">
            <a:extLst>
              <a:ext uri="{FF2B5EF4-FFF2-40B4-BE49-F238E27FC236}">
                <a16:creationId xmlns:a16="http://schemas.microsoft.com/office/drawing/2014/main" id="{AB7DBF21-7E87-4377-8294-0A78CC033AA7}"/>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65D047D-FD6B-4C54-942B-4A709FB0B4B7}"/>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96DA16B2-2D20-4B30-8400-9E1965B5464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2</a:t>
            </a:r>
          </a:p>
        </p:txBody>
      </p:sp>
      <p:sp>
        <p:nvSpPr>
          <p:cNvPr id="7" name="TextBox 6">
            <a:extLst>
              <a:ext uri="{FF2B5EF4-FFF2-40B4-BE49-F238E27FC236}">
                <a16:creationId xmlns:a16="http://schemas.microsoft.com/office/drawing/2014/main" id="{8DE02937-4E6C-41ED-B34A-44DD8BD1B16F}"/>
              </a:ext>
            </a:extLst>
          </p:cNvPr>
          <p:cNvSpPr txBox="1"/>
          <p:nvPr/>
        </p:nvSpPr>
        <p:spPr>
          <a:xfrm>
            <a:off x="711200" y="1600200"/>
            <a:ext cx="4000500" cy="738664"/>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The sample rate gives every value a time.</a:t>
            </a:r>
          </a:p>
        </p:txBody>
      </p:sp>
      <p:sp>
        <p:nvSpPr>
          <p:cNvPr id="8" name="TextBox 7">
            <a:extLst>
              <a:ext uri="{FF2B5EF4-FFF2-40B4-BE49-F238E27FC236}">
                <a16:creationId xmlns:a16="http://schemas.microsoft.com/office/drawing/2014/main" id="{C1B6566C-45DC-494D-9DE8-1FB34E1336B6}"/>
              </a:ext>
            </a:extLst>
          </p:cNvPr>
          <p:cNvSpPr txBox="1"/>
          <p:nvPr/>
        </p:nvSpPr>
        <p:spPr>
          <a:xfrm>
            <a:off x="711200" y="2590800"/>
            <a:ext cx="4064000" cy="615553"/>
          </a:xfrm>
          <a:prstGeom prst="rect">
            <a:avLst/>
          </a:prstGeom>
          <a:noFill/>
        </p:spPr>
        <p:txBody>
          <a:bodyPr vert="horz" wrap="square" lIns="0" tIns="0" rIns="0" bIns="0" rtlCol="0">
            <a:spAutoFit/>
          </a:bodyPr>
          <a:lstStyle/>
          <a:p>
            <a:r>
              <a:rPr lang="en-US" sz="2000">
                <a:solidFill>
                  <a:srgbClr val="CCDDEC"/>
                </a:solidFill>
                <a:latin typeface="Aptos"/>
              </a:rPr>
              <a:t>a0001.wav has 2,000 samples each second.</a:t>
            </a:r>
          </a:p>
        </p:txBody>
      </p:sp>
      <p:sp>
        <p:nvSpPr>
          <p:cNvPr id="9" name="TextBox 8">
            <a:extLst>
              <a:ext uri="{FF2B5EF4-FFF2-40B4-BE49-F238E27FC236}">
                <a16:creationId xmlns:a16="http://schemas.microsoft.com/office/drawing/2014/main" id="{F82BF588-2A35-4FA5-B2B5-C4F221B3DE13}"/>
              </a:ext>
            </a:extLst>
          </p:cNvPr>
          <p:cNvSpPr txBox="1"/>
          <p:nvPr/>
        </p:nvSpPr>
        <p:spPr>
          <a:xfrm>
            <a:off x="711200" y="3479800"/>
            <a:ext cx="4064000" cy="615553"/>
          </a:xfrm>
          <a:prstGeom prst="rect">
            <a:avLst/>
          </a:prstGeom>
          <a:noFill/>
        </p:spPr>
        <p:txBody>
          <a:bodyPr vert="horz" wrap="square" lIns="0" tIns="0" rIns="0" bIns="0" rtlCol="0">
            <a:spAutoFit/>
          </a:bodyPr>
          <a:lstStyle/>
          <a:p>
            <a:r>
              <a:rPr lang="en-US" sz="2000">
                <a:solidFill>
                  <a:srgbClr val="CCDDEC"/>
                </a:solidFill>
                <a:latin typeface="Aptos"/>
              </a:rPr>
              <a:t>Sample 1,600 occurs at 1,600 / 2,000 = 0.80 s.</a:t>
            </a:r>
          </a:p>
        </p:txBody>
      </p:sp>
      <p:sp>
        <p:nvSpPr>
          <p:cNvPr id="10" name="TextBox 9">
            <a:extLst>
              <a:ext uri="{FF2B5EF4-FFF2-40B4-BE49-F238E27FC236}">
                <a16:creationId xmlns:a16="http://schemas.microsoft.com/office/drawing/2014/main" id="{010F6BAB-34BF-43F0-9F95-3423E2E636D6}"/>
              </a:ext>
            </a:extLst>
          </p:cNvPr>
          <p:cNvSpPr txBox="1"/>
          <p:nvPr/>
        </p:nvSpPr>
        <p:spPr>
          <a:xfrm>
            <a:off x="711200" y="4622800"/>
            <a:ext cx="4064000" cy="307777"/>
          </a:xfrm>
          <a:prstGeom prst="rect">
            <a:avLst/>
          </a:prstGeom>
          <a:noFill/>
        </p:spPr>
        <p:txBody>
          <a:bodyPr vert="horz" wrap="square" lIns="0" tIns="0" rIns="0" bIns="0" rtlCol="0">
            <a:spAutoFit/>
          </a:bodyPr>
          <a:lstStyle/>
          <a:p>
            <a:r>
              <a:rPr lang="en-US" sz="2000">
                <a:solidFill>
                  <a:srgbClr val="CCDDEC"/>
                </a:solidFill>
                <a:latin typeface="Aptos"/>
              </a:rPr>
              <a:t>Nyquist frequency: 1,000 Hz.</a:t>
            </a:r>
          </a:p>
        </p:txBody>
      </p:sp>
      <p:pic>
        <p:nvPicPr>
          <p:cNvPr id="12" name="Picture 11">
            <a:extLst>
              <a:ext uri="{FF2B5EF4-FFF2-40B4-BE49-F238E27FC236}">
                <a16:creationId xmlns:a16="http://schemas.microsoft.com/office/drawing/2014/main" id="{70A41AD7-FFAF-49A3-A385-2F439070B24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953000" y="1803400"/>
            <a:ext cx="6604000" cy="3454400"/>
          </a:xfrm>
          <a:prstGeom prst="rect">
            <a:avLst/>
          </a:prstGeom>
        </p:spPr>
      </p:pic>
      <p:sp>
        <p:nvSpPr>
          <p:cNvPr id="11" name="Rectangle 10">
            <a:extLst>
              <a:ext uri="{FF2B5EF4-FFF2-40B4-BE49-F238E27FC236}">
                <a16:creationId xmlns:a16="http://schemas.microsoft.com/office/drawing/2014/main" id="{68C1FA1F-57D2-4BBD-9C92-0E7B12DA5CC0}"/>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4B620F0-1D67-40D5-9954-D281825FE969}"/>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02</a:t>
            </a:r>
          </a:p>
        </p:txBody>
      </p:sp>
    </p:spTree>
    <p:extLst>
      <p:ext uri="{BB962C8B-B14F-4D97-AF65-F5344CB8AC3E}">
        <p14:creationId xmlns:p14="http://schemas.microsoft.com/office/powerpoint/2010/main" val="1756954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7E78AE-C981-4FA0-A0BB-6D7F1FA6B9C4}"/>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E508A62-251C-4CB2-9A6D-C67423F855FA}"/>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One project, five workspaces</a:t>
            </a:r>
          </a:p>
        </p:txBody>
      </p:sp>
      <p:cxnSp>
        <p:nvCxnSpPr>
          <p:cNvPr id="4" name="Straight Connector 3">
            <a:extLst>
              <a:ext uri="{FF2B5EF4-FFF2-40B4-BE49-F238E27FC236}">
                <a16:creationId xmlns:a16="http://schemas.microsoft.com/office/drawing/2014/main" id="{DA19CA8C-043A-46A3-AF93-1C0FB016CFA5}"/>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0C4CC3-1AA5-4E76-8487-81936A04296F}"/>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D08C7BEB-8BDA-4882-A06C-557C44A784CF}"/>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3</a:t>
            </a:r>
          </a:p>
        </p:txBody>
      </p:sp>
      <p:sp>
        <p:nvSpPr>
          <p:cNvPr id="24" name="TextBox 23">
            <a:extLst>
              <a:ext uri="{FF2B5EF4-FFF2-40B4-BE49-F238E27FC236}">
                <a16:creationId xmlns:a16="http://schemas.microsoft.com/office/drawing/2014/main" id="{373BFB9D-8C0A-4F6D-A22B-876F6D5E27FC}"/>
              </a:ext>
            </a:extLst>
          </p:cNvPr>
          <p:cNvSpPr txBox="1"/>
          <p:nvPr/>
        </p:nvSpPr>
        <p:spPr>
          <a:xfrm>
            <a:off x="774700" y="1549400"/>
            <a:ext cx="838200" cy="461665"/>
          </a:xfrm>
          <a:prstGeom prst="rect">
            <a:avLst/>
          </a:prstGeom>
          <a:noFill/>
        </p:spPr>
        <p:txBody>
          <a:bodyPr vert="horz" wrap="square" lIns="0" tIns="0" rIns="0" bIns="0" rtlCol="0">
            <a:spAutoFit/>
          </a:bodyPr>
          <a:lstStyle/>
          <a:p>
            <a:r>
              <a:rPr lang="en-US" sz="3000" b="1">
                <a:solidFill>
                  <a:srgbClr val="37D9E9"/>
                </a:solidFill>
                <a:latin typeface="Bahnschrift" panose="020B0502040204020203" pitchFamily="34" charset="0"/>
              </a:rPr>
              <a:t>01</a:t>
            </a:r>
          </a:p>
        </p:txBody>
      </p:sp>
      <p:sp>
        <p:nvSpPr>
          <p:cNvPr id="25" name="TextBox 24">
            <a:extLst>
              <a:ext uri="{FF2B5EF4-FFF2-40B4-BE49-F238E27FC236}">
                <a16:creationId xmlns:a16="http://schemas.microsoft.com/office/drawing/2014/main" id="{00DDE914-411D-4E08-937E-7F1972945C09}"/>
              </a:ext>
            </a:extLst>
          </p:cNvPr>
          <p:cNvSpPr txBox="1"/>
          <p:nvPr/>
        </p:nvSpPr>
        <p:spPr>
          <a:xfrm>
            <a:off x="1955800" y="1574800"/>
            <a:ext cx="2794000" cy="323165"/>
          </a:xfrm>
          <a:prstGeom prst="rect">
            <a:avLst/>
          </a:prstGeom>
          <a:noFill/>
        </p:spPr>
        <p:txBody>
          <a:bodyPr vert="horz" wrap="square" lIns="0" tIns="0" rIns="0" bIns="0" rtlCol="0">
            <a:spAutoFit/>
          </a:bodyPr>
          <a:lstStyle/>
          <a:p>
            <a:r>
              <a:rPr lang="en-US" sz="2100" b="1">
                <a:solidFill>
                  <a:srgbClr val="EEF6FF"/>
                </a:solidFill>
                <a:latin typeface="Bahnschrift" panose="020B0502040204020203" pitchFamily="34" charset="0"/>
              </a:rPr>
              <a:t>Heart sounds</a:t>
            </a:r>
          </a:p>
        </p:txBody>
      </p:sp>
      <p:sp>
        <p:nvSpPr>
          <p:cNvPr id="26" name="TextBox 25">
            <a:extLst>
              <a:ext uri="{FF2B5EF4-FFF2-40B4-BE49-F238E27FC236}">
                <a16:creationId xmlns:a16="http://schemas.microsoft.com/office/drawing/2014/main" id="{26944E7D-237D-43F3-8D6E-904693F4ECA7}"/>
              </a:ext>
            </a:extLst>
          </p:cNvPr>
          <p:cNvSpPr txBox="1"/>
          <p:nvPr/>
        </p:nvSpPr>
        <p:spPr>
          <a:xfrm>
            <a:off x="4965700" y="1600200"/>
            <a:ext cx="6350000" cy="261610"/>
          </a:xfrm>
          <a:prstGeom prst="rect">
            <a:avLst/>
          </a:prstGeom>
          <a:noFill/>
        </p:spPr>
        <p:txBody>
          <a:bodyPr vert="horz" wrap="square" lIns="0" tIns="0" rIns="0" bIns="0" rtlCol="0">
            <a:spAutoFit/>
          </a:bodyPr>
          <a:lstStyle/>
          <a:p>
            <a:r>
              <a:rPr lang="en-US" sz="1700">
                <a:solidFill>
                  <a:srgbClr val="CCDDEC"/>
                </a:solidFill>
                <a:latin typeface="Aptos"/>
              </a:rPr>
              <a:t>filter  →  envelope  →  S1/S2 timing</a:t>
            </a:r>
          </a:p>
        </p:txBody>
      </p:sp>
      <p:cxnSp>
        <p:nvCxnSpPr>
          <p:cNvPr id="27" name="Straight Connector 26">
            <a:extLst>
              <a:ext uri="{FF2B5EF4-FFF2-40B4-BE49-F238E27FC236}">
                <a16:creationId xmlns:a16="http://schemas.microsoft.com/office/drawing/2014/main" id="{391AE7A6-A021-44FB-8C14-AAF40391C018}"/>
              </a:ext>
            </a:extLst>
          </p:cNvPr>
          <p:cNvCxnSpPr/>
          <p:nvPr/>
        </p:nvCxnSpPr>
        <p:spPr>
          <a:xfrm>
            <a:off x="1955800" y="2171700"/>
            <a:ext cx="93472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79C7AC9-4CDD-42CB-910E-6C5FE8756242}"/>
              </a:ext>
            </a:extLst>
          </p:cNvPr>
          <p:cNvSpPr txBox="1"/>
          <p:nvPr/>
        </p:nvSpPr>
        <p:spPr>
          <a:xfrm>
            <a:off x="774700" y="2463800"/>
            <a:ext cx="838200" cy="461665"/>
          </a:xfrm>
          <a:prstGeom prst="rect">
            <a:avLst/>
          </a:prstGeom>
          <a:noFill/>
        </p:spPr>
        <p:txBody>
          <a:bodyPr vert="horz" wrap="square" lIns="0" tIns="0" rIns="0" bIns="0" rtlCol="0">
            <a:spAutoFit/>
          </a:bodyPr>
          <a:lstStyle/>
          <a:p>
            <a:r>
              <a:rPr lang="en-US" sz="3000" b="1">
                <a:solidFill>
                  <a:srgbClr val="FF64A5"/>
                </a:solidFill>
                <a:latin typeface="Bahnschrift" panose="020B0502040204020203" pitchFamily="34" charset="0"/>
              </a:rPr>
              <a:t>02</a:t>
            </a:r>
          </a:p>
        </p:txBody>
      </p:sp>
      <p:sp>
        <p:nvSpPr>
          <p:cNvPr id="29" name="TextBox 28">
            <a:extLst>
              <a:ext uri="{FF2B5EF4-FFF2-40B4-BE49-F238E27FC236}">
                <a16:creationId xmlns:a16="http://schemas.microsoft.com/office/drawing/2014/main" id="{4A1C61A1-0FC8-44F8-B65F-D923CA179EC0}"/>
              </a:ext>
            </a:extLst>
          </p:cNvPr>
          <p:cNvSpPr txBox="1"/>
          <p:nvPr/>
        </p:nvSpPr>
        <p:spPr>
          <a:xfrm>
            <a:off x="1955800" y="2489200"/>
            <a:ext cx="2794000" cy="323165"/>
          </a:xfrm>
          <a:prstGeom prst="rect">
            <a:avLst/>
          </a:prstGeom>
          <a:noFill/>
        </p:spPr>
        <p:txBody>
          <a:bodyPr vert="horz" wrap="square" lIns="0" tIns="0" rIns="0" bIns="0" rtlCol="0">
            <a:spAutoFit/>
          </a:bodyPr>
          <a:lstStyle/>
          <a:p>
            <a:r>
              <a:rPr lang="en-US" sz="2100" b="1">
                <a:solidFill>
                  <a:srgbClr val="EEF6FF"/>
                </a:solidFill>
                <a:latin typeface="Bahnschrift" panose="020B0502040204020203" pitchFamily="34" charset="0"/>
              </a:rPr>
              <a:t>Audio analyzer</a:t>
            </a:r>
          </a:p>
        </p:txBody>
      </p:sp>
      <p:sp>
        <p:nvSpPr>
          <p:cNvPr id="30" name="TextBox 29">
            <a:extLst>
              <a:ext uri="{FF2B5EF4-FFF2-40B4-BE49-F238E27FC236}">
                <a16:creationId xmlns:a16="http://schemas.microsoft.com/office/drawing/2014/main" id="{6E76A11F-68EB-4C66-8707-904363F4495D}"/>
              </a:ext>
            </a:extLst>
          </p:cNvPr>
          <p:cNvSpPr txBox="1"/>
          <p:nvPr/>
        </p:nvSpPr>
        <p:spPr>
          <a:xfrm>
            <a:off x="4965700" y="2514600"/>
            <a:ext cx="6350000" cy="261610"/>
          </a:xfrm>
          <a:prstGeom prst="rect">
            <a:avLst/>
          </a:prstGeom>
          <a:noFill/>
        </p:spPr>
        <p:txBody>
          <a:bodyPr vert="horz" wrap="square" lIns="0" tIns="0" rIns="0" bIns="0" rtlCol="0">
            <a:spAutoFit/>
          </a:bodyPr>
          <a:lstStyle/>
          <a:p>
            <a:r>
              <a:rPr lang="en-US" sz="1700">
                <a:solidFill>
                  <a:srgbClr val="CCDDEC"/>
                </a:solidFill>
                <a:latin typeface="Aptos"/>
              </a:rPr>
              <a:t>waveform  →  spectrum  →  effects</a:t>
            </a:r>
          </a:p>
        </p:txBody>
      </p:sp>
      <p:cxnSp>
        <p:nvCxnSpPr>
          <p:cNvPr id="31" name="Straight Connector 30">
            <a:extLst>
              <a:ext uri="{FF2B5EF4-FFF2-40B4-BE49-F238E27FC236}">
                <a16:creationId xmlns:a16="http://schemas.microsoft.com/office/drawing/2014/main" id="{BB57734A-E123-413B-9B69-5CA77AEE30FB}"/>
              </a:ext>
            </a:extLst>
          </p:cNvPr>
          <p:cNvCxnSpPr/>
          <p:nvPr/>
        </p:nvCxnSpPr>
        <p:spPr>
          <a:xfrm>
            <a:off x="1955800" y="3086100"/>
            <a:ext cx="93472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3503F49-5BA1-485D-8690-D523692FDBF8}"/>
              </a:ext>
            </a:extLst>
          </p:cNvPr>
          <p:cNvSpPr txBox="1"/>
          <p:nvPr/>
        </p:nvSpPr>
        <p:spPr>
          <a:xfrm>
            <a:off x="774700" y="3378200"/>
            <a:ext cx="838200" cy="461665"/>
          </a:xfrm>
          <a:prstGeom prst="rect">
            <a:avLst/>
          </a:prstGeom>
          <a:noFill/>
        </p:spPr>
        <p:txBody>
          <a:bodyPr vert="horz" wrap="square" lIns="0" tIns="0" rIns="0" bIns="0" rtlCol="0">
            <a:spAutoFit/>
          </a:bodyPr>
          <a:lstStyle/>
          <a:p>
            <a:r>
              <a:rPr lang="en-US" sz="3000" b="1">
                <a:solidFill>
                  <a:srgbClr val="37D9E9"/>
                </a:solidFill>
                <a:latin typeface="Bahnschrift" panose="020B0502040204020203" pitchFamily="34" charset="0"/>
              </a:rPr>
              <a:t>03</a:t>
            </a:r>
          </a:p>
        </p:txBody>
      </p:sp>
      <p:sp>
        <p:nvSpPr>
          <p:cNvPr id="33" name="TextBox 32">
            <a:extLst>
              <a:ext uri="{FF2B5EF4-FFF2-40B4-BE49-F238E27FC236}">
                <a16:creationId xmlns:a16="http://schemas.microsoft.com/office/drawing/2014/main" id="{7F4BD497-6EA9-4B3E-A396-2224C2DC9CCA}"/>
              </a:ext>
            </a:extLst>
          </p:cNvPr>
          <p:cNvSpPr txBox="1"/>
          <p:nvPr/>
        </p:nvSpPr>
        <p:spPr>
          <a:xfrm>
            <a:off x="1955800" y="3403600"/>
            <a:ext cx="2794000" cy="323165"/>
          </a:xfrm>
          <a:prstGeom prst="rect">
            <a:avLst/>
          </a:prstGeom>
          <a:noFill/>
        </p:spPr>
        <p:txBody>
          <a:bodyPr vert="horz" wrap="square" lIns="0" tIns="0" rIns="0" bIns="0" rtlCol="0">
            <a:spAutoFit/>
          </a:bodyPr>
          <a:lstStyle/>
          <a:p>
            <a:r>
              <a:rPr lang="en-US" sz="2100" b="1">
                <a:solidFill>
                  <a:srgbClr val="EEF6FF"/>
                </a:solidFill>
                <a:latin typeface="Bahnschrift" panose="020B0502040204020203" pitchFamily="34" charset="0"/>
              </a:rPr>
              <a:t>Audio encryption</a:t>
            </a:r>
          </a:p>
        </p:txBody>
      </p:sp>
      <p:sp>
        <p:nvSpPr>
          <p:cNvPr id="34" name="TextBox 33">
            <a:extLst>
              <a:ext uri="{FF2B5EF4-FFF2-40B4-BE49-F238E27FC236}">
                <a16:creationId xmlns:a16="http://schemas.microsoft.com/office/drawing/2014/main" id="{5FEAE869-60F8-47F7-B9D9-3A2DBFA78D3A}"/>
              </a:ext>
            </a:extLst>
          </p:cNvPr>
          <p:cNvSpPr txBox="1"/>
          <p:nvPr/>
        </p:nvSpPr>
        <p:spPr>
          <a:xfrm>
            <a:off x="4965700" y="3429000"/>
            <a:ext cx="6350000" cy="261610"/>
          </a:xfrm>
          <a:prstGeom prst="rect">
            <a:avLst/>
          </a:prstGeom>
          <a:noFill/>
        </p:spPr>
        <p:txBody>
          <a:bodyPr vert="horz" wrap="square" lIns="0" tIns="0" rIns="0" bIns="0" rtlCol="0">
            <a:spAutoFit/>
          </a:bodyPr>
          <a:lstStyle/>
          <a:p>
            <a:r>
              <a:rPr lang="en-US" sz="1700">
                <a:solidFill>
                  <a:srgbClr val="CCDDEC"/>
                </a:solidFill>
                <a:latin typeface="Aptos"/>
              </a:rPr>
              <a:t>file bytes  →  AES-GCM  →  WAV carrier</a:t>
            </a:r>
          </a:p>
        </p:txBody>
      </p:sp>
      <p:cxnSp>
        <p:nvCxnSpPr>
          <p:cNvPr id="35" name="Straight Connector 34">
            <a:extLst>
              <a:ext uri="{FF2B5EF4-FFF2-40B4-BE49-F238E27FC236}">
                <a16:creationId xmlns:a16="http://schemas.microsoft.com/office/drawing/2014/main" id="{D7B9CC57-E063-4696-BED8-0B14C20018C3}"/>
              </a:ext>
            </a:extLst>
          </p:cNvPr>
          <p:cNvCxnSpPr/>
          <p:nvPr/>
        </p:nvCxnSpPr>
        <p:spPr>
          <a:xfrm>
            <a:off x="1955800" y="4000500"/>
            <a:ext cx="93472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C645F6BA-BC94-4FA4-9556-8832F66088C5}"/>
              </a:ext>
            </a:extLst>
          </p:cNvPr>
          <p:cNvSpPr txBox="1"/>
          <p:nvPr/>
        </p:nvSpPr>
        <p:spPr>
          <a:xfrm>
            <a:off x="774700" y="4292600"/>
            <a:ext cx="838200" cy="461665"/>
          </a:xfrm>
          <a:prstGeom prst="rect">
            <a:avLst/>
          </a:prstGeom>
          <a:noFill/>
        </p:spPr>
        <p:txBody>
          <a:bodyPr vert="horz" wrap="square" lIns="0" tIns="0" rIns="0" bIns="0" rtlCol="0">
            <a:spAutoFit/>
          </a:bodyPr>
          <a:lstStyle/>
          <a:p>
            <a:r>
              <a:rPr lang="en-US" sz="3000" b="1">
                <a:solidFill>
                  <a:srgbClr val="FF64A5"/>
                </a:solidFill>
                <a:latin typeface="Bahnschrift" panose="020B0502040204020203" pitchFamily="34" charset="0"/>
              </a:rPr>
              <a:t>04</a:t>
            </a:r>
          </a:p>
        </p:txBody>
      </p:sp>
      <p:sp>
        <p:nvSpPr>
          <p:cNvPr id="37" name="TextBox 36">
            <a:extLst>
              <a:ext uri="{FF2B5EF4-FFF2-40B4-BE49-F238E27FC236}">
                <a16:creationId xmlns:a16="http://schemas.microsoft.com/office/drawing/2014/main" id="{EF20F596-FF54-4ABE-8A46-36170E7C1AA7}"/>
              </a:ext>
            </a:extLst>
          </p:cNvPr>
          <p:cNvSpPr txBox="1"/>
          <p:nvPr/>
        </p:nvSpPr>
        <p:spPr>
          <a:xfrm>
            <a:off x="1955800" y="4318000"/>
            <a:ext cx="2794000" cy="323165"/>
          </a:xfrm>
          <a:prstGeom prst="rect">
            <a:avLst/>
          </a:prstGeom>
          <a:noFill/>
        </p:spPr>
        <p:txBody>
          <a:bodyPr vert="horz" wrap="square" lIns="0" tIns="0" rIns="0" bIns="0" rtlCol="0">
            <a:spAutoFit/>
          </a:bodyPr>
          <a:lstStyle/>
          <a:p>
            <a:r>
              <a:rPr lang="en-US" sz="2100" b="1">
                <a:solidFill>
                  <a:srgbClr val="EEF6FF"/>
                </a:solidFill>
                <a:latin typeface="Bahnschrift" panose="020B0502040204020203" pitchFamily="34" charset="0"/>
              </a:rPr>
              <a:t>Steganography</a:t>
            </a:r>
          </a:p>
        </p:txBody>
      </p:sp>
      <p:sp>
        <p:nvSpPr>
          <p:cNvPr id="38" name="TextBox 37">
            <a:extLst>
              <a:ext uri="{FF2B5EF4-FFF2-40B4-BE49-F238E27FC236}">
                <a16:creationId xmlns:a16="http://schemas.microsoft.com/office/drawing/2014/main" id="{4778C897-EF6E-4F99-BE5B-8926441D2269}"/>
              </a:ext>
            </a:extLst>
          </p:cNvPr>
          <p:cNvSpPr txBox="1"/>
          <p:nvPr/>
        </p:nvSpPr>
        <p:spPr>
          <a:xfrm>
            <a:off x="4965700" y="4343400"/>
            <a:ext cx="6350000" cy="261610"/>
          </a:xfrm>
          <a:prstGeom prst="rect">
            <a:avLst/>
          </a:prstGeom>
          <a:noFill/>
        </p:spPr>
        <p:txBody>
          <a:bodyPr vert="horz" wrap="square" lIns="0" tIns="0" rIns="0" bIns="0" rtlCol="0">
            <a:spAutoFit/>
          </a:bodyPr>
          <a:lstStyle/>
          <a:p>
            <a:r>
              <a:rPr lang="en-US" sz="1700">
                <a:solidFill>
                  <a:srgbClr val="CCDDEC"/>
                </a:solidFill>
                <a:latin typeface="Aptos"/>
              </a:rPr>
              <a:t>text bits  →  FFT bins  →  playable WAV</a:t>
            </a:r>
          </a:p>
        </p:txBody>
      </p:sp>
      <p:cxnSp>
        <p:nvCxnSpPr>
          <p:cNvPr id="39" name="Straight Connector 38">
            <a:extLst>
              <a:ext uri="{FF2B5EF4-FFF2-40B4-BE49-F238E27FC236}">
                <a16:creationId xmlns:a16="http://schemas.microsoft.com/office/drawing/2014/main" id="{18A739D7-E165-41C3-92A9-AA8C9EEC9DD5}"/>
              </a:ext>
            </a:extLst>
          </p:cNvPr>
          <p:cNvCxnSpPr/>
          <p:nvPr/>
        </p:nvCxnSpPr>
        <p:spPr>
          <a:xfrm>
            <a:off x="1955800" y="4914900"/>
            <a:ext cx="93472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74993142-45F4-4F7B-BB68-92476599E1BA}"/>
              </a:ext>
            </a:extLst>
          </p:cNvPr>
          <p:cNvSpPr txBox="1"/>
          <p:nvPr/>
        </p:nvSpPr>
        <p:spPr>
          <a:xfrm>
            <a:off x="774700" y="5207000"/>
            <a:ext cx="838200" cy="461665"/>
          </a:xfrm>
          <a:prstGeom prst="rect">
            <a:avLst/>
          </a:prstGeom>
          <a:noFill/>
        </p:spPr>
        <p:txBody>
          <a:bodyPr vert="horz" wrap="square" lIns="0" tIns="0" rIns="0" bIns="0" rtlCol="0">
            <a:spAutoFit/>
          </a:bodyPr>
          <a:lstStyle/>
          <a:p>
            <a:r>
              <a:rPr lang="en-US" sz="3000" b="1">
                <a:solidFill>
                  <a:srgbClr val="37D9E9"/>
                </a:solidFill>
                <a:latin typeface="Bahnschrift" panose="020B0502040204020203" pitchFamily="34" charset="0"/>
              </a:rPr>
              <a:t>05</a:t>
            </a:r>
          </a:p>
        </p:txBody>
      </p:sp>
      <p:sp>
        <p:nvSpPr>
          <p:cNvPr id="41" name="TextBox 40">
            <a:extLst>
              <a:ext uri="{FF2B5EF4-FFF2-40B4-BE49-F238E27FC236}">
                <a16:creationId xmlns:a16="http://schemas.microsoft.com/office/drawing/2014/main" id="{1AC7B8DA-6CD5-40E7-8019-6EDF5889AEBF}"/>
              </a:ext>
            </a:extLst>
          </p:cNvPr>
          <p:cNvSpPr txBox="1"/>
          <p:nvPr/>
        </p:nvSpPr>
        <p:spPr>
          <a:xfrm>
            <a:off x="1955800" y="5232400"/>
            <a:ext cx="2794000" cy="323165"/>
          </a:xfrm>
          <a:prstGeom prst="rect">
            <a:avLst/>
          </a:prstGeom>
          <a:noFill/>
        </p:spPr>
        <p:txBody>
          <a:bodyPr vert="horz" wrap="square" lIns="0" tIns="0" rIns="0" bIns="0" rtlCol="0">
            <a:spAutoFit/>
          </a:bodyPr>
          <a:lstStyle/>
          <a:p>
            <a:r>
              <a:rPr lang="en-US" sz="2100" b="1">
                <a:solidFill>
                  <a:srgbClr val="EEF6FF"/>
                </a:solidFill>
                <a:latin typeface="Bahnschrift" panose="020B0502040204020203" pitchFamily="34" charset="0"/>
              </a:rPr>
              <a:t>Echo Detector</a:t>
            </a:r>
          </a:p>
        </p:txBody>
      </p:sp>
      <p:sp>
        <p:nvSpPr>
          <p:cNvPr id="42" name="TextBox 41">
            <a:extLst>
              <a:ext uri="{FF2B5EF4-FFF2-40B4-BE49-F238E27FC236}">
                <a16:creationId xmlns:a16="http://schemas.microsoft.com/office/drawing/2014/main" id="{592199BF-5A14-475A-B9D2-55E8CA897102}"/>
              </a:ext>
            </a:extLst>
          </p:cNvPr>
          <p:cNvSpPr txBox="1"/>
          <p:nvPr/>
        </p:nvSpPr>
        <p:spPr>
          <a:xfrm>
            <a:off x="4965700" y="5257800"/>
            <a:ext cx="6350000" cy="261610"/>
          </a:xfrm>
          <a:prstGeom prst="rect">
            <a:avLst/>
          </a:prstGeom>
          <a:noFill/>
        </p:spPr>
        <p:txBody>
          <a:bodyPr vert="horz" wrap="square" lIns="0" tIns="0" rIns="0" bIns="0" rtlCol="0">
            <a:spAutoFit/>
          </a:bodyPr>
          <a:lstStyle/>
          <a:p>
            <a:r>
              <a:rPr lang="en-US" sz="1700">
                <a:solidFill>
                  <a:srgbClr val="CCDDEC"/>
                </a:solidFill>
                <a:latin typeface="Aptos"/>
              </a:rPr>
              <a:t>autocorrelation  →  repeated-delay candidate</a:t>
            </a:r>
          </a:p>
        </p:txBody>
      </p:sp>
      <p:sp>
        <p:nvSpPr>
          <p:cNvPr id="43" name="Rectangle 42">
            <a:extLst>
              <a:ext uri="{FF2B5EF4-FFF2-40B4-BE49-F238E27FC236}">
                <a16:creationId xmlns:a16="http://schemas.microsoft.com/office/drawing/2014/main" id="{683341D8-BB5E-460B-A27D-D98770FE93EE}"/>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8DC8CDFF-7E10-49F1-9B0D-BC58BD1E6498}"/>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03</a:t>
            </a:r>
          </a:p>
        </p:txBody>
      </p:sp>
    </p:spTree>
    <p:extLst>
      <p:ext uri="{BB962C8B-B14F-4D97-AF65-F5344CB8AC3E}">
        <p14:creationId xmlns:p14="http://schemas.microsoft.com/office/powerpoint/2010/main" val="3634120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B571B0-5B41-4E92-ADC0-9F03870EA790}"/>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FE09956-6B66-48BF-9A62-1ECA2767BA8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7500" y="63500"/>
            <a:ext cx="11557000" cy="6273800"/>
          </a:xfrm>
          <a:prstGeom prst="rect">
            <a:avLst/>
          </a:prstGeom>
        </p:spPr>
      </p:pic>
      <p:sp>
        <p:nvSpPr>
          <p:cNvPr id="5" name="TextBox 4">
            <a:extLst>
              <a:ext uri="{FF2B5EF4-FFF2-40B4-BE49-F238E27FC236}">
                <a16:creationId xmlns:a16="http://schemas.microsoft.com/office/drawing/2014/main" id="{CAD7D8D1-A91D-4F40-A99D-6799812E34C3}"/>
              </a:ext>
            </a:extLst>
          </p:cNvPr>
          <p:cNvSpPr txBox="1"/>
          <p:nvPr/>
        </p:nvSpPr>
        <p:spPr>
          <a:xfrm>
            <a:off x="660400" y="6451600"/>
            <a:ext cx="10947400" cy="215444"/>
          </a:xfrm>
          <a:prstGeom prst="rect">
            <a:avLst/>
          </a:prstGeom>
          <a:noFill/>
        </p:spPr>
        <p:txBody>
          <a:bodyPr vert="horz" wrap="square" lIns="0" tIns="0" rIns="0" bIns="0" rtlCol="0">
            <a:spAutoFit/>
          </a:bodyPr>
          <a:lstStyle/>
          <a:p>
            <a:r>
              <a:rPr lang="en-US" sz="1400">
                <a:solidFill>
                  <a:srgbClr val="85A0B8"/>
                </a:solidFill>
                <a:latin typeface="Aptos"/>
              </a:rPr>
              <a:t>Code path: dashboard.py, models/transforms.py, models/filters.py, models/peak_detection.py</a:t>
            </a:r>
          </a:p>
        </p:txBody>
      </p:sp>
    </p:spTree>
    <p:extLst>
      <p:ext uri="{BB962C8B-B14F-4D97-AF65-F5344CB8AC3E}">
        <p14:creationId xmlns:p14="http://schemas.microsoft.com/office/powerpoint/2010/main" val="3925943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A3B607-476D-45F7-B894-6BC09AE2C0CA}"/>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5CF7FEF-6F16-47BA-B35A-323B1EB2DB64}"/>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Heart timing: from peaks to BPM</a:t>
            </a:r>
          </a:p>
        </p:txBody>
      </p:sp>
      <p:cxnSp>
        <p:nvCxnSpPr>
          <p:cNvPr id="4" name="Straight Connector 3">
            <a:extLst>
              <a:ext uri="{FF2B5EF4-FFF2-40B4-BE49-F238E27FC236}">
                <a16:creationId xmlns:a16="http://schemas.microsoft.com/office/drawing/2014/main" id="{3CF996BA-1831-4521-96C2-621EECB7C18F}"/>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E290013-1AFC-4539-BB93-B5BEAAA065C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A0C07CD8-FB29-490D-A123-62E7B1C185B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5</a:t>
            </a:r>
          </a:p>
        </p:txBody>
      </p:sp>
      <p:pic>
        <p:nvPicPr>
          <p:cNvPr id="8" name="Picture 7">
            <a:extLst>
              <a:ext uri="{FF2B5EF4-FFF2-40B4-BE49-F238E27FC236}">
                <a16:creationId xmlns:a16="http://schemas.microsoft.com/office/drawing/2014/main" id="{E82A8706-DDE1-4100-B93C-98716C30634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71500" y="1295400"/>
            <a:ext cx="11049000" cy="4572000"/>
          </a:xfrm>
          <a:prstGeom prst="rect">
            <a:avLst/>
          </a:prstGeom>
        </p:spPr>
      </p:pic>
      <p:sp>
        <p:nvSpPr>
          <p:cNvPr id="9" name="TextBox 8">
            <a:extLst>
              <a:ext uri="{FF2B5EF4-FFF2-40B4-BE49-F238E27FC236}">
                <a16:creationId xmlns:a16="http://schemas.microsoft.com/office/drawing/2014/main" id="{70F80050-E74D-40B8-8605-F549729FA8CE}"/>
              </a:ext>
            </a:extLst>
          </p:cNvPr>
          <p:cNvSpPr txBox="1"/>
          <p:nvPr/>
        </p:nvSpPr>
        <p:spPr>
          <a:xfrm>
            <a:off x="838200" y="5727700"/>
            <a:ext cx="8255000" cy="369332"/>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BPM = 60 / median(S1-to-S1 intervals)</a:t>
            </a:r>
          </a:p>
        </p:txBody>
      </p:sp>
      <p:sp>
        <p:nvSpPr>
          <p:cNvPr id="10" name="TextBox 9">
            <a:extLst>
              <a:ext uri="{FF2B5EF4-FFF2-40B4-BE49-F238E27FC236}">
                <a16:creationId xmlns:a16="http://schemas.microsoft.com/office/drawing/2014/main" id="{1D217099-D4AF-437F-B0EA-50CDC7D04882}"/>
              </a:ext>
            </a:extLst>
          </p:cNvPr>
          <p:cNvSpPr txBox="1"/>
          <p:nvPr/>
        </p:nvSpPr>
        <p:spPr>
          <a:xfrm>
            <a:off x="838200" y="6172200"/>
            <a:ext cx="10414000" cy="230832"/>
          </a:xfrm>
          <a:prstGeom prst="rect">
            <a:avLst/>
          </a:prstGeom>
          <a:noFill/>
        </p:spPr>
        <p:txBody>
          <a:bodyPr vert="horz" wrap="square" lIns="0" tIns="0" rIns="0" bIns="0" rtlCol="0">
            <a:spAutoFit/>
          </a:bodyPr>
          <a:lstStyle/>
          <a:p>
            <a:r>
              <a:rPr lang="en-US" sz="1500">
                <a:solidFill>
                  <a:srgbClr val="85A0B8"/>
                </a:solidFill>
                <a:latin typeface="Aptos"/>
              </a:rPr>
              <a:t>About 60 BPM from the preview peaks; the app computes its own estimate.</a:t>
            </a:r>
          </a:p>
        </p:txBody>
      </p:sp>
      <p:sp>
        <p:nvSpPr>
          <p:cNvPr id="7" name="Rectangle 6">
            <a:extLst>
              <a:ext uri="{FF2B5EF4-FFF2-40B4-BE49-F238E27FC236}">
                <a16:creationId xmlns:a16="http://schemas.microsoft.com/office/drawing/2014/main" id="{AAE4D793-768D-40AC-8825-0AD899DD8F91}"/>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649664C-ED5D-40D1-BCD8-2E271389D168}"/>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05</a:t>
            </a:r>
          </a:p>
        </p:txBody>
      </p:sp>
    </p:spTree>
    <p:extLst>
      <p:ext uri="{BB962C8B-B14F-4D97-AF65-F5344CB8AC3E}">
        <p14:creationId xmlns:p14="http://schemas.microsoft.com/office/powerpoint/2010/main" val="2834518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288762-8882-4B46-9E53-D1A2AD19A5E8}"/>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05BDA47-C063-49CB-A51E-D1DD71781ED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54000" y="0"/>
            <a:ext cx="11684000" cy="6845300"/>
          </a:xfrm>
          <a:prstGeom prst="rect">
            <a:avLst/>
          </a:prstGeom>
        </p:spPr>
      </p:pic>
    </p:spTree>
    <p:extLst>
      <p:ext uri="{BB962C8B-B14F-4D97-AF65-F5344CB8AC3E}">
        <p14:creationId xmlns:p14="http://schemas.microsoft.com/office/powerpoint/2010/main" val="2736596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B34B23-5642-4A56-9FD8-5B3BA387E132}"/>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1775ECF-82CD-4A71-8AD4-727023BEEA9D}"/>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Filtering changes frequency balance</a:t>
            </a:r>
          </a:p>
        </p:txBody>
      </p:sp>
      <p:cxnSp>
        <p:nvCxnSpPr>
          <p:cNvPr id="4" name="Straight Connector 3">
            <a:extLst>
              <a:ext uri="{FF2B5EF4-FFF2-40B4-BE49-F238E27FC236}">
                <a16:creationId xmlns:a16="http://schemas.microsoft.com/office/drawing/2014/main" id="{E3E84DFE-57CB-4CE4-8B22-228DF97F8273}"/>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D053F3E-16B1-4073-952C-83FBEFB0689E}"/>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377E5A36-11A5-49D9-B99C-ACEAE15E77E7}"/>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7</a:t>
            </a:r>
          </a:p>
        </p:txBody>
      </p:sp>
      <p:pic>
        <p:nvPicPr>
          <p:cNvPr id="8" name="Picture 7">
            <a:extLst>
              <a:ext uri="{FF2B5EF4-FFF2-40B4-BE49-F238E27FC236}">
                <a16:creationId xmlns:a16="http://schemas.microsoft.com/office/drawing/2014/main" id="{A5576112-8C9A-42DB-9C64-4D554B50746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3400" y="1358900"/>
            <a:ext cx="11125200" cy="4368800"/>
          </a:xfrm>
          <a:prstGeom prst="rect">
            <a:avLst/>
          </a:prstGeom>
        </p:spPr>
      </p:pic>
      <p:sp>
        <p:nvSpPr>
          <p:cNvPr id="9" name="TextBox 8">
            <a:extLst>
              <a:ext uri="{FF2B5EF4-FFF2-40B4-BE49-F238E27FC236}">
                <a16:creationId xmlns:a16="http://schemas.microsoft.com/office/drawing/2014/main" id="{035B2A2B-B414-4F43-9E87-D342BEDBE186}"/>
              </a:ext>
            </a:extLst>
          </p:cNvPr>
          <p:cNvSpPr txBox="1"/>
          <p:nvPr/>
        </p:nvSpPr>
        <p:spPr>
          <a:xfrm>
            <a:off x="774700" y="5816600"/>
            <a:ext cx="10655300" cy="276999"/>
          </a:xfrm>
          <a:prstGeom prst="rect">
            <a:avLst/>
          </a:prstGeom>
          <a:noFill/>
        </p:spPr>
        <p:txBody>
          <a:bodyPr vert="horz" wrap="square" lIns="0" tIns="0" rIns="0" bIns="0" rtlCol="0">
            <a:spAutoFit/>
          </a:bodyPr>
          <a:lstStyle/>
          <a:p>
            <a:r>
              <a:rPr lang="en-US">
                <a:solidFill>
                  <a:srgbClr val="CCDDEC"/>
                </a:solidFill>
                <a:latin typeface="Aptos"/>
              </a:rPr>
              <a:t>The song spectrum is measured. The second curve illustrates a 1 kHz Butterworth low-pass response.</a:t>
            </a:r>
          </a:p>
        </p:txBody>
      </p:sp>
      <p:sp>
        <p:nvSpPr>
          <p:cNvPr id="7" name="Rectangle 6">
            <a:extLst>
              <a:ext uri="{FF2B5EF4-FFF2-40B4-BE49-F238E27FC236}">
                <a16:creationId xmlns:a16="http://schemas.microsoft.com/office/drawing/2014/main" id="{4503B192-2378-498A-9A1B-4B027F1C8C14}"/>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0A63025-11F3-41A4-8F1D-6811DD7839AB}"/>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07</a:t>
            </a:r>
          </a:p>
        </p:txBody>
      </p:sp>
    </p:spTree>
    <p:extLst>
      <p:ext uri="{BB962C8B-B14F-4D97-AF65-F5344CB8AC3E}">
        <p14:creationId xmlns:p14="http://schemas.microsoft.com/office/powerpoint/2010/main" val="1418290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2894C9-84A0-4A21-A118-F4418C43E11B}"/>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ADC73B-33B4-4813-AF43-64CABC3C2503}"/>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Delay: copies in time</a:t>
            </a:r>
          </a:p>
        </p:txBody>
      </p:sp>
      <p:cxnSp>
        <p:nvCxnSpPr>
          <p:cNvPr id="4" name="Straight Connector 3">
            <a:extLst>
              <a:ext uri="{FF2B5EF4-FFF2-40B4-BE49-F238E27FC236}">
                <a16:creationId xmlns:a16="http://schemas.microsoft.com/office/drawing/2014/main" id="{98218E7A-BDB0-43DE-B17A-BD0BED9F5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BA0986B-7D24-4BF2-9A46-E7A3A799E4B1}"/>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437D206C-41B9-4B28-966C-09180326BEA2}"/>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8</a:t>
            </a:r>
          </a:p>
        </p:txBody>
      </p:sp>
      <p:sp>
        <p:nvSpPr>
          <p:cNvPr id="22" name="TextBox 21">
            <a:extLst>
              <a:ext uri="{FF2B5EF4-FFF2-40B4-BE49-F238E27FC236}">
                <a16:creationId xmlns:a16="http://schemas.microsoft.com/office/drawing/2014/main" id="{15CEFB40-D1C1-41F0-B7ED-83053F68901F}"/>
              </a:ext>
            </a:extLst>
          </p:cNvPr>
          <p:cNvSpPr txBox="1"/>
          <p:nvPr/>
        </p:nvSpPr>
        <p:spPr>
          <a:xfrm>
            <a:off x="889000" y="1549400"/>
            <a:ext cx="762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FOLLOW ONE SOUND EVENT</a:t>
            </a:r>
          </a:p>
        </p:txBody>
      </p:sp>
      <p:sp>
        <p:nvSpPr>
          <p:cNvPr id="23" name="Rectangle 22">
            <a:extLst>
              <a:ext uri="{FF2B5EF4-FFF2-40B4-BE49-F238E27FC236}">
                <a16:creationId xmlns:a16="http://schemas.microsoft.com/office/drawing/2014/main" id="{16E9FE4F-E65A-4591-97CD-F055E05A65A2}"/>
              </a:ext>
            </a:extLst>
          </p:cNvPr>
          <p:cNvSpPr/>
          <p:nvPr/>
        </p:nvSpPr>
        <p:spPr>
          <a:xfrm>
            <a:off x="863600" y="20066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15763894-244D-4E6F-9389-505EF1E391E6}"/>
              </a:ext>
            </a:extLst>
          </p:cNvPr>
          <p:cNvSpPr txBox="1"/>
          <p:nvPr/>
        </p:nvSpPr>
        <p:spPr>
          <a:xfrm>
            <a:off x="1079500" y="2451100"/>
            <a:ext cx="952500" cy="215444"/>
          </a:xfrm>
          <a:prstGeom prst="rect">
            <a:avLst/>
          </a:prstGeom>
          <a:noFill/>
        </p:spPr>
        <p:txBody>
          <a:bodyPr vert="horz" wrap="square" lIns="0" tIns="0" rIns="0" bIns="0" rtlCol="0">
            <a:spAutoFit/>
          </a:bodyPr>
          <a:lstStyle/>
          <a:p>
            <a:r>
              <a:rPr lang="en-US" sz="1400">
                <a:solidFill>
                  <a:srgbClr val="85A0B8"/>
                </a:solidFill>
                <a:latin typeface="Aptos"/>
              </a:rPr>
              <a:t>input</a:t>
            </a:r>
          </a:p>
        </p:txBody>
      </p:sp>
      <p:sp>
        <p:nvSpPr>
          <p:cNvPr id="25" name="TextBox 24">
            <a:extLst>
              <a:ext uri="{FF2B5EF4-FFF2-40B4-BE49-F238E27FC236}">
                <a16:creationId xmlns:a16="http://schemas.microsoft.com/office/drawing/2014/main" id="{AA091E7E-9D07-4C9B-88B2-18828F98910D}"/>
              </a:ext>
            </a:extLst>
          </p:cNvPr>
          <p:cNvSpPr txBox="1"/>
          <p:nvPr/>
        </p:nvSpPr>
        <p:spPr>
          <a:xfrm>
            <a:off x="1079500" y="3403600"/>
            <a:ext cx="952500" cy="215444"/>
          </a:xfrm>
          <a:prstGeom prst="rect">
            <a:avLst/>
          </a:prstGeom>
          <a:noFill/>
        </p:spPr>
        <p:txBody>
          <a:bodyPr vert="horz" wrap="square" lIns="0" tIns="0" rIns="0" bIns="0" rtlCol="0">
            <a:spAutoFit/>
          </a:bodyPr>
          <a:lstStyle/>
          <a:p>
            <a:r>
              <a:rPr lang="en-US" sz="1400">
                <a:solidFill>
                  <a:srgbClr val="85A0B8"/>
                </a:solidFill>
                <a:latin typeface="Aptos"/>
              </a:rPr>
              <a:t>output</a:t>
            </a:r>
          </a:p>
        </p:txBody>
      </p:sp>
      <p:cxnSp>
        <p:nvCxnSpPr>
          <p:cNvPr id="26" name="Straight Connector 25">
            <a:extLst>
              <a:ext uri="{FF2B5EF4-FFF2-40B4-BE49-F238E27FC236}">
                <a16:creationId xmlns:a16="http://schemas.microsoft.com/office/drawing/2014/main" id="{0F4951A3-6EE2-4079-8C84-291FB67F14A0}"/>
              </a:ext>
            </a:extLst>
          </p:cNvPr>
          <p:cNvCxnSpPr/>
          <p:nvPr/>
        </p:nvCxnSpPr>
        <p:spPr>
          <a:xfrm>
            <a:off x="2159000" y="2895600"/>
            <a:ext cx="8610600" cy="0"/>
          </a:xfrm>
          <a:prstGeom prst="line">
            <a:avLst/>
          </a:prstGeom>
          <a:ln w="1778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B25D4DE-C153-4EA8-B38A-CB679B953D72}"/>
              </a:ext>
            </a:extLst>
          </p:cNvPr>
          <p:cNvCxnSpPr/>
          <p:nvPr/>
        </p:nvCxnSpPr>
        <p:spPr>
          <a:xfrm>
            <a:off x="2159000" y="3848100"/>
            <a:ext cx="8610600" cy="0"/>
          </a:xfrm>
          <a:prstGeom prst="line">
            <a:avLst/>
          </a:prstGeom>
          <a:ln w="1778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D8DE879-E512-46DF-88BC-45CA005C4459}"/>
              </a:ext>
            </a:extLst>
          </p:cNvPr>
          <p:cNvCxnSpPr/>
          <p:nvPr/>
        </p:nvCxnSpPr>
        <p:spPr>
          <a:xfrm flipV="1">
            <a:off x="2476500" y="2387600"/>
            <a:ext cx="0" cy="508000"/>
          </a:xfrm>
          <a:prstGeom prst="line">
            <a:avLst/>
          </a:prstGeom>
          <a:ln w="57150">
            <a:solidFill>
              <a:srgbClr val="37D9E9"/>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99F6C418-C517-45AB-B1F0-DC964BEB0985}"/>
              </a:ext>
            </a:extLst>
          </p:cNvPr>
          <p:cNvSpPr/>
          <p:nvPr/>
        </p:nvSpPr>
        <p:spPr>
          <a:xfrm>
            <a:off x="2425700" y="2336800"/>
            <a:ext cx="101600" cy="101600"/>
          </a:xfrm>
          <a:prstGeom prst="ellipse">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28BA4D77-79A9-4075-BAD4-6BB7DC1966A4}"/>
              </a:ext>
            </a:extLst>
          </p:cNvPr>
          <p:cNvCxnSpPr/>
          <p:nvPr/>
        </p:nvCxnSpPr>
        <p:spPr>
          <a:xfrm flipV="1">
            <a:off x="2476500" y="3340100"/>
            <a:ext cx="0" cy="508000"/>
          </a:xfrm>
          <a:prstGeom prst="line">
            <a:avLst/>
          </a:prstGeom>
          <a:ln w="57150">
            <a:solidFill>
              <a:srgbClr val="37D9E9"/>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5AC10972-FDCB-45AE-BE8E-60B6AF12728B}"/>
              </a:ext>
            </a:extLst>
          </p:cNvPr>
          <p:cNvSpPr/>
          <p:nvPr/>
        </p:nvSpPr>
        <p:spPr>
          <a:xfrm>
            <a:off x="2425700" y="3289300"/>
            <a:ext cx="101600" cy="101600"/>
          </a:xfrm>
          <a:prstGeom prst="ellipse">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1CD8B3A5-0595-4AE1-B781-4E5E33847015}"/>
              </a:ext>
            </a:extLst>
          </p:cNvPr>
          <p:cNvCxnSpPr/>
          <p:nvPr/>
        </p:nvCxnSpPr>
        <p:spPr>
          <a:xfrm>
            <a:off x="2476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2BAF329-DAD5-4187-9304-14BD08FD9705}"/>
              </a:ext>
            </a:extLst>
          </p:cNvPr>
          <p:cNvSpPr txBox="1"/>
          <p:nvPr/>
        </p:nvSpPr>
        <p:spPr>
          <a:xfrm>
            <a:off x="2120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a:t>
            </a:r>
          </a:p>
        </p:txBody>
      </p:sp>
      <p:cxnSp>
        <p:nvCxnSpPr>
          <p:cNvPr id="34" name="Straight Connector 33">
            <a:extLst>
              <a:ext uri="{FF2B5EF4-FFF2-40B4-BE49-F238E27FC236}">
                <a16:creationId xmlns:a16="http://schemas.microsoft.com/office/drawing/2014/main" id="{0CD74EBE-F2E8-489B-9CC1-238B756D27A3}"/>
              </a:ext>
            </a:extLst>
          </p:cNvPr>
          <p:cNvCxnSpPr/>
          <p:nvPr/>
        </p:nvCxnSpPr>
        <p:spPr>
          <a:xfrm>
            <a:off x="43180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592E0DB8-35FC-4290-B021-AB7F6DA2BDB3}"/>
              </a:ext>
            </a:extLst>
          </p:cNvPr>
          <p:cNvSpPr txBox="1"/>
          <p:nvPr/>
        </p:nvSpPr>
        <p:spPr>
          <a:xfrm>
            <a:off x="39624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0.3 s</a:t>
            </a:r>
          </a:p>
        </p:txBody>
      </p:sp>
      <p:cxnSp>
        <p:nvCxnSpPr>
          <p:cNvPr id="36" name="Straight Connector 35">
            <a:extLst>
              <a:ext uri="{FF2B5EF4-FFF2-40B4-BE49-F238E27FC236}">
                <a16:creationId xmlns:a16="http://schemas.microsoft.com/office/drawing/2014/main" id="{AD803AD6-7013-47C2-80A7-1146B6F6283F}"/>
              </a:ext>
            </a:extLst>
          </p:cNvPr>
          <p:cNvCxnSpPr/>
          <p:nvPr/>
        </p:nvCxnSpPr>
        <p:spPr>
          <a:xfrm>
            <a:off x="6159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0C52AED3-236E-4DE8-9AD6-6F2435A21880}"/>
              </a:ext>
            </a:extLst>
          </p:cNvPr>
          <p:cNvSpPr txBox="1"/>
          <p:nvPr/>
        </p:nvSpPr>
        <p:spPr>
          <a:xfrm>
            <a:off x="5803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0.6 s</a:t>
            </a:r>
          </a:p>
        </p:txBody>
      </p:sp>
      <p:cxnSp>
        <p:nvCxnSpPr>
          <p:cNvPr id="38" name="Straight Connector 37">
            <a:extLst>
              <a:ext uri="{FF2B5EF4-FFF2-40B4-BE49-F238E27FC236}">
                <a16:creationId xmlns:a16="http://schemas.microsoft.com/office/drawing/2014/main" id="{B3DCD51C-733B-4DD0-A27F-82D0EF904C2B}"/>
              </a:ext>
            </a:extLst>
          </p:cNvPr>
          <p:cNvCxnSpPr/>
          <p:nvPr/>
        </p:nvCxnSpPr>
        <p:spPr>
          <a:xfrm>
            <a:off x="80010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1CC030EC-6E33-400C-8337-71AEDD3C19A5}"/>
              </a:ext>
            </a:extLst>
          </p:cNvPr>
          <p:cNvSpPr txBox="1"/>
          <p:nvPr/>
        </p:nvSpPr>
        <p:spPr>
          <a:xfrm>
            <a:off x="76454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0.9 s</a:t>
            </a:r>
          </a:p>
        </p:txBody>
      </p:sp>
      <p:cxnSp>
        <p:nvCxnSpPr>
          <p:cNvPr id="40" name="Straight Connector 39">
            <a:extLst>
              <a:ext uri="{FF2B5EF4-FFF2-40B4-BE49-F238E27FC236}">
                <a16:creationId xmlns:a16="http://schemas.microsoft.com/office/drawing/2014/main" id="{D2463214-B627-485D-BFA1-8B98752A422E}"/>
              </a:ext>
            </a:extLst>
          </p:cNvPr>
          <p:cNvCxnSpPr/>
          <p:nvPr/>
        </p:nvCxnSpPr>
        <p:spPr>
          <a:xfrm>
            <a:off x="9842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BC570FDB-3657-4469-AE66-19536CFA91EE}"/>
              </a:ext>
            </a:extLst>
          </p:cNvPr>
          <p:cNvSpPr txBox="1"/>
          <p:nvPr/>
        </p:nvSpPr>
        <p:spPr>
          <a:xfrm>
            <a:off x="9486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1.2 s</a:t>
            </a:r>
          </a:p>
        </p:txBody>
      </p:sp>
      <p:cxnSp>
        <p:nvCxnSpPr>
          <p:cNvPr id="42" name="Straight Connector 41">
            <a:extLst>
              <a:ext uri="{FF2B5EF4-FFF2-40B4-BE49-F238E27FC236}">
                <a16:creationId xmlns:a16="http://schemas.microsoft.com/office/drawing/2014/main" id="{2840B040-8416-4BFB-8593-63A3D043FCFA}"/>
              </a:ext>
            </a:extLst>
          </p:cNvPr>
          <p:cNvCxnSpPr/>
          <p:nvPr/>
        </p:nvCxnSpPr>
        <p:spPr>
          <a:xfrm flipV="1">
            <a:off x="4318000" y="3454400"/>
            <a:ext cx="0" cy="393700"/>
          </a:xfrm>
          <a:prstGeom prst="line">
            <a:avLst/>
          </a:prstGeom>
          <a:ln w="57150">
            <a:solidFill>
              <a:srgbClr val="FF64A5"/>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A8EA7A67-59B5-4A82-A8AF-B07A00F70B24}"/>
              </a:ext>
            </a:extLst>
          </p:cNvPr>
          <p:cNvSpPr/>
          <p:nvPr/>
        </p:nvSpPr>
        <p:spPr>
          <a:xfrm>
            <a:off x="4267200" y="3403600"/>
            <a:ext cx="101600" cy="101600"/>
          </a:xfrm>
          <a:prstGeom prst="ellipse">
            <a:avLst/>
          </a:prstGeom>
          <a:solidFill>
            <a:srgbClr val="FF64A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49B97299-BAC7-4E63-AA9F-617117593B4A}"/>
              </a:ext>
            </a:extLst>
          </p:cNvPr>
          <p:cNvSpPr txBox="1"/>
          <p:nvPr/>
        </p:nvSpPr>
        <p:spPr>
          <a:xfrm>
            <a:off x="4089400" y="3111500"/>
            <a:ext cx="2286000" cy="230832"/>
          </a:xfrm>
          <a:prstGeom prst="rect">
            <a:avLst/>
          </a:prstGeom>
          <a:noFill/>
        </p:spPr>
        <p:txBody>
          <a:bodyPr vert="horz" wrap="square" lIns="0" tIns="0" rIns="0" bIns="0" rtlCol="0">
            <a:spAutoFit/>
          </a:bodyPr>
          <a:lstStyle/>
          <a:p>
            <a:r>
              <a:rPr lang="en-US" sz="1500" b="1">
                <a:solidFill>
                  <a:srgbClr val="FF64A5"/>
                </a:solidFill>
                <a:latin typeface="Bahnschrift" panose="020B0502040204020203" pitchFamily="34" charset="0"/>
              </a:rPr>
              <a:t>one quieter copy</a:t>
            </a:r>
          </a:p>
        </p:txBody>
      </p:sp>
      <p:sp>
        <p:nvSpPr>
          <p:cNvPr id="45" name="TextBox 44">
            <a:extLst>
              <a:ext uri="{FF2B5EF4-FFF2-40B4-BE49-F238E27FC236}">
                <a16:creationId xmlns:a16="http://schemas.microsoft.com/office/drawing/2014/main" id="{7BF99D99-278E-464C-AE07-F3F11C1AA643}"/>
              </a:ext>
            </a:extLst>
          </p:cNvPr>
          <p:cNvSpPr txBox="1"/>
          <p:nvPr/>
        </p:nvSpPr>
        <p:spPr>
          <a:xfrm>
            <a:off x="889000" y="4419600"/>
            <a:ext cx="10414000" cy="292388"/>
          </a:xfrm>
          <a:prstGeom prst="rect">
            <a:avLst/>
          </a:prstGeom>
          <a:noFill/>
        </p:spPr>
        <p:txBody>
          <a:bodyPr vert="horz" wrap="square" lIns="0" tIns="0" rIns="0" bIns="0" rtlCol="0">
            <a:spAutoFit/>
          </a:bodyPr>
          <a:lstStyle/>
          <a:p>
            <a:r>
              <a:rPr lang="en-US" sz="1900">
                <a:solidFill>
                  <a:srgbClr val="CCDDEC"/>
                </a:solidFill>
                <a:latin typeface="Aptos"/>
              </a:rPr>
              <a:t>Delay moves one copy later by a chosen number of samples; the original stays in place.</a:t>
            </a:r>
          </a:p>
        </p:txBody>
      </p:sp>
      <p:sp>
        <p:nvSpPr>
          <p:cNvPr id="46" name="Rectangle 45">
            <a:extLst>
              <a:ext uri="{FF2B5EF4-FFF2-40B4-BE49-F238E27FC236}">
                <a16:creationId xmlns:a16="http://schemas.microsoft.com/office/drawing/2014/main" id="{5B898027-E02F-4846-AAC5-7970C21811CE}"/>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E1ECECEC-6736-4CAE-8E5F-55E9F52F7B5F}"/>
              </a:ext>
            </a:extLst>
          </p:cNvPr>
          <p:cNvSpPr txBox="1"/>
          <p:nvPr/>
        </p:nvSpPr>
        <p:spPr>
          <a:xfrm>
            <a:off x="1066800" y="5283200"/>
            <a:ext cx="10058400" cy="204671"/>
          </a:xfrm>
          <a:prstGeom prst="rect">
            <a:avLst/>
          </a:prstGeom>
          <a:noFill/>
        </p:spPr>
        <p:txBody>
          <a:bodyPr vert="horz" wrap="square" lIns="0" tIns="0" rIns="0" bIns="0" rtlCol="0">
            <a:spAutoFit/>
          </a:bodyPr>
          <a:lstStyle/>
          <a:p>
            <a:r>
              <a:rPr lang="en-US" sz="1330">
                <a:solidFill>
                  <a:srgbClr val="37D9E9"/>
                </a:solidFill>
                <a:latin typeface="Consolas" panose="020B0609020204030204" pitchFamily="49" charset="0"/>
              </a:rPr>
              <a:t>offset = int(delay_seconds * sample_rate); output[offset:offset + len(audio)] += audio * amount</a:t>
            </a:r>
          </a:p>
        </p:txBody>
      </p:sp>
      <p:sp>
        <p:nvSpPr>
          <p:cNvPr id="48" name="TextBox 47">
            <a:extLst>
              <a:ext uri="{FF2B5EF4-FFF2-40B4-BE49-F238E27FC236}">
                <a16:creationId xmlns:a16="http://schemas.microsoft.com/office/drawing/2014/main" id="{62C79266-67FE-4A1E-B0F6-DCC43EB1A9FA}"/>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49" name="TextBox 48">
            <a:extLst>
              <a:ext uri="{FF2B5EF4-FFF2-40B4-BE49-F238E27FC236}">
                <a16:creationId xmlns:a16="http://schemas.microsoft.com/office/drawing/2014/main" id="{815B16BA-425B-4FF5-AD10-63D0738897DE}"/>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Choose Delay, then move the time and amount sliders.</a:t>
            </a:r>
          </a:p>
        </p:txBody>
      </p:sp>
      <p:sp>
        <p:nvSpPr>
          <p:cNvPr id="50" name="Rectangle 49">
            <a:extLst>
              <a:ext uri="{FF2B5EF4-FFF2-40B4-BE49-F238E27FC236}">
                <a16:creationId xmlns:a16="http://schemas.microsoft.com/office/drawing/2014/main" id="{929EF7DD-8113-4A0B-9826-698EEF9ED33D}"/>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AE900E3A-63DC-4C25-958D-A026361084EC}"/>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08</a:t>
            </a:r>
          </a:p>
        </p:txBody>
      </p:sp>
      <p:sp>
        <p:nvSpPr>
          <p:cNvPr id="52" name="TextBox 51">
            <a:extLst>
              <a:ext uri="{FF2B5EF4-FFF2-40B4-BE49-F238E27FC236}">
                <a16:creationId xmlns:a16="http://schemas.microsoft.com/office/drawing/2014/main" id="{A2E69AAA-4557-46BC-948E-3CD2438EBEFD}"/>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572956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2894C9-84A0-4A21-A118-F4418C43E11B}"/>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ADC73B-33B4-4813-AF43-64CABC3C2503}"/>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Echo: copies in time</a:t>
            </a:r>
          </a:p>
        </p:txBody>
      </p:sp>
      <p:cxnSp>
        <p:nvCxnSpPr>
          <p:cNvPr id="4" name="Straight Connector 3">
            <a:extLst>
              <a:ext uri="{FF2B5EF4-FFF2-40B4-BE49-F238E27FC236}">
                <a16:creationId xmlns:a16="http://schemas.microsoft.com/office/drawing/2014/main" id="{98218E7A-BDB0-43DE-B17A-BD0BED9F5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BA0986B-7D24-4BF2-9A46-E7A3A799E4B1}"/>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437D206C-41B9-4B28-966C-09180326BEA2}"/>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9</a:t>
            </a:r>
          </a:p>
        </p:txBody>
      </p:sp>
      <p:sp>
        <p:nvSpPr>
          <p:cNvPr id="22" name="TextBox 21">
            <a:extLst>
              <a:ext uri="{FF2B5EF4-FFF2-40B4-BE49-F238E27FC236}">
                <a16:creationId xmlns:a16="http://schemas.microsoft.com/office/drawing/2014/main" id="{89A4B8C8-47D7-44EC-9CC1-C68396368BDB}"/>
              </a:ext>
            </a:extLst>
          </p:cNvPr>
          <p:cNvSpPr txBox="1"/>
          <p:nvPr/>
        </p:nvSpPr>
        <p:spPr>
          <a:xfrm>
            <a:off x="889000" y="1549400"/>
            <a:ext cx="762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FOLLOW ONE SOUND EVENT</a:t>
            </a:r>
          </a:p>
        </p:txBody>
      </p:sp>
      <p:sp>
        <p:nvSpPr>
          <p:cNvPr id="23" name="Rectangle 22">
            <a:extLst>
              <a:ext uri="{FF2B5EF4-FFF2-40B4-BE49-F238E27FC236}">
                <a16:creationId xmlns:a16="http://schemas.microsoft.com/office/drawing/2014/main" id="{CCA3AEA2-66F8-4D97-90E2-FD89B67CA15B}"/>
              </a:ext>
            </a:extLst>
          </p:cNvPr>
          <p:cNvSpPr/>
          <p:nvPr/>
        </p:nvSpPr>
        <p:spPr>
          <a:xfrm>
            <a:off x="863600" y="20066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677CF81-7322-46C3-AE48-CB6E4EF5AB80}"/>
              </a:ext>
            </a:extLst>
          </p:cNvPr>
          <p:cNvSpPr txBox="1"/>
          <p:nvPr/>
        </p:nvSpPr>
        <p:spPr>
          <a:xfrm>
            <a:off x="1079500" y="2451100"/>
            <a:ext cx="952500" cy="215444"/>
          </a:xfrm>
          <a:prstGeom prst="rect">
            <a:avLst/>
          </a:prstGeom>
          <a:noFill/>
        </p:spPr>
        <p:txBody>
          <a:bodyPr vert="horz" wrap="square" lIns="0" tIns="0" rIns="0" bIns="0" rtlCol="0">
            <a:spAutoFit/>
          </a:bodyPr>
          <a:lstStyle/>
          <a:p>
            <a:r>
              <a:rPr lang="en-US" sz="1400">
                <a:solidFill>
                  <a:srgbClr val="85A0B8"/>
                </a:solidFill>
                <a:latin typeface="Aptos"/>
              </a:rPr>
              <a:t>input</a:t>
            </a:r>
          </a:p>
        </p:txBody>
      </p:sp>
      <p:sp>
        <p:nvSpPr>
          <p:cNvPr id="25" name="TextBox 24">
            <a:extLst>
              <a:ext uri="{FF2B5EF4-FFF2-40B4-BE49-F238E27FC236}">
                <a16:creationId xmlns:a16="http://schemas.microsoft.com/office/drawing/2014/main" id="{0AE41B1D-304B-4A9A-A15D-A57D992662B1}"/>
              </a:ext>
            </a:extLst>
          </p:cNvPr>
          <p:cNvSpPr txBox="1"/>
          <p:nvPr/>
        </p:nvSpPr>
        <p:spPr>
          <a:xfrm>
            <a:off x="1079500" y="3403600"/>
            <a:ext cx="952500" cy="215444"/>
          </a:xfrm>
          <a:prstGeom prst="rect">
            <a:avLst/>
          </a:prstGeom>
          <a:noFill/>
        </p:spPr>
        <p:txBody>
          <a:bodyPr vert="horz" wrap="square" lIns="0" tIns="0" rIns="0" bIns="0" rtlCol="0">
            <a:spAutoFit/>
          </a:bodyPr>
          <a:lstStyle/>
          <a:p>
            <a:r>
              <a:rPr lang="en-US" sz="1400">
                <a:solidFill>
                  <a:srgbClr val="85A0B8"/>
                </a:solidFill>
                <a:latin typeface="Aptos"/>
              </a:rPr>
              <a:t>output</a:t>
            </a:r>
          </a:p>
        </p:txBody>
      </p:sp>
      <p:cxnSp>
        <p:nvCxnSpPr>
          <p:cNvPr id="26" name="Straight Connector 25">
            <a:extLst>
              <a:ext uri="{FF2B5EF4-FFF2-40B4-BE49-F238E27FC236}">
                <a16:creationId xmlns:a16="http://schemas.microsoft.com/office/drawing/2014/main" id="{27F3C134-3B97-4891-92EE-1E3CDE162794}"/>
              </a:ext>
            </a:extLst>
          </p:cNvPr>
          <p:cNvCxnSpPr/>
          <p:nvPr/>
        </p:nvCxnSpPr>
        <p:spPr>
          <a:xfrm>
            <a:off x="2159000" y="2895600"/>
            <a:ext cx="8610600" cy="0"/>
          </a:xfrm>
          <a:prstGeom prst="line">
            <a:avLst/>
          </a:prstGeom>
          <a:ln w="1778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4591BFE-1006-4FFC-9CAB-F9B06EDF9D34}"/>
              </a:ext>
            </a:extLst>
          </p:cNvPr>
          <p:cNvCxnSpPr/>
          <p:nvPr/>
        </p:nvCxnSpPr>
        <p:spPr>
          <a:xfrm>
            <a:off x="2159000" y="3848100"/>
            <a:ext cx="8610600" cy="0"/>
          </a:xfrm>
          <a:prstGeom prst="line">
            <a:avLst/>
          </a:prstGeom>
          <a:ln w="1778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69584CE-E96C-4179-B71F-2267796AF125}"/>
              </a:ext>
            </a:extLst>
          </p:cNvPr>
          <p:cNvCxnSpPr/>
          <p:nvPr/>
        </p:nvCxnSpPr>
        <p:spPr>
          <a:xfrm flipV="1">
            <a:off x="2476500" y="2387600"/>
            <a:ext cx="0" cy="508000"/>
          </a:xfrm>
          <a:prstGeom prst="line">
            <a:avLst/>
          </a:prstGeom>
          <a:ln w="57150">
            <a:solidFill>
              <a:srgbClr val="37D9E9"/>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C7BD61F0-216C-4D66-BB44-5211644D2654}"/>
              </a:ext>
            </a:extLst>
          </p:cNvPr>
          <p:cNvSpPr/>
          <p:nvPr/>
        </p:nvSpPr>
        <p:spPr>
          <a:xfrm>
            <a:off x="2425700" y="2336800"/>
            <a:ext cx="101600" cy="101600"/>
          </a:xfrm>
          <a:prstGeom prst="ellipse">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AC856396-22A9-4639-B8F2-37FD64456A5B}"/>
              </a:ext>
            </a:extLst>
          </p:cNvPr>
          <p:cNvCxnSpPr/>
          <p:nvPr/>
        </p:nvCxnSpPr>
        <p:spPr>
          <a:xfrm flipV="1">
            <a:off x="2476500" y="3340100"/>
            <a:ext cx="0" cy="508000"/>
          </a:xfrm>
          <a:prstGeom prst="line">
            <a:avLst/>
          </a:prstGeom>
          <a:ln w="57150">
            <a:solidFill>
              <a:srgbClr val="37D9E9"/>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74DA237C-6795-426A-A9AA-0189C647ACBF}"/>
              </a:ext>
            </a:extLst>
          </p:cNvPr>
          <p:cNvSpPr/>
          <p:nvPr/>
        </p:nvSpPr>
        <p:spPr>
          <a:xfrm>
            <a:off x="2425700" y="3289300"/>
            <a:ext cx="101600" cy="101600"/>
          </a:xfrm>
          <a:prstGeom prst="ellipse">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CC6F19FD-BAFE-42BB-944A-FA7443E86370}"/>
              </a:ext>
            </a:extLst>
          </p:cNvPr>
          <p:cNvCxnSpPr/>
          <p:nvPr/>
        </p:nvCxnSpPr>
        <p:spPr>
          <a:xfrm>
            <a:off x="2476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F50629F-F036-4398-AF91-F7E40040C7C9}"/>
              </a:ext>
            </a:extLst>
          </p:cNvPr>
          <p:cNvSpPr txBox="1"/>
          <p:nvPr/>
        </p:nvSpPr>
        <p:spPr>
          <a:xfrm>
            <a:off x="2120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a:t>
            </a:r>
          </a:p>
        </p:txBody>
      </p:sp>
      <p:cxnSp>
        <p:nvCxnSpPr>
          <p:cNvPr id="34" name="Straight Connector 33">
            <a:extLst>
              <a:ext uri="{FF2B5EF4-FFF2-40B4-BE49-F238E27FC236}">
                <a16:creationId xmlns:a16="http://schemas.microsoft.com/office/drawing/2014/main" id="{69BC6DD4-95AF-4585-AA33-EDF99ACAE8C8}"/>
              </a:ext>
            </a:extLst>
          </p:cNvPr>
          <p:cNvCxnSpPr/>
          <p:nvPr/>
        </p:nvCxnSpPr>
        <p:spPr>
          <a:xfrm>
            <a:off x="43180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0453166-5F9E-47EF-9B09-ADBEE42B75F4}"/>
              </a:ext>
            </a:extLst>
          </p:cNvPr>
          <p:cNvSpPr txBox="1"/>
          <p:nvPr/>
        </p:nvSpPr>
        <p:spPr>
          <a:xfrm>
            <a:off x="39624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0.3 s</a:t>
            </a:r>
          </a:p>
        </p:txBody>
      </p:sp>
      <p:cxnSp>
        <p:nvCxnSpPr>
          <p:cNvPr id="36" name="Straight Connector 35">
            <a:extLst>
              <a:ext uri="{FF2B5EF4-FFF2-40B4-BE49-F238E27FC236}">
                <a16:creationId xmlns:a16="http://schemas.microsoft.com/office/drawing/2014/main" id="{1042A815-E643-4240-BE65-8DE322820FB8}"/>
              </a:ext>
            </a:extLst>
          </p:cNvPr>
          <p:cNvCxnSpPr/>
          <p:nvPr/>
        </p:nvCxnSpPr>
        <p:spPr>
          <a:xfrm>
            <a:off x="6159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3D6037DB-975B-4F89-ADD0-8CE68FED69E7}"/>
              </a:ext>
            </a:extLst>
          </p:cNvPr>
          <p:cNvSpPr txBox="1"/>
          <p:nvPr/>
        </p:nvSpPr>
        <p:spPr>
          <a:xfrm>
            <a:off x="5803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0.6 s</a:t>
            </a:r>
          </a:p>
        </p:txBody>
      </p:sp>
      <p:cxnSp>
        <p:nvCxnSpPr>
          <p:cNvPr id="38" name="Straight Connector 37">
            <a:extLst>
              <a:ext uri="{FF2B5EF4-FFF2-40B4-BE49-F238E27FC236}">
                <a16:creationId xmlns:a16="http://schemas.microsoft.com/office/drawing/2014/main" id="{BA0B9F4B-0113-4D2C-9CB5-64098CCD0477}"/>
              </a:ext>
            </a:extLst>
          </p:cNvPr>
          <p:cNvCxnSpPr/>
          <p:nvPr/>
        </p:nvCxnSpPr>
        <p:spPr>
          <a:xfrm>
            <a:off x="80010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0CC18423-8C5D-445D-83BC-6A12D0A13B3A}"/>
              </a:ext>
            </a:extLst>
          </p:cNvPr>
          <p:cNvSpPr txBox="1"/>
          <p:nvPr/>
        </p:nvSpPr>
        <p:spPr>
          <a:xfrm>
            <a:off x="76454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0.9 s</a:t>
            </a:r>
          </a:p>
        </p:txBody>
      </p:sp>
      <p:cxnSp>
        <p:nvCxnSpPr>
          <p:cNvPr id="40" name="Straight Connector 39">
            <a:extLst>
              <a:ext uri="{FF2B5EF4-FFF2-40B4-BE49-F238E27FC236}">
                <a16:creationId xmlns:a16="http://schemas.microsoft.com/office/drawing/2014/main" id="{D5383A68-3708-41DE-B414-4004277D1803}"/>
              </a:ext>
            </a:extLst>
          </p:cNvPr>
          <p:cNvCxnSpPr/>
          <p:nvPr/>
        </p:nvCxnSpPr>
        <p:spPr>
          <a:xfrm>
            <a:off x="9842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4EFDE50-8845-4736-AB45-0D9BBCB5DC33}"/>
              </a:ext>
            </a:extLst>
          </p:cNvPr>
          <p:cNvSpPr txBox="1"/>
          <p:nvPr/>
        </p:nvSpPr>
        <p:spPr>
          <a:xfrm>
            <a:off x="9486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1.2 s</a:t>
            </a:r>
          </a:p>
        </p:txBody>
      </p:sp>
      <p:cxnSp>
        <p:nvCxnSpPr>
          <p:cNvPr id="42" name="Straight Connector 41">
            <a:extLst>
              <a:ext uri="{FF2B5EF4-FFF2-40B4-BE49-F238E27FC236}">
                <a16:creationId xmlns:a16="http://schemas.microsoft.com/office/drawing/2014/main" id="{BAB9311D-269A-46C1-9EE3-C2113BDC56EC}"/>
              </a:ext>
            </a:extLst>
          </p:cNvPr>
          <p:cNvCxnSpPr/>
          <p:nvPr/>
        </p:nvCxnSpPr>
        <p:spPr>
          <a:xfrm flipV="1">
            <a:off x="4318000" y="3492500"/>
            <a:ext cx="0" cy="355600"/>
          </a:xfrm>
          <a:prstGeom prst="line">
            <a:avLst/>
          </a:prstGeom>
          <a:ln w="57150">
            <a:solidFill>
              <a:srgbClr val="FF64A5"/>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7239F8B8-3CEF-4023-9E82-10364E19711E}"/>
              </a:ext>
            </a:extLst>
          </p:cNvPr>
          <p:cNvSpPr/>
          <p:nvPr/>
        </p:nvSpPr>
        <p:spPr>
          <a:xfrm>
            <a:off x="4267200" y="3441700"/>
            <a:ext cx="101600" cy="101600"/>
          </a:xfrm>
          <a:prstGeom prst="ellipse">
            <a:avLst/>
          </a:prstGeom>
          <a:solidFill>
            <a:srgbClr val="FF64A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12C5B429-9580-401E-AAD6-3F230B257498}"/>
              </a:ext>
            </a:extLst>
          </p:cNvPr>
          <p:cNvCxnSpPr/>
          <p:nvPr/>
        </p:nvCxnSpPr>
        <p:spPr>
          <a:xfrm flipV="1">
            <a:off x="6159500" y="3599180"/>
            <a:ext cx="0" cy="248920"/>
          </a:xfrm>
          <a:prstGeom prst="line">
            <a:avLst/>
          </a:prstGeom>
          <a:ln w="57150">
            <a:solidFill>
              <a:srgbClr val="FF64A5"/>
            </a:solidFill>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E70E4DDA-E73E-4C32-9A25-AD6FEF237179}"/>
              </a:ext>
            </a:extLst>
          </p:cNvPr>
          <p:cNvSpPr/>
          <p:nvPr/>
        </p:nvSpPr>
        <p:spPr>
          <a:xfrm>
            <a:off x="6108700" y="3548380"/>
            <a:ext cx="101600" cy="101600"/>
          </a:xfrm>
          <a:prstGeom prst="ellipse">
            <a:avLst/>
          </a:prstGeom>
          <a:solidFill>
            <a:srgbClr val="FF64A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2F1A9BEB-DCB0-423F-8631-E8D239A600EB}"/>
              </a:ext>
            </a:extLst>
          </p:cNvPr>
          <p:cNvCxnSpPr/>
          <p:nvPr/>
        </p:nvCxnSpPr>
        <p:spPr>
          <a:xfrm flipV="1">
            <a:off x="8001000" y="3673856"/>
            <a:ext cx="0" cy="174244"/>
          </a:xfrm>
          <a:prstGeom prst="line">
            <a:avLst/>
          </a:prstGeom>
          <a:ln w="57150">
            <a:solidFill>
              <a:srgbClr val="FF64A5"/>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A9AEBFFA-CD8B-45CA-BE2E-662C073B7B0B}"/>
              </a:ext>
            </a:extLst>
          </p:cNvPr>
          <p:cNvSpPr/>
          <p:nvPr/>
        </p:nvSpPr>
        <p:spPr>
          <a:xfrm>
            <a:off x="7950200" y="3623056"/>
            <a:ext cx="101600" cy="101600"/>
          </a:xfrm>
          <a:prstGeom prst="ellipse">
            <a:avLst/>
          </a:prstGeom>
          <a:solidFill>
            <a:srgbClr val="FF64A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Connector 47">
            <a:extLst>
              <a:ext uri="{FF2B5EF4-FFF2-40B4-BE49-F238E27FC236}">
                <a16:creationId xmlns:a16="http://schemas.microsoft.com/office/drawing/2014/main" id="{6D416760-0446-472D-A458-355A3BEE8027}"/>
              </a:ext>
            </a:extLst>
          </p:cNvPr>
          <p:cNvCxnSpPr/>
          <p:nvPr/>
        </p:nvCxnSpPr>
        <p:spPr>
          <a:xfrm flipV="1">
            <a:off x="9842500" y="3726129"/>
            <a:ext cx="0" cy="121971"/>
          </a:xfrm>
          <a:prstGeom prst="line">
            <a:avLst/>
          </a:prstGeom>
          <a:ln w="57150">
            <a:solidFill>
              <a:srgbClr val="FF64A5"/>
            </a:solidFill>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1497F306-6B2E-45D1-AE1E-4C7A3FBC635C}"/>
              </a:ext>
            </a:extLst>
          </p:cNvPr>
          <p:cNvSpPr/>
          <p:nvPr/>
        </p:nvSpPr>
        <p:spPr>
          <a:xfrm>
            <a:off x="9791700" y="3675329"/>
            <a:ext cx="101600" cy="101600"/>
          </a:xfrm>
          <a:prstGeom prst="ellipse">
            <a:avLst/>
          </a:prstGeom>
          <a:solidFill>
            <a:srgbClr val="FF64A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F2E9ECFE-B09A-4725-8195-AF10D803FB39}"/>
              </a:ext>
            </a:extLst>
          </p:cNvPr>
          <p:cNvSpPr txBox="1"/>
          <p:nvPr/>
        </p:nvSpPr>
        <p:spPr>
          <a:xfrm>
            <a:off x="4318000" y="3111500"/>
            <a:ext cx="4826000" cy="230832"/>
          </a:xfrm>
          <a:prstGeom prst="rect">
            <a:avLst/>
          </a:prstGeom>
          <a:noFill/>
        </p:spPr>
        <p:txBody>
          <a:bodyPr vert="horz" wrap="square" lIns="0" tIns="0" rIns="0" bIns="0" rtlCol="0">
            <a:spAutoFit/>
          </a:bodyPr>
          <a:lstStyle/>
          <a:p>
            <a:r>
              <a:rPr lang="en-US" sz="1500" b="1">
                <a:solidFill>
                  <a:srgbClr val="FF64A5"/>
                </a:solidFill>
                <a:latin typeface="Bahnschrift" panose="020B0502040204020203" pitchFamily="34" charset="0"/>
              </a:rPr>
              <a:t>each repeat gets quieter</a:t>
            </a:r>
          </a:p>
        </p:txBody>
      </p:sp>
      <p:sp>
        <p:nvSpPr>
          <p:cNvPr id="51" name="TextBox 50">
            <a:extLst>
              <a:ext uri="{FF2B5EF4-FFF2-40B4-BE49-F238E27FC236}">
                <a16:creationId xmlns:a16="http://schemas.microsoft.com/office/drawing/2014/main" id="{7B15957C-DA72-4947-953C-5C01B498952C}"/>
              </a:ext>
            </a:extLst>
          </p:cNvPr>
          <p:cNvSpPr txBox="1"/>
          <p:nvPr/>
        </p:nvSpPr>
        <p:spPr>
          <a:xfrm>
            <a:off x="889000" y="4419600"/>
            <a:ext cx="10414000" cy="292388"/>
          </a:xfrm>
          <a:prstGeom prst="rect">
            <a:avLst/>
          </a:prstGeom>
          <a:noFill/>
        </p:spPr>
        <p:txBody>
          <a:bodyPr vert="horz" wrap="square" lIns="0" tIns="0" rIns="0" bIns="0" rtlCol="0">
            <a:spAutoFit/>
          </a:bodyPr>
          <a:lstStyle/>
          <a:p>
            <a:r>
              <a:rPr lang="en-US" sz="1900">
                <a:solidFill>
                  <a:srgbClr val="CCDDEC"/>
                </a:solidFill>
                <a:latin typeface="Aptos"/>
              </a:rPr>
              <a:t>Echo is repeated delay: four later copies are mixed in, each scaled by amount to a higher power.</a:t>
            </a:r>
          </a:p>
        </p:txBody>
      </p:sp>
      <p:sp>
        <p:nvSpPr>
          <p:cNvPr id="52" name="Rectangle 51">
            <a:extLst>
              <a:ext uri="{FF2B5EF4-FFF2-40B4-BE49-F238E27FC236}">
                <a16:creationId xmlns:a16="http://schemas.microsoft.com/office/drawing/2014/main" id="{EC9ADC29-0E76-4F16-9450-3607AB486848}"/>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0FC362FD-AF98-4B8A-A58F-82AC36BDDFA1}"/>
              </a:ext>
            </a:extLst>
          </p:cNvPr>
          <p:cNvSpPr txBox="1"/>
          <p:nvPr/>
        </p:nvSpPr>
        <p:spPr>
          <a:xfrm>
            <a:off x="1066800" y="5283200"/>
            <a:ext cx="10058400" cy="204671"/>
          </a:xfrm>
          <a:prstGeom prst="rect">
            <a:avLst/>
          </a:prstGeom>
          <a:noFill/>
        </p:spPr>
        <p:txBody>
          <a:bodyPr vert="horz" wrap="square" lIns="0" tIns="0" rIns="0" bIns="0" rtlCol="0">
            <a:spAutoFit/>
          </a:bodyPr>
          <a:lstStyle/>
          <a:p>
            <a:r>
              <a:rPr lang="en-US" sz="1330">
                <a:solidFill>
                  <a:srgbClr val="37D9E9"/>
                </a:solidFill>
                <a:latin typeface="Consolas" panose="020B0609020204030204" pitchFamily="49" charset="0"/>
              </a:rPr>
              <a:t>repeats = 4; output[start:start + len(audio)] += audio * amount ** repeat</a:t>
            </a:r>
          </a:p>
        </p:txBody>
      </p:sp>
      <p:sp>
        <p:nvSpPr>
          <p:cNvPr id="54" name="TextBox 53">
            <a:extLst>
              <a:ext uri="{FF2B5EF4-FFF2-40B4-BE49-F238E27FC236}">
                <a16:creationId xmlns:a16="http://schemas.microsoft.com/office/drawing/2014/main" id="{C1925401-FA33-4751-8875-C9D3CAF4E6EF}"/>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55" name="TextBox 54">
            <a:extLst>
              <a:ext uri="{FF2B5EF4-FFF2-40B4-BE49-F238E27FC236}">
                <a16:creationId xmlns:a16="http://schemas.microsoft.com/office/drawing/2014/main" id="{91B28574-59A7-4A10-8776-FC4C0FE1A0AE}"/>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Choose Echo; increase amount to hear a longer tail.</a:t>
            </a:r>
          </a:p>
        </p:txBody>
      </p:sp>
      <p:sp>
        <p:nvSpPr>
          <p:cNvPr id="56" name="Rectangle 55">
            <a:extLst>
              <a:ext uri="{FF2B5EF4-FFF2-40B4-BE49-F238E27FC236}">
                <a16:creationId xmlns:a16="http://schemas.microsoft.com/office/drawing/2014/main" id="{4F5A8470-3E17-4F07-81C0-8C13AA48B183}"/>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2EDF7B77-51B2-4014-BF42-16662D7F7A77}"/>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09</a:t>
            </a:r>
          </a:p>
        </p:txBody>
      </p:sp>
      <p:sp>
        <p:nvSpPr>
          <p:cNvPr id="58" name="TextBox 57">
            <a:extLst>
              <a:ext uri="{FF2B5EF4-FFF2-40B4-BE49-F238E27FC236}">
                <a16:creationId xmlns:a16="http://schemas.microsoft.com/office/drawing/2014/main" id="{6C8F4D48-5809-4D5A-9FA1-C87E336C1CFF}"/>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1546034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2894C9-84A0-4A21-A118-F4418C43E11B}"/>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ADC73B-33B4-4813-AF43-64CABC3C2503}"/>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Tremolo: volume moves in waves</a:t>
            </a:r>
          </a:p>
        </p:txBody>
      </p:sp>
      <p:cxnSp>
        <p:nvCxnSpPr>
          <p:cNvPr id="4" name="Straight Connector 3">
            <a:extLst>
              <a:ext uri="{FF2B5EF4-FFF2-40B4-BE49-F238E27FC236}">
                <a16:creationId xmlns:a16="http://schemas.microsoft.com/office/drawing/2014/main" id="{98218E7A-BDB0-43DE-B17A-BD0BED9F5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BA0986B-7D24-4BF2-9A46-E7A3A799E4B1}"/>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437D206C-41B9-4B28-966C-09180326BEA2}"/>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10</a:t>
            </a:r>
          </a:p>
        </p:txBody>
      </p:sp>
      <p:sp>
        <p:nvSpPr>
          <p:cNvPr id="22" name="TextBox 21">
            <a:extLst>
              <a:ext uri="{FF2B5EF4-FFF2-40B4-BE49-F238E27FC236}">
                <a16:creationId xmlns:a16="http://schemas.microsoft.com/office/drawing/2014/main" id="{FB647189-31BB-4F61-8AC2-A0037BE373CA}"/>
              </a:ext>
            </a:extLst>
          </p:cNvPr>
          <p:cNvSpPr txBox="1"/>
          <p:nvPr/>
        </p:nvSpPr>
        <p:spPr>
          <a:xfrm>
            <a:off x="889000" y="1549400"/>
            <a:ext cx="762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COMPARE THE ENVELOPES</a:t>
            </a:r>
          </a:p>
        </p:txBody>
      </p:sp>
      <p:sp>
        <p:nvSpPr>
          <p:cNvPr id="23" name="Rectangle 22">
            <a:extLst>
              <a:ext uri="{FF2B5EF4-FFF2-40B4-BE49-F238E27FC236}">
                <a16:creationId xmlns:a16="http://schemas.microsoft.com/office/drawing/2014/main" id="{58EC5322-F991-46A4-9A7A-A6E2FDE383DC}"/>
              </a:ext>
            </a:extLst>
          </p:cNvPr>
          <p:cNvSpPr/>
          <p:nvPr/>
        </p:nvSpPr>
        <p:spPr>
          <a:xfrm>
            <a:off x="863600" y="20066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26C5E4D-2538-4761-BF9E-8A1B6DFA30FC}"/>
              </a:ext>
            </a:extLst>
          </p:cNvPr>
          <p:cNvSpPr txBox="1"/>
          <p:nvPr/>
        </p:nvSpPr>
        <p:spPr>
          <a:xfrm>
            <a:off x="1066800" y="2349500"/>
            <a:ext cx="1524000" cy="215444"/>
          </a:xfrm>
          <a:prstGeom prst="rect">
            <a:avLst/>
          </a:prstGeom>
          <a:noFill/>
        </p:spPr>
        <p:txBody>
          <a:bodyPr vert="horz" wrap="square" lIns="0" tIns="0" rIns="0" bIns="0" rtlCol="0">
            <a:spAutoFit/>
          </a:bodyPr>
          <a:lstStyle/>
          <a:p>
            <a:r>
              <a:rPr lang="en-US" sz="1400">
                <a:solidFill>
                  <a:srgbClr val="85A0B8"/>
                </a:solidFill>
                <a:latin typeface="Aptos"/>
              </a:rPr>
              <a:t>steady input</a:t>
            </a:r>
          </a:p>
        </p:txBody>
      </p:sp>
      <p:sp>
        <p:nvSpPr>
          <p:cNvPr id="25" name="TextBox 24">
            <a:extLst>
              <a:ext uri="{FF2B5EF4-FFF2-40B4-BE49-F238E27FC236}">
                <a16:creationId xmlns:a16="http://schemas.microsoft.com/office/drawing/2014/main" id="{9157A005-5278-4AD3-AAD8-242D46883306}"/>
              </a:ext>
            </a:extLst>
          </p:cNvPr>
          <p:cNvSpPr txBox="1"/>
          <p:nvPr/>
        </p:nvSpPr>
        <p:spPr>
          <a:xfrm>
            <a:off x="1066800" y="3403600"/>
            <a:ext cx="1778000" cy="215444"/>
          </a:xfrm>
          <a:prstGeom prst="rect">
            <a:avLst/>
          </a:prstGeom>
          <a:noFill/>
        </p:spPr>
        <p:txBody>
          <a:bodyPr vert="horz" wrap="square" lIns="0" tIns="0" rIns="0" bIns="0" rtlCol="0">
            <a:spAutoFit/>
          </a:bodyPr>
          <a:lstStyle/>
          <a:p>
            <a:r>
              <a:rPr lang="en-US" sz="1400">
                <a:solidFill>
                  <a:srgbClr val="85A0B8"/>
                </a:solidFill>
                <a:latin typeface="Aptos"/>
              </a:rPr>
              <a:t>tremolo output</a:t>
            </a:r>
          </a:p>
        </p:txBody>
      </p:sp>
      <p:cxnSp>
        <p:nvCxnSpPr>
          <p:cNvPr id="26" name="Straight Connector 25">
            <a:extLst>
              <a:ext uri="{FF2B5EF4-FFF2-40B4-BE49-F238E27FC236}">
                <a16:creationId xmlns:a16="http://schemas.microsoft.com/office/drawing/2014/main" id="{986FCA32-5936-46D4-ABFD-488F7FBAFC9D}"/>
              </a:ext>
            </a:extLst>
          </p:cNvPr>
          <p:cNvCxnSpPr/>
          <p:nvPr/>
        </p:nvCxnSpPr>
        <p:spPr>
          <a:xfrm>
            <a:off x="2921000" y="2768600"/>
            <a:ext cx="78740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E740616-5CC6-49FA-A3D8-34DDC5ABE274}"/>
              </a:ext>
            </a:extLst>
          </p:cNvPr>
          <p:cNvCxnSpPr/>
          <p:nvPr/>
        </p:nvCxnSpPr>
        <p:spPr>
          <a:xfrm>
            <a:off x="2921000" y="3721100"/>
            <a:ext cx="78740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BBC46B2-AA06-499E-92A8-5BE98D19E9B0}"/>
              </a:ext>
            </a:extLst>
          </p:cNvPr>
          <p:cNvCxnSpPr/>
          <p:nvPr/>
        </p:nvCxnSpPr>
        <p:spPr>
          <a:xfrm flipV="1">
            <a:off x="2921000" y="2659542"/>
            <a:ext cx="70304"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B3D74CF-8930-40F6-84FA-33A5869CCBD3}"/>
              </a:ext>
            </a:extLst>
          </p:cNvPr>
          <p:cNvCxnSpPr/>
          <p:nvPr/>
        </p:nvCxnSpPr>
        <p:spPr>
          <a:xfrm flipV="1">
            <a:off x="2991304" y="2562724"/>
            <a:ext cx="70303"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5CFC9A6-63AD-4947-AA69-45292BE30047}"/>
              </a:ext>
            </a:extLst>
          </p:cNvPr>
          <p:cNvCxnSpPr/>
          <p:nvPr/>
        </p:nvCxnSpPr>
        <p:spPr>
          <a:xfrm flipV="1">
            <a:off x="3061607" y="2489012"/>
            <a:ext cx="70304"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56DA565-D9EE-42B2-B8D7-019EA646564D}"/>
              </a:ext>
            </a:extLst>
          </p:cNvPr>
          <p:cNvCxnSpPr/>
          <p:nvPr/>
        </p:nvCxnSpPr>
        <p:spPr>
          <a:xfrm flipV="1">
            <a:off x="3131911" y="2446679"/>
            <a:ext cx="70303"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6ECD69A-64E3-4214-92A2-B35ED5A9E706}"/>
              </a:ext>
            </a:extLst>
          </p:cNvPr>
          <p:cNvCxnSpPr/>
          <p:nvPr/>
        </p:nvCxnSpPr>
        <p:spPr>
          <a:xfrm flipV="1">
            <a:off x="3202214" y="2440476"/>
            <a:ext cx="70304"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37C8E01-1BE1-4874-8609-D0467C9D200B}"/>
              </a:ext>
            </a:extLst>
          </p:cNvPr>
          <p:cNvCxnSpPr/>
          <p:nvPr/>
        </p:nvCxnSpPr>
        <p:spPr>
          <a:xfrm>
            <a:off x="3272518" y="2440476"/>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56CFC34-EFDF-4CCD-9AE9-0074629DE296}"/>
              </a:ext>
            </a:extLst>
          </p:cNvPr>
          <p:cNvCxnSpPr/>
          <p:nvPr/>
        </p:nvCxnSpPr>
        <p:spPr>
          <a:xfrm>
            <a:off x="3342822" y="2471100"/>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F89231D-2833-4F15-AA66-6F04451D97CF}"/>
              </a:ext>
            </a:extLst>
          </p:cNvPr>
          <p:cNvCxnSpPr/>
          <p:nvPr/>
        </p:nvCxnSpPr>
        <p:spPr>
          <a:xfrm>
            <a:off x="3413125" y="2535113"/>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39C75F8-13B5-4D39-9AD9-90F66B117E44}"/>
              </a:ext>
            </a:extLst>
          </p:cNvPr>
          <p:cNvCxnSpPr/>
          <p:nvPr/>
        </p:nvCxnSpPr>
        <p:spPr>
          <a:xfrm>
            <a:off x="3483428" y="2625332"/>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DA6BF15-120F-4351-9774-1AD78C8C01F8}"/>
              </a:ext>
            </a:extLst>
          </p:cNvPr>
          <p:cNvCxnSpPr/>
          <p:nvPr/>
        </p:nvCxnSpPr>
        <p:spPr>
          <a:xfrm>
            <a:off x="3553732" y="2731629"/>
            <a:ext cx="70304"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21A476A-5AF9-47A7-9CFD-88085794ACC3}"/>
              </a:ext>
            </a:extLst>
          </p:cNvPr>
          <p:cNvCxnSpPr/>
          <p:nvPr/>
        </p:nvCxnSpPr>
        <p:spPr>
          <a:xfrm>
            <a:off x="3624036" y="2842076"/>
            <a:ext cx="70303"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EC45FAD-6B52-42D5-8CA8-A8C7494C1547}"/>
              </a:ext>
            </a:extLst>
          </p:cNvPr>
          <p:cNvCxnSpPr/>
          <p:nvPr/>
        </p:nvCxnSpPr>
        <p:spPr>
          <a:xfrm>
            <a:off x="3694339" y="2944277"/>
            <a:ext cx="70304"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CD15D12-6562-4AC0-9FA3-D781116FF4EC}"/>
              </a:ext>
            </a:extLst>
          </p:cNvPr>
          <p:cNvCxnSpPr/>
          <p:nvPr/>
        </p:nvCxnSpPr>
        <p:spPr>
          <a:xfrm>
            <a:off x="3764643" y="3026761"/>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2D052CA-04D9-41A1-8B92-20E9201E7430}"/>
              </a:ext>
            </a:extLst>
          </p:cNvPr>
          <p:cNvCxnSpPr/>
          <p:nvPr/>
        </p:nvCxnSpPr>
        <p:spPr>
          <a:xfrm>
            <a:off x="3834947" y="308027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152B93C-1A27-44BA-9BF1-066FD3ADE862}"/>
              </a:ext>
            </a:extLst>
          </p:cNvPr>
          <p:cNvCxnSpPr/>
          <p:nvPr/>
        </p:nvCxnSpPr>
        <p:spPr>
          <a:xfrm flipV="1">
            <a:off x="3905250" y="308027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6BD7361-04F5-4469-BD8D-5B437506B9F6}"/>
              </a:ext>
            </a:extLst>
          </p:cNvPr>
          <p:cNvCxnSpPr/>
          <p:nvPr/>
        </p:nvCxnSpPr>
        <p:spPr>
          <a:xfrm flipV="1">
            <a:off x="3975553" y="3026761"/>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FDC99CA-A90E-4030-B566-D21779389269}"/>
              </a:ext>
            </a:extLst>
          </p:cNvPr>
          <p:cNvCxnSpPr/>
          <p:nvPr/>
        </p:nvCxnSpPr>
        <p:spPr>
          <a:xfrm flipV="1">
            <a:off x="4045857" y="2944277"/>
            <a:ext cx="70304"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B9B8984-DA3F-43D0-AC0C-B0012349E380}"/>
              </a:ext>
            </a:extLst>
          </p:cNvPr>
          <p:cNvCxnSpPr/>
          <p:nvPr/>
        </p:nvCxnSpPr>
        <p:spPr>
          <a:xfrm flipV="1">
            <a:off x="4116161" y="2842076"/>
            <a:ext cx="70303"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5131CF61-E2F7-4178-854A-C5387B0C6BFD}"/>
              </a:ext>
            </a:extLst>
          </p:cNvPr>
          <p:cNvCxnSpPr/>
          <p:nvPr/>
        </p:nvCxnSpPr>
        <p:spPr>
          <a:xfrm flipV="1">
            <a:off x="4186464" y="2731629"/>
            <a:ext cx="70304"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9937E5E-996E-44E9-9BE6-188AF89BA130}"/>
              </a:ext>
            </a:extLst>
          </p:cNvPr>
          <p:cNvCxnSpPr/>
          <p:nvPr/>
        </p:nvCxnSpPr>
        <p:spPr>
          <a:xfrm flipV="1">
            <a:off x="4256768" y="2625332"/>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776C026-7E4E-4452-BDE5-6F8322F494C5}"/>
              </a:ext>
            </a:extLst>
          </p:cNvPr>
          <p:cNvCxnSpPr/>
          <p:nvPr/>
        </p:nvCxnSpPr>
        <p:spPr>
          <a:xfrm flipV="1">
            <a:off x="4327072" y="2535113"/>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86CF291-B380-4AA4-8AAF-0E0575D43401}"/>
              </a:ext>
            </a:extLst>
          </p:cNvPr>
          <p:cNvCxnSpPr/>
          <p:nvPr/>
        </p:nvCxnSpPr>
        <p:spPr>
          <a:xfrm flipV="1">
            <a:off x="4397375" y="2471100"/>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78F4806-8585-430E-81A1-5BD1A75E5DF5}"/>
              </a:ext>
            </a:extLst>
          </p:cNvPr>
          <p:cNvCxnSpPr/>
          <p:nvPr/>
        </p:nvCxnSpPr>
        <p:spPr>
          <a:xfrm flipV="1">
            <a:off x="4467678" y="2440476"/>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21E2AE3-ABA6-45E9-ABCF-FFE4527F7CF2}"/>
              </a:ext>
            </a:extLst>
          </p:cNvPr>
          <p:cNvCxnSpPr/>
          <p:nvPr/>
        </p:nvCxnSpPr>
        <p:spPr>
          <a:xfrm>
            <a:off x="4537982" y="2440476"/>
            <a:ext cx="70304"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384A50F-9048-49B3-BBC5-FB2FAABB6566}"/>
              </a:ext>
            </a:extLst>
          </p:cNvPr>
          <p:cNvCxnSpPr/>
          <p:nvPr/>
        </p:nvCxnSpPr>
        <p:spPr>
          <a:xfrm>
            <a:off x="4608286" y="2446679"/>
            <a:ext cx="70303"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FFF677C-84AB-4F7A-9A42-AD4D0B64D23B}"/>
              </a:ext>
            </a:extLst>
          </p:cNvPr>
          <p:cNvCxnSpPr/>
          <p:nvPr/>
        </p:nvCxnSpPr>
        <p:spPr>
          <a:xfrm>
            <a:off x="4678589" y="2489012"/>
            <a:ext cx="70304"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CA82686-CCB7-49EA-A054-3CDFE0357D6B}"/>
              </a:ext>
            </a:extLst>
          </p:cNvPr>
          <p:cNvCxnSpPr/>
          <p:nvPr/>
        </p:nvCxnSpPr>
        <p:spPr>
          <a:xfrm>
            <a:off x="4748893" y="2562724"/>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2304DA2-51AA-46D9-A0C8-AD03093E9823}"/>
              </a:ext>
            </a:extLst>
          </p:cNvPr>
          <p:cNvCxnSpPr/>
          <p:nvPr/>
        </p:nvCxnSpPr>
        <p:spPr>
          <a:xfrm>
            <a:off x="4819197" y="2659542"/>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D1FAD3F-0A0C-4901-BB1C-8EA7C9201DE1}"/>
              </a:ext>
            </a:extLst>
          </p:cNvPr>
          <p:cNvCxnSpPr/>
          <p:nvPr/>
        </p:nvCxnSpPr>
        <p:spPr>
          <a:xfrm>
            <a:off x="4889500" y="2768600"/>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4000B6E-BC35-4222-BAC1-F19A8A7B4785}"/>
              </a:ext>
            </a:extLst>
          </p:cNvPr>
          <p:cNvCxnSpPr/>
          <p:nvPr/>
        </p:nvCxnSpPr>
        <p:spPr>
          <a:xfrm>
            <a:off x="4959803" y="2877658"/>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660D6A5-47B3-4794-AD4B-2EC04A95B848}"/>
              </a:ext>
            </a:extLst>
          </p:cNvPr>
          <p:cNvCxnSpPr/>
          <p:nvPr/>
        </p:nvCxnSpPr>
        <p:spPr>
          <a:xfrm>
            <a:off x="5030107" y="2974476"/>
            <a:ext cx="70304"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26EFEED-08A0-423E-B3BF-84080AE419E0}"/>
              </a:ext>
            </a:extLst>
          </p:cNvPr>
          <p:cNvCxnSpPr/>
          <p:nvPr/>
        </p:nvCxnSpPr>
        <p:spPr>
          <a:xfrm>
            <a:off x="5100411" y="3048188"/>
            <a:ext cx="70303"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6246031-AD87-4184-808F-C4BAEB29A3AA}"/>
              </a:ext>
            </a:extLst>
          </p:cNvPr>
          <p:cNvCxnSpPr/>
          <p:nvPr/>
        </p:nvCxnSpPr>
        <p:spPr>
          <a:xfrm>
            <a:off x="5170714" y="3090521"/>
            <a:ext cx="70304"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089303D-B491-4102-BD5A-D15A16103674}"/>
              </a:ext>
            </a:extLst>
          </p:cNvPr>
          <p:cNvCxnSpPr/>
          <p:nvPr/>
        </p:nvCxnSpPr>
        <p:spPr>
          <a:xfrm flipV="1">
            <a:off x="5241018" y="3066100"/>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F40BAAA-408D-4223-BF97-EC3B6281C548}"/>
              </a:ext>
            </a:extLst>
          </p:cNvPr>
          <p:cNvCxnSpPr/>
          <p:nvPr/>
        </p:nvCxnSpPr>
        <p:spPr>
          <a:xfrm flipV="1">
            <a:off x="5311322" y="3002087"/>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9D00239-0C44-424A-8C1A-BB22B666A00A}"/>
              </a:ext>
            </a:extLst>
          </p:cNvPr>
          <p:cNvCxnSpPr/>
          <p:nvPr/>
        </p:nvCxnSpPr>
        <p:spPr>
          <a:xfrm flipV="1">
            <a:off x="5381625" y="2911868"/>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2D87800-5C06-49C7-B099-3826B404919C}"/>
              </a:ext>
            </a:extLst>
          </p:cNvPr>
          <p:cNvCxnSpPr/>
          <p:nvPr/>
        </p:nvCxnSpPr>
        <p:spPr>
          <a:xfrm flipV="1">
            <a:off x="5451928" y="2805571"/>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143A644-F7C6-4DDA-A034-6EC404A6D416}"/>
              </a:ext>
            </a:extLst>
          </p:cNvPr>
          <p:cNvCxnSpPr/>
          <p:nvPr/>
        </p:nvCxnSpPr>
        <p:spPr>
          <a:xfrm flipV="1">
            <a:off x="5522232" y="2695124"/>
            <a:ext cx="70304"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2455889-2BAA-43AF-8D7A-BF0BF91B09E8}"/>
              </a:ext>
            </a:extLst>
          </p:cNvPr>
          <p:cNvCxnSpPr/>
          <p:nvPr/>
        </p:nvCxnSpPr>
        <p:spPr>
          <a:xfrm flipV="1">
            <a:off x="5592536" y="2592923"/>
            <a:ext cx="70303"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DBEB023-1531-4524-B769-3C09C7C23C2E}"/>
              </a:ext>
            </a:extLst>
          </p:cNvPr>
          <p:cNvCxnSpPr/>
          <p:nvPr/>
        </p:nvCxnSpPr>
        <p:spPr>
          <a:xfrm flipV="1">
            <a:off x="5662839" y="2510439"/>
            <a:ext cx="70304"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233724F5-845F-459F-932A-7EA767587F90}"/>
              </a:ext>
            </a:extLst>
          </p:cNvPr>
          <p:cNvCxnSpPr/>
          <p:nvPr/>
        </p:nvCxnSpPr>
        <p:spPr>
          <a:xfrm flipV="1">
            <a:off x="5733143" y="2456930"/>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C2B8DDB-6564-4BDA-B117-2A317A10FD15}"/>
              </a:ext>
            </a:extLst>
          </p:cNvPr>
          <p:cNvCxnSpPr/>
          <p:nvPr/>
        </p:nvCxnSpPr>
        <p:spPr>
          <a:xfrm flipV="1">
            <a:off x="5803447" y="243840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06B2D0EB-B2CB-4AE1-AAB8-2FA7391E85D8}"/>
              </a:ext>
            </a:extLst>
          </p:cNvPr>
          <p:cNvCxnSpPr/>
          <p:nvPr/>
        </p:nvCxnSpPr>
        <p:spPr>
          <a:xfrm>
            <a:off x="5873750" y="243840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4BFE0F1-D2BE-4F54-A058-DB638163622E}"/>
              </a:ext>
            </a:extLst>
          </p:cNvPr>
          <p:cNvCxnSpPr/>
          <p:nvPr/>
        </p:nvCxnSpPr>
        <p:spPr>
          <a:xfrm>
            <a:off x="5944053" y="2456930"/>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828A783-A61E-44EA-AA2A-0BAC909562B6}"/>
              </a:ext>
            </a:extLst>
          </p:cNvPr>
          <p:cNvCxnSpPr/>
          <p:nvPr/>
        </p:nvCxnSpPr>
        <p:spPr>
          <a:xfrm>
            <a:off x="6014357" y="2510439"/>
            <a:ext cx="70304"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5118944-DD16-4176-A5C3-E6F6AC6AE6F7}"/>
              </a:ext>
            </a:extLst>
          </p:cNvPr>
          <p:cNvCxnSpPr/>
          <p:nvPr/>
        </p:nvCxnSpPr>
        <p:spPr>
          <a:xfrm>
            <a:off x="6084661" y="2592923"/>
            <a:ext cx="70303"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4126017F-C5E2-4303-8E42-B2F62E16451A}"/>
              </a:ext>
            </a:extLst>
          </p:cNvPr>
          <p:cNvCxnSpPr/>
          <p:nvPr/>
        </p:nvCxnSpPr>
        <p:spPr>
          <a:xfrm>
            <a:off x="6154964" y="2695124"/>
            <a:ext cx="70304"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1883883-AFE9-40F9-8E47-99A1DAAE65E5}"/>
              </a:ext>
            </a:extLst>
          </p:cNvPr>
          <p:cNvCxnSpPr/>
          <p:nvPr/>
        </p:nvCxnSpPr>
        <p:spPr>
          <a:xfrm>
            <a:off x="6225268" y="2805571"/>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94916B6-CB40-46B6-8452-F4D58284B505}"/>
              </a:ext>
            </a:extLst>
          </p:cNvPr>
          <p:cNvCxnSpPr/>
          <p:nvPr/>
        </p:nvCxnSpPr>
        <p:spPr>
          <a:xfrm>
            <a:off x="6295572" y="2911868"/>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D169971B-A6A7-4509-AEBD-9760BC779600}"/>
              </a:ext>
            </a:extLst>
          </p:cNvPr>
          <p:cNvCxnSpPr/>
          <p:nvPr/>
        </p:nvCxnSpPr>
        <p:spPr>
          <a:xfrm>
            <a:off x="6365875" y="3002087"/>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770F20E0-B01C-499F-8AE8-45AE806DA949}"/>
              </a:ext>
            </a:extLst>
          </p:cNvPr>
          <p:cNvCxnSpPr/>
          <p:nvPr/>
        </p:nvCxnSpPr>
        <p:spPr>
          <a:xfrm>
            <a:off x="6436178" y="3066100"/>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1079AAEA-C763-4E71-96A1-A477062C8BCC}"/>
              </a:ext>
            </a:extLst>
          </p:cNvPr>
          <p:cNvCxnSpPr/>
          <p:nvPr/>
        </p:nvCxnSpPr>
        <p:spPr>
          <a:xfrm flipV="1">
            <a:off x="6506482" y="3090521"/>
            <a:ext cx="70303"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4142C99-67F6-49DB-9EE7-AB1748CA035B}"/>
              </a:ext>
            </a:extLst>
          </p:cNvPr>
          <p:cNvCxnSpPr/>
          <p:nvPr/>
        </p:nvCxnSpPr>
        <p:spPr>
          <a:xfrm flipV="1">
            <a:off x="6576785" y="3048188"/>
            <a:ext cx="70305"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417142D-7774-4A9B-AD97-4328B88DC415}"/>
              </a:ext>
            </a:extLst>
          </p:cNvPr>
          <p:cNvCxnSpPr/>
          <p:nvPr/>
        </p:nvCxnSpPr>
        <p:spPr>
          <a:xfrm flipV="1">
            <a:off x="6647090" y="2974476"/>
            <a:ext cx="70303"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5B4243CC-81B7-4FEE-8195-7347B9F70C4E}"/>
              </a:ext>
            </a:extLst>
          </p:cNvPr>
          <p:cNvCxnSpPr/>
          <p:nvPr/>
        </p:nvCxnSpPr>
        <p:spPr>
          <a:xfrm flipV="1">
            <a:off x="6717393" y="2877658"/>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B9F0DE9-CE6D-43E6-B9B5-6FDE7EA40836}"/>
              </a:ext>
            </a:extLst>
          </p:cNvPr>
          <p:cNvCxnSpPr/>
          <p:nvPr/>
        </p:nvCxnSpPr>
        <p:spPr>
          <a:xfrm flipV="1">
            <a:off x="6787697" y="2768600"/>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071CDE4-748B-4DCF-8DA6-3B818672C33E}"/>
              </a:ext>
            </a:extLst>
          </p:cNvPr>
          <p:cNvCxnSpPr/>
          <p:nvPr/>
        </p:nvCxnSpPr>
        <p:spPr>
          <a:xfrm flipV="1">
            <a:off x="6858000" y="2659542"/>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FA552DE4-9B9C-4098-9E39-0DAB4B7E80EA}"/>
              </a:ext>
            </a:extLst>
          </p:cNvPr>
          <p:cNvCxnSpPr/>
          <p:nvPr/>
        </p:nvCxnSpPr>
        <p:spPr>
          <a:xfrm flipV="1">
            <a:off x="6928303" y="2562724"/>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FEA1DDB-850A-406B-A4EC-64A29FE7EB57}"/>
              </a:ext>
            </a:extLst>
          </p:cNvPr>
          <p:cNvCxnSpPr/>
          <p:nvPr/>
        </p:nvCxnSpPr>
        <p:spPr>
          <a:xfrm flipV="1">
            <a:off x="6998607" y="2489012"/>
            <a:ext cx="70303"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16DDB833-C443-4F3A-B556-1F497E642F70}"/>
              </a:ext>
            </a:extLst>
          </p:cNvPr>
          <p:cNvCxnSpPr/>
          <p:nvPr/>
        </p:nvCxnSpPr>
        <p:spPr>
          <a:xfrm flipV="1">
            <a:off x="7068910" y="2446679"/>
            <a:ext cx="70305"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A8BE3A4B-288D-4F28-94D5-1B1717343B6C}"/>
              </a:ext>
            </a:extLst>
          </p:cNvPr>
          <p:cNvCxnSpPr/>
          <p:nvPr/>
        </p:nvCxnSpPr>
        <p:spPr>
          <a:xfrm flipV="1">
            <a:off x="7139215" y="2440476"/>
            <a:ext cx="70303"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F4A327B8-90A4-4B55-AAD8-B568BC01ED00}"/>
              </a:ext>
            </a:extLst>
          </p:cNvPr>
          <p:cNvCxnSpPr/>
          <p:nvPr/>
        </p:nvCxnSpPr>
        <p:spPr>
          <a:xfrm>
            <a:off x="7209518" y="2440476"/>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C712F24-B4BF-44B4-B243-9260AC885171}"/>
              </a:ext>
            </a:extLst>
          </p:cNvPr>
          <p:cNvCxnSpPr/>
          <p:nvPr/>
        </p:nvCxnSpPr>
        <p:spPr>
          <a:xfrm>
            <a:off x="7279822" y="2471100"/>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B93A5975-2B7E-420F-BF09-A6A0D55EC29A}"/>
              </a:ext>
            </a:extLst>
          </p:cNvPr>
          <p:cNvCxnSpPr/>
          <p:nvPr/>
        </p:nvCxnSpPr>
        <p:spPr>
          <a:xfrm>
            <a:off x="7350125" y="2535113"/>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25DC1BA-26D9-42A2-87A9-DA2D1BEA3D73}"/>
              </a:ext>
            </a:extLst>
          </p:cNvPr>
          <p:cNvCxnSpPr/>
          <p:nvPr/>
        </p:nvCxnSpPr>
        <p:spPr>
          <a:xfrm>
            <a:off x="7420428" y="2625332"/>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118C86B-C491-4468-B132-31F7A9AFD945}"/>
              </a:ext>
            </a:extLst>
          </p:cNvPr>
          <p:cNvCxnSpPr/>
          <p:nvPr/>
        </p:nvCxnSpPr>
        <p:spPr>
          <a:xfrm>
            <a:off x="7490732" y="2731629"/>
            <a:ext cx="70303"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DD3C43C-AA95-40B0-8746-BF056FD6885B}"/>
              </a:ext>
            </a:extLst>
          </p:cNvPr>
          <p:cNvCxnSpPr/>
          <p:nvPr/>
        </p:nvCxnSpPr>
        <p:spPr>
          <a:xfrm>
            <a:off x="7561035" y="2842076"/>
            <a:ext cx="70305"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24DA82E-D451-49AB-A1BD-808A8FC3FA68}"/>
              </a:ext>
            </a:extLst>
          </p:cNvPr>
          <p:cNvCxnSpPr/>
          <p:nvPr/>
        </p:nvCxnSpPr>
        <p:spPr>
          <a:xfrm>
            <a:off x="7631340" y="2944277"/>
            <a:ext cx="70303"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44F1E36B-AA90-4F42-A4D3-1B40856CEF56}"/>
              </a:ext>
            </a:extLst>
          </p:cNvPr>
          <p:cNvCxnSpPr/>
          <p:nvPr/>
        </p:nvCxnSpPr>
        <p:spPr>
          <a:xfrm>
            <a:off x="7701643" y="3026761"/>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B824F457-EB67-41D3-B4A0-D87243A82D68}"/>
              </a:ext>
            </a:extLst>
          </p:cNvPr>
          <p:cNvCxnSpPr/>
          <p:nvPr/>
        </p:nvCxnSpPr>
        <p:spPr>
          <a:xfrm>
            <a:off x="7771947" y="308027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C0F5F1BE-731A-490B-960F-7282733C2434}"/>
              </a:ext>
            </a:extLst>
          </p:cNvPr>
          <p:cNvCxnSpPr/>
          <p:nvPr/>
        </p:nvCxnSpPr>
        <p:spPr>
          <a:xfrm flipV="1">
            <a:off x="7842250" y="308027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240B28F2-C30B-412A-8E77-E7EA99F6FD68}"/>
              </a:ext>
            </a:extLst>
          </p:cNvPr>
          <p:cNvCxnSpPr/>
          <p:nvPr/>
        </p:nvCxnSpPr>
        <p:spPr>
          <a:xfrm flipV="1">
            <a:off x="7912553" y="3026761"/>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B899379E-E79F-4356-ACB7-21BC87666FD1}"/>
              </a:ext>
            </a:extLst>
          </p:cNvPr>
          <p:cNvCxnSpPr/>
          <p:nvPr/>
        </p:nvCxnSpPr>
        <p:spPr>
          <a:xfrm flipV="1">
            <a:off x="7982857" y="2944277"/>
            <a:ext cx="70303"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006B4AE9-C797-4EA0-87B8-AC3C2E74EA97}"/>
              </a:ext>
            </a:extLst>
          </p:cNvPr>
          <p:cNvCxnSpPr/>
          <p:nvPr/>
        </p:nvCxnSpPr>
        <p:spPr>
          <a:xfrm flipV="1">
            <a:off x="8053160" y="2842076"/>
            <a:ext cx="70305"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CE604680-64B5-48C8-827F-A88191E719D0}"/>
              </a:ext>
            </a:extLst>
          </p:cNvPr>
          <p:cNvCxnSpPr/>
          <p:nvPr/>
        </p:nvCxnSpPr>
        <p:spPr>
          <a:xfrm flipV="1">
            <a:off x="8123465" y="2731629"/>
            <a:ext cx="70303"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B54D84F2-ED93-4B82-9455-97B31F22F108}"/>
              </a:ext>
            </a:extLst>
          </p:cNvPr>
          <p:cNvCxnSpPr/>
          <p:nvPr/>
        </p:nvCxnSpPr>
        <p:spPr>
          <a:xfrm flipV="1">
            <a:off x="8193768" y="2625332"/>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C34FD568-B37B-4728-AB07-DD057756A65F}"/>
              </a:ext>
            </a:extLst>
          </p:cNvPr>
          <p:cNvCxnSpPr/>
          <p:nvPr/>
        </p:nvCxnSpPr>
        <p:spPr>
          <a:xfrm flipV="1">
            <a:off x="8264072" y="2535113"/>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BE57DD9F-E89F-4ED3-A00E-80EAC89A869D}"/>
              </a:ext>
            </a:extLst>
          </p:cNvPr>
          <p:cNvCxnSpPr/>
          <p:nvPr/>
        </p:nvCxnSpPr>
        <p:spPr>
          <a:xfrm flipV="1">
            <a:off x="8334375" y="2471100"/>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844931C3-0D83-438A-800B-A18F40D3EB5B}"/>
              </a:ext>
            </a:extLst>
          </p:cNvPr>
          <p:cNvCxnSpPr/>
          <p:nvPr/>
        </p:nvCxnSpPr>
        <p:spPr>
          <a:xfrm flipV="1">
            <a:off x="8404678" y="2440476"/>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6B5E9E2D-80D4-4A1F-A5A8-5FE1388C66A6}"/>
              </a:ext>
            </a:extLst>
          </p:cNvPr>
          <p:cNvCxnSpPr/>
          <p:nvPr/>
        </p:nvCxnSpPr>
        <p:spPr>
          <a:xfrm>
            <a:off x="8474982" y="2440476"/>
            <a:ext cx="70303"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F558F72C-0115-4722-88CE-0A7DCF5AFA1A}"/>
              </a:ext>
            </a:extLst>
          </p:cNvPr>
          <p:cNvCxnSpPr/>
          <p:nvPr/>
        </p:nvCxnSpPr>
        <p:spPr>
          <a:xfrm>
            <a:off x="8545285" y="2446679"/>
            <a:ext cx="70305"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12BAFCF3-7201-4EF8-AC7A-BCB939318A85}"/>
              </a:ext>
            </a:extLst>
          </p:cNvPr>
          <p:cNvCxnSpPr/>
          <p:nvPr/>
        </p:nvCxnSpPr>
        <p:spPr>
          <a:xfrm>
            <a:off x="8615590" y="2489012"/>
            <a:ext cx="70303"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1CF8CDA-9B15-4B6D-AC51-DEBEA29EB364}"/>
              </a:ext>
            </a:extLst>
          </p:cNvPr>
          <p:cNvCxnSpPr/>
          <p:nvPr/>
        </p:nvCxnSpPr>
        <p:spPr>
          <a:xfrm>
            <a:off x="8685893" y="2562724"/>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2194E09B-4816-45BE-9EB7-09AA7B1B5EC4}"/>
              </a:ext>
            </a:extLst>
          </p:cNvPr>
          <p:cNvCxnSpPr/>
          <p:nvPr/>
        </p:nvCxnSpPr>
        <p:spPr>
          <a:xfrm>
            <a:off x="8756197" y="2659542"/>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224F140D-3146-47C4-85EC-84D3BFC9F300}"/>
              </a:ext>
            </a:extLst>
          </p:cNvPr>
          <p:cNvCxnSpPr/>
          <p:nvPr/>
        </p:nvCxnSpPr>
        <p:spPr>
          <a:xfrm>
            <a:off x="8826500" y="2768600"/>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82D349B4-EE6D-43EA-A281-9573E8FCBBEE}"/>
              </a:ext>
            </a:extLst>
          </p:cNvPr>
          <p:cNvCxnSpPr/>
          <p:nvPr/>
        </p:nvCxnSpPr>
        <p:spPr>
          <a:xfrm>
            <a:off x="8896803" y="2877658"/>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2960BDC7-7321-41F7-87D9-6D61480BF835}"/>
              </a:ext>
            </a:extLst>
          </p:cNvPr>
          <p:cNvCxnSpPr/>
          <p:nvPr/>
        </p:nvCxnSpPr>
        <p:spPr>
          <a:xfrm>
            <a:off x="8967107" y="2974476"/>
            <a:ext cx="70303"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ADBF6A14-C12B-48C2-AEA3-A4F35027DC33}"/>
              </a:ext>
            </a:extLst>
          </p:cNvPr>
          <p:cNvCxnSpPr/>
          <p:nvPr/>
        </p:nvCxnSpPr>
        <p:spPr>
          <a:xfrm>
            <a:off x="9037410" y="3048188"/>
            <a:ext cx="70305"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37844354-B93E-437B-8076-E1881AFC05CE}"/>
              </a:ext>
            </a:extLst>
          </p:cNvPr>
          <p:cNvCxnSpPr/>
          <p:nvPr/>
        </p:nvCxnSpPr>
        <p:spPr>
          <a:xfrm>
            <a:off x="9107715" y="3090521"/>
            <a:ext cx="70303"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FEE45558-C47F-483D-968B-9223BC269B30}"/>
              </a:ext>
            </a:extLst>
          </p:cNvPr>
          <p:cNvCxnSpPr/>
          <p:nvPr/>
        </p:nvCxnSpPr>
        <p:spPr>
          <a:xfrm flipV="1">
            <a:off x="9178018" y="3066100"/>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0CFBACEA-9CB3-4B5F-A212-6DD575CDB45D}"/>
              </a:ext>
            </a:extLst>
          </p:cNvPr>
          <p:cNvCxnSpPr/>
          <p:nvPr/>
        </p:nvCxnSpPr>
        <p:spPr>
          <a:xfrm flipV="1">
            <a:off x="9248322" y="3002087"/>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121F42C6-1705-4EBD-85CE-9A47F719ACB1}"/>
              </a:ext>
            </a:extLst>
          </p:cNvPr>
          <p:cNvCxnSpPr/>
          <p:nvPr/>
        </p:nvCxnSpPr>
        <p:spPr>
          <a:xfrm flipV="1">
            <a:off x="9318625" y="2911868"/>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DF421E25-EF39-4D87-A322-D1E7E9BE17B2}"/>
              </a:ext>
            </a:extLst>
          </p:cNvPr>
          <p:cNvCxnSpPr/>
          <p:nvPr/>
        </p:nvCxnSpPr>
        <p:spPr>
          <a:xfrm flipV="1">
            <a:off x="9388928" y="2805571"/>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72603A68-3E53-420F-A996-D54AD22A9F55}"/>
              </a:ext>
            </a:extLst>
          </p:cNvPr>
          <p:cNvCxnSpPr/>
          <p:nvPr/>
        </p:nvCxnSpPr>
        <p:spPr>
          <a:xfrm flipV="1">
            <a:off x="9459232" y="2695124"/>
            <a:ext cx="70303"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71A62122-7C10-464A-B8B2-FEC72711D9A2}"/>
              </a:ext>
            </a:extLst>
          </p:cNvPr>
          <p:cNvCxnSpPr/>
          <p:nvPr/>
        </p:nvCxnSpPr>
        <p:spPr>
          <a:xfrm flipV="1">
            <a:off x="9529535" y="2592923"/>
            <a:ext cx="70305"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5D2FCAFF-BE12-4D5A-A517-1F626AE5EF23}"/>
              </a:ext>
            </a:extLst>
          </p:cNvPr>
          <p:cNvCxnSpPr/>
          <p:nvPr/>
        </p:nvCxnSpPr>
        <p:spPr>
          <a:xfrm flipV="1">
            <a:off x="9599840" y="2510439"/>
            <a:ext cx="70303"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1081621F-86F2-4CC9-AEE0-A91029427D25}"/>
              </a:ext>
            </a:extLst>
          </p:cNvPr>
          <p:cNvCxnSpPr/>
          <p:nvPr/>
        </p:nvCxnSpPr>
        <p:spPr>
          <a:xfrm flipV="1">
            <a:off x="9670143" y="2456930"/>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9F74EC15-B8CE-411B-B4F3-4B489821F38D}"/>
              </a:ext>
            </a:extLst>
          </p:cNvPr>
          <p:cNvCxnSpPr/>
          <p:nvPr/>
        </p:nvCxnSpPr>
        <p:spPr>
          <a:xfrm flipV="1">
            <a:off x="9740447" y="243840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F051AC56-9085-457B-9A3F-6CB095696988}"/>
              </a:ext>
            </a:extLst>
          </p:cNvPr>
          <p:cNvCxnSpPr/>
          <p:nvPr/>
        </p:nvCxnSpPr>
        <p:spPr>
          <a:xfrm>
            <a:off x="9810750" y="243840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14FAD29B-9898-4BD7-910A-A254C55F5AEE}"/>
              </a:ext>
            </a:extLst>
          </p:cNvPr>
          <p:cNvCxnSpPr/>
          <p:nvPr/>
        </p:nvCxnSpPr>
        <p:spPr>
          <a:xfrm>
            <a:off x="9881053" y="2456930"/>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421CA2E7-7C28-41DB-A086-662CFA51E19F}"/>
              </a:ext>
            </a:extLst>
          </p:cNvPr>
          <p:cNvCxnSpPr/>
          <p:nvPr/>
        </p:nvCxnSpPr>
        <p:spPr>
          <a:xfrm>
            <a:off x="9951357" y="2510439"/>
            <a:ext cx="70303"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EA52143C-15FD-4E5C-BF2B-8CA0D1A003EC}"/>
              </a:ext>
            </a:extLst>
          </p:cNvPr>
          <p:cNvCxnSpPr/>
          <p:nvPr/>
        </p:nvCxnSpPr>
        <p:spPr>
          <a:xfrm>
            <a:off x="10021660" y="2592923"/>
            <a:ext cx="70305"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CD7900F3-C4D2-42BA-AB49-13A7BFD398C2}"/>
              </a:ext>
            </a:extLst>
          </p:cNvPr>
          <p:cNvCxnSpPr/>
          <p:nvPr/>
        </p:nvCxnSpPr>
        <p:spPr>
          <a:xfrm>
            <a:off x="10091965" y="2695124"/>
            <a:ext cx="70303"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FBEC6BDD-EB7B-4F12-A60D-A441F7595805}"/>
              </a:ext>
            </a:extLst>
          </p:cNvPr>
          <p:cNvCxnSpPr/>
          <p:nvPr/>
        </p:nvCxnSpPr>
        <p:spPr>
          <a:xfrm>
            <a:off x="10162268" y="2805571"/>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764DC8D-3326-4D7D-BB34-E96037192757}"/>
              </a:ext>
            </a:extLst>
          </p:cNvPr>
          <p:cNvCxnSpPr/>
          <p:nvPr/>
        </p:nvCxnSpPr>
        <p:spPr>
          <a:xfrm>
            <a:off x="10232572" y="2911868"/>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8C12C262-C968-410E-83D7-B3AEF9C0F22A}"/>
              </a:ext>
            </a:extLst>
          </p:cNvPr>
          <p:cNvCxnSpPr/>
          <p:nvPr/>
        </p:nvCxnSpPr>
        <p:spPr>
          <a:xfrm>
            <a:off x="10302875" y="3002087"/>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A20DD110-E2E4-4E4F-B630-689C83FAD5B4}"/>
              </a:ext>
            </a:extLst>
          </p:cNvPr>
          <p:cNvCxnSpPr/>
          <p:nvPr/>
        </p:nvCxnSpPr>
        <p:spPr>
          <a:xfrm>
            <a:off x="10373178" y="3066100"/>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CBE320BF-C4C4-42C9-85B1-DC3B0D4FDFEC}"/>
              </a:ext>
            </a:extLst>
          </p:cNvPr>
          <p:cNvCxnSpPr/>
          <p:nvPr/>
        </p:nvCxnSpPr>
        <p:spPr>
          <a:xfrm flipV="1">
            <a:off x="10443482" y="3090521"/>
            <a:ext cx="70303"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857F4E0-73BB-4768-A494-9A939F06F8FF}"/>
              </a:ext>
            </a:extLst>
          </p:cNvPr>
          <p:cNvCxnSpPr/>
          <p:nvPr/>
        </p:nvCxnSpPr>
        <p:spPr>
          <a:xfrm flipV="1">
            <a:off x="10513785" y="3048188"/>
            <a:ext cx="70305"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7D447FD-CFC6-472E-9267-C414F33C7B82}"/>
              </a:ext>
            </a:extLst>
          </p:cNvPr>
          <p:cNvCxnSpPr/>
          <p:nvPr/>
        </p:nvCxnSpPr>
        <p:spPr>
          <a:xfrm flipV="1">
            <a:off x="10584090" y="2974476"/>
            <a:ext cx="70303"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496E93A-2DB9-45B8-88EF-12A18BB83ED4}"/>
              </a:ext>
            </a:extLst>
          </p:cNvPr>
          <p:cNvCxnSpPr/>
          <p:nvPr/>
        </p:nvCxnSpPr>
        <p:spPr>
          <a:xfrm flipV="1">
            <a:off x="10654393" y="2877658"/>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FB46A1F5-A56B-477B-A147-BF9D2B06B24C}"/>
              </a:ext>
            </a:extLst>
          </p:cNvPr>
          <p:cNvCxnSpPr/>
          <p:nvPr/>
        </p:nvCxnSpPr>
        <p:spPr>
          <a:xfrm flipV="1">
            <a:off x="10724697" y="2768600"/>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8FD10270-94EB-4A66-8718-1C1BDD700E1D}"/>
              </a:ext>
            </a:extLst>
          </p:cNvPr>
          <p:cNvCxnSpPr/>
          <p:nvPr/>
        </p:nvCxnSpPr>
        <p:spPr>
          <a:xfrm flipV="1">
            <a:off x="2921000" y="3649251"/>
            <a:ext cx="70304" cy="7184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43AF897B-5E5B-4803-9D7A-7935D339F514}"/>
              </a:ext>
            </a:extLst>
          </p:cNvPr>
          <p:cNvCxnSpPr/>
          <p:nvPr/>
        </p:nvCxnSpPr>
        <p:spPr>
          <a:xfrm flipV="1">
            <a:off x="2991304" y="3573014"/>
            <a:ext cx="70303" cy="7623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49973CD-56C2-418D-A8B9-CE3C8CB6E2BC}"/>
              </a:ext>
            </a:extLst>
          </p:cNvPr>
          <p:cNvCxnSpPr/>
          <p:nvPr/>
        </p:nvCxnSpPr>
        <p:spPr>
          <a:xfrm flipV="1">
            <a:off x="3061607" y="3503754"/>
            <a:ext cx="70304" cy="692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00C9C13-7C02-40E1-8088-74C8463EACC6}"/>
              </a:ext>
            </a:extLst>
          </p:cNvPr>
          <p:cNvCxnSpPr/>
          <p:nvPr/>
        </p:nvCxnSpPr>
        <p:spPr>
          <a:xfrm flipV="1">
            <a:off x="3131911" y="3453285"/>
            <a:ext cx="70303" cy="5046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474835EE-AA26-4487-9127-D6C5A4379FE2}"/>
              </a:ext>
            </a:extLst>
          </p:cNvPr>
          <p:cNvCxnSpPr/>
          <p:nvPr/>
        </p:nvCxnSpPr>
        <p:spPr>
          <a:xfrm flipV="1">
            <a:off x="3202214" y="3431741"/>
            <a:ext cx="70304" cy="2154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A56EAFC7-F381-4586-BB10-1E9031E256F4}"/>
              </a:ext>
            </a:extLst>
          </p:cNvPr>
          <p:cNvCxnSpPr/>
          <p:nvPr/>
        </p:nvCxnSpPr>
        <p:spPr>
          <a:xfrm>
            <a:off x="3272518" y="3431741"/>
            <a:ext cx="70304" cy="1381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36DD17DD-4DDD-4DB4-A6A0-CBD0B456DB18}"/>
              </a:ext>
            </a:extLst>
          </p:cNvPr>
          <p:cNvCxnSpPr/>
          <p:nvPr/>
        </p:nvCxnSpPr>
        <p:spPr>
          <a:xfrm>
            <a:off x="3342822" y="3445555"/>
            <a:ext cx="70303" cy="504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09284532-9AF8-4A90-B975-310A5FAB7641}"/>
              </a:ext>
            </a:extLst>
          </p:cNvPr>
          <p:cNvCxnSpPr/>
          <p:nvPr/>
        </p:nvCxnSpPr>
        <p:spPr>
          <a:xfrm>
            <a:off x="3413125" y="3496000"/>
            <a:ext cx="70303" cy="825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8499DB38-B96A-4716-8B4D-B38C4A2B1918}"/>
              </a:ext>
            </a:extLst>
          </p:cNvPr>
          <p:cNvCxnSpPr/>
          <p:nvPr/>
        </p:nvCxnSpPr>
        <p:spPr>
          <a:xfrm>
            <a:off x="3483428" y="3578583"/>
            <a:ext cx="70304" cy="10489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4ED2AC5-2827-4197-B8C8-DD1967048448}"/>
              </a:ext>
            </a:extLst>
          </p:cNvPr>
          <p:cNvCxnSpPr/>
          <p:nvPr/>
        </p:nvCxnSpPr>
        <p:spPr>
          <a:xfrm>
            <a:off x="3553732" y="3683478"/>
            <a:ext cx="70304" cy="11346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355AA987-7856-4FF7-BDC2-09058024DF60}"/>
              </a:ext>
            </a:extLst>
          </p:cNvPr>
          <p:cNvCxnSpPr/>
          <p:nvPr/>
        </p:nvCxnSpPr>
        <p:spPr>
          <a:xfrm>
            <a:off x="3624036" y="3796944"/>
            <a:ext cx="70303" cy="10655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D4D06155-F224-4B1A-AAD2-74F9277D9D9F}"/>
              </a:ext>
            </a:extLst>
          </p:cNvPr>
          <p:cNvCxnSpPr/>
          <p:nvPr/>
        </p:nvCxnSpPr>
        <p:spPr>
          <a:xfrm>
            <a:off x="3694339" y="3903503"/>
            <a:ext cx="70304" cy="8497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E55512FE-0842-41CC-97FF-AA6413D97FD2}"/>
              </a:ext>
            </a:extLst>
          </p:cNvPr>
          <p:cNvCxnSpPr/>
          <p:nvPr/>
        </p:nvCxnSpPr>
        <p:spPr>
          <a:xfrm>
            <a:off x="3764643" y="3988474"/>
            <a:ext cx="70304" cy="5192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85E3AB7B-9C3F-4BF1-94EF-CA125D0E11A1}"/>
              </a:ext>
            </a:extLst>
          </p:cNvPr>
          <p:cNvCxnSpPr/>
          <p:nvPr/>
        </p:nvCxnSpPr>
        <p:spPr>
          <a:xfrm>
            <a:off x="3834947" y="4040398"/>
            <a:ext cx="70303" cy="1250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04A621F1-E806-4A1D-9A16-E5739D8F2E31}"/>
              </a:ext>
            </a:extLst>
          </p:cNvPr>
          <p:cNvCxnSpPr/>
          <p:nvPr/>
        </p:nvCxnSpPr>
        <p:spPr>
          <a:xfrm flipV="1">
            <a:off x="3905250" y="4025681"/>
            <a:ext cx="70303" cy="2722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661D4178-B5A3-448A-8C19-1B2554189817}"/>
              </a:ext>
            </a:extLst>
          </p:cNvPr>
          <p:cNvCxnSpPr/>
          <p:nvPr/>
        </p:nvCxnSpPr>
        <p:spPr>
          <a:xfrm flipV="1">
            <a:off x="3975553" y="3964332"/>
            <a:ext cx="70304" cy="6134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6208B4F9-06F3-40BD-B360-5887CD0F080D}"/>
              </a:ext>
            </a:extLst>
          </p:cNvPr>
          <p:cNvCxnSpPr/>
          <p:nvPr/>
        </p:nvCxnSpPr>
        <p:spPr>
          <a:xfrm flipV="1">
            <a:off x="4045857" y="3879265"/>
            <a:ext cx="70304" cy="8506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BCDADD0B-6D05-46FC-9452-43AD4F26AB16}"/>
              </a:ext>
            </a:extLst>
          </p:cNvPr>
          <p:cNvCxnSpPr/>
          <p:nvPr/>
        </p:nvCxnSpPr>
        <p:spPr>
          <a:xfrm flipV="1">
            <a:off x="4116161" y="3783739"/>
            <a:ext cx="70303" cy="9552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2794748B-817A-480A-AA73-B4E08DAA1290}"/>
              </a:ext>
            </a:extLst>
          </p:cNvPr>
          <p:cNvCxnSpPr/>
          <p:nvPr/>
        </p:nvCxnSpPr>
        <p:spPr>
          <a:xfrm flipV="1">
            <a:off x="4186464" y="3691535"/>
            <a:ext cx="70304" cy="9220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43DC758E-F8C2-470C-8ED1-D78C6EBB7195}"/>
              </a:ext>
            </a:extLst>
          </p:cNvPr>
          <p:cNvCxnSpPr/>
          <p:nvPr/>
        </p:nvCxnSpPr>
        <p:spPr>
          <a:xfrm flipV="1">
            <a:off x="4256768" y="3614669"/>
            <a:ext cx="70304" cy="7686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2F2B7D2C-CD22-42CA-8A04-3999508A8404}"/>
              </a:ext>
            </a:extLst>
          </p:cNvPr>
          <p:cNvCxnSpPr/>
          <p:nvPr/>
        </p:nvCxnSpPr>
        <p:spPr>
          <a:xfrm flipV="1">
            <a:off x="4327072" y="3561578"/>
            <a:ext cx="70303" cy="5309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0B2082AE-10CE-43C9-A2B5-26F0E2D6DE37}"/>
              </a:ext>
            </a:extLst>
          </p:cNvPr>
          <p:cNvCxnSpPr/>
          <p:nvPr/>
        </p:nvCxnSpPr>
        <p:spPr>
          <a:xfrm flipV="1">
            <a:off x="4397375" y="3536096"/>
            <a:ext cx="70303" cy="2548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A23CCD50-F14A-424E-A2F8-FB877E7BD06D}"/>
              </a:ext>
            </a:extLst>
          </p:cNvPr>
          <p:cNvCxnSpPr/>
          <p:nvPr/>
        </p:nvCxnSpPr>
        <p:spPr>
          <a:xfrm>
            <a:off x="4467678" y="3536096"/>
            <a:ext cx="70304" cy="124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D123F5CB-5506-4115-B36E-577925D00280}"/>
              </a:ext>
            </a:extLst>
          </p:cNvPr>
          <p:cNvCxnSpPr/>
          <p:nvPr/>
        </p:nvCxnSpPr>
        <p:spPr>
          <a:xfrm>
            <a:off x="4537982" y="3537344"/>
            <a:ext cx="70304" cy="2314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30ECA9EB-307C-4CB4-A3BC-0EC2836E1EDF}"/>
              </a:ext>
            </a:extLst>
          </p:cNvPr>
          <p:cNvCxnSpPr/>
          <p:nvPr/>
        </p:nvCxnSpPr>
        <p:spPr>
          <a:xfrm>
            <a:off x="4608286" y="3560491"/>
            <a:ext cx="70303" cy="3766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B9F5D47E-AE0A-4655-B71F-6C3BB4A6ACF7}"/>
              </a:ext>
            </a:extLst>
          </p:cNvPr>
          <p:cNvCxnSpPr/>
          <p:nvPr/>
        </p:nvCxnSpPr>
        <p:spPr>
          <a:xfrm>
            <a:off x="4678589" y="3598159"/>
            <a:ext cx="70304" cy="4396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149779AB-EF8A-44C5-9CA7-D86E3480A804}"/>
              </a:ext>
            </a:extLst>
          </p:cNvPr>
          <p:cNvCxnSpPr/>
          <p:nvPr/>
        </p:nvCxnSpPr>
        <p:spPr>
          <a:xfrm>
            <a:off x="4748893" y="3642120"/>
            <a:ext cx="70304" cy="4280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2E8146C0-0CEE-42B2-8C8C-5E2975CC9F9D}"/>
              </a:ext>
            </a:extLst>
          </p:cNvPr>
          <p:cNvCxnSpPr/>
          <p:nvPr/>
        </p:nvCxnSpPr>
        <p:spPr>
          <a:xfrm>
            <a:off x="4819197" y="3684922"/>
            <a:ext cx="70303" cy="3617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85E11F60-C915-41D0-BFBA-8A06168D7C67}"/>
              </a:ext>
            </a:extLst>
          </p:cNvPr>
          <p:cNvCxnSpPr/>
          <p:nvPr/>
        </p:nvCxnSpPr>
        <p:spPr>
          <a:xfrm>
            <a:off x="4889500" y="3721100"/>
            <a:ext cx="70303" cy="2666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1555EAA0-0EA9-44BA-8AF7-13759403FE2F}"/>
              </a:ext>
            </a:extLst>
          </p:cNvPr>
          <p:cNvCxnSpPr/>
          <p:nvPr/>
        </p:nvCxnSpPr>
        <p:spPr>
          <a:xfrm>
            <a:off x="4959803" y="3747762"/>
            <a:ext cx="70304" cy="167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E9F3E30E-850C-46A9-9A48-842679D1E6FF}"/>
              </a:ext>
            </a:extLst>
          </p:cNvPr>
          <p:cNvCxnSpPr/>
          <p:nvPr/>
        </p:nvCxnSpPr>
        <p:spPr>
          <a:xfrm>
            <a:off x="5030107" y="3764507"/>
            <a:ext cx="70304" cy="82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74F60160-39A9-4904-8977-51AE97D9272F}"/>
              </a:ext>
            </a:extLst>
          </p:cNvPr>
          <p:cNvCxnSpPr/>
          <p:nvPr/>
        </p:nvCxnSpPr>
        <p:spPr>
          <a:xfrm>
            <a:off x="5100411" y="3772765"/>
            <a:ext cx="70303" cy="204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4345874E-84FC-40C8-9BF4-D8255F3A3078}"/>
              </a:ext>
            </a:extLst>
          </p:cNvPr>
          <p:cNvCxnSpPr/>
          <p:nvPr/>
        </p:nvCxnSpPr>
        <p:spPr>
          <a:xfrm flipV="1">
            <a:off x="5170714" y="3772724"/>
            <a:ext cx="70304" cy="208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A5C9BBAE-163D-4870-AE76-AADE062444F2}"/>
              </a:ext>
            </a:extLst>
          </p:cNvPr>
          <p:cNvCxnSpPr/>
          <p:nvPr/>
        </p:nvCxnSpPr>
        <p:spPr>
          <a:xfrm flipV="1">
            <a:off x="5241018" y="3767648"/>
            <a:ext cx="70304" cy="507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93C7A774-BA87-464B-B580-2603822283A0}"/>
              </a:ext>
            </a:extLst>
          </p:cNvPr>
          <p:cNvCxnSpPr/>
          <p:nvPr/>
        </p:nvCxnSpPr>
        <p:spPr>
          <a:xfrm flipV="1">
            <a:off x="5311322" y="3759450"/>
            <a:ext cx="70303" cy="819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0C258D30-8C17-4222-9322-E0521E60B725}"/>
              </a:ext>
            </a:extLst>
          </p:cNvPr>
          <p:cNvCxnSpPr/>
          <p:nvPr/>
        </p:nvCxnSpPr>
        <p:spPr>
          <a:xfrm flipV="1">
            <a:off x="5381625" y="3746965"/>
            <a:ext cx="70303" cy="1248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0FABF7B4-C6D2-4AD0-9005-243BCF99C8F2}"/>
              </a:ext>
            </a:extLst>
          </p:cNvPr>
          <p:cNvCxnSpPr/>
          <p:nvPr/>
        </p:nvCxnSpPr>
        <p:spPr>
          <a:xfrm flipV="1">
            <a:off x="5451928" y="3728679"/>
            <a:ext cx="70304" cy="1828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1069FF0E-A8B8-47DE-987D-7CE039007281}"/>
              </a:ext>
            </a:extLst>
          </p:cNvPr>
          <p:cNvCxnSpPr/>
          <p:nvPr/>
        </p:nvCxnSpPr>
        <p:spPr>
          <a:xfrm flipV="1">
            <a:off x="5522232" y="3703674"/>
            <a:ext cx="70304" cy="2500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BEB134F5-A7CA-454C-B324-033ADA3BE3FB}"/>
              </a:ext>
            </a:extLst>
          </p:cNvPr>
          <p:cNvCxnSpPr/>
          <p:nvPr/>
        </p:nvCxnSpPr>
        <p:spPr>
          <a:xfrm flipV="1">
            <a:off x="5592536" y="3672542"/>
            <a:ext cx="70303" cy="3113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F2641C0D-0805-4ADC-8580-2111F34280C4}"/>
              </a:ext>
            </a:extLst>
          </p:cNvPr>
          <p:cNvCxnSpPr/>
          <p:nvPr/>
        </p:nvCxnSpPr>
        <p:spPr>
          <a:xfrm flipV="1">
            <a:off x="5662839" y="3637988"/>
            <a:ext cx="70304" cy="3455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2EDB6D3F-C048-4D40-8F38-C46851C03E2B}"/>
              </a:ext>
            </a:extLst>
          </p:cNvPr>
          <p:cNvCxnSpPr/>
          <p:nvPr/>
        </p:nvCxnSpPr>
        <p:spPr>
          <a:xfrm flipV="1">
            <a:off x="5733143" y="3604885"/>
            <a:ext cx="70304" cy="3310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187530BE-5B99-4F7F-9692-AC590F451349}"/>
              </a:ext>
            </a:extLst>
          </p:cNvPr>
          <p:cNvCxnSpPr/>
          <p:nvPr/>
        </p:nvCxnSpPr>
        <p:spPr>
          <a:xfrm flipV="1">
            <a:off x="5803447" y="3579702"/>
            <a:ext cx="70303" cy="251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308C70B0-D044-4D95-B122-AEFF2B6EF7A1}"/>
              </a:ext>
            </a:extLst>
          </p:cNvPr>
          <p:cNvCxnSpPr/>
          <p:nvPr/>
        </p:nvCxnSpPr>
        <p:spPr>
          <a:xfrm flipV="1">
            <a:off x="5873750" y="3569355"/>
            <a:ext cx="70303" cy="1034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C7B587C4-9190-4BFD-9043-9984083E5C1E}"/>
              </a:ext>
            </a:extLst>
          </p:cNvPr>
          <p:cNvCxnSpPr/>
          <p:nvPr/>
        </p:nvCxnSpPr>
        <p:spPr>
          <a:xfrm>
            <a:off x="5944053" y="3569355"/>
            <a:ext cx="70304" cy="1035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378EBCD1-3F23-4192-9134-37D4149B9A7D}"/>
              </a:ext>
            </a:extLst>
          </p:cNvPr>
          <p:cNvCxnSpPr/>
          <p:nvPr/>
        </p:nvCxnSpPr>
        <p:spPr>
          <a:xfrm>
            <a:off x="6014357" y="3579705"/>
            <a:ext cx="70304" cy="3432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A4015D15-4A4A-4ACE-B382-1E3067C4C1C8}"/>
              </a:ext>
            </a:extLst>
          </p:cNvPr>
          <p:cNvCxnSpPr/>
          <p:nvPr/>
        </p:nvCxnSpPr>
        <p:spPr>
          <a:xfrm>
            <a:off x="6084661" y="3614026"/>
            <a:ext cx="70303" cy="5776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3072A3A6-70B7-4BEA-9450-95983438D06B}"/>
              </a:ext>
            </a:extLst>
          </p:cNvPr>
          <p:cNvCxnSpPr/>
          <p:nvPr/>
        </p:nvCxnSpPr>
        <p:spPr>
          <a:xfrm>
            <a:off x="6154964" y="3671794"/>
            <a:ext cx="70304" cy="7633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D1A14942-5C44-4236-A3AB-E3822EB373F0}"/>
              </a:ext>
            </a:extLst>
          </p:cNvPr>
          <p:cNvCxnSpPr/>
          <p:nvPr/>
        </p:nvCxnSpPr>
        <p:spPr>
          <a:xfrm>
            <a:off x="6225268" y="3748131"/>
            <a:ext cx="70304" cy="8595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5912FC1-A5FD-47E7-80BF-2DE9912EC4AC}"/>
              </a:ext>
            </a:extLst>
          </p:cNvPr>
          <p:cNvCxnSpPr/>
          <p:nvPr/>
        </p:nvCxnSpPr>
        <p:spPr>
          <a:xfrm>
            <a:off x="6295572" y="3834083"/>
            <a:ext cx="70303" cy="8368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6E5E283C-49D2-42B8-9191-F86B9D5C559E}"/>
              </a:ext>
            </a:extLst>
          </p:cNvPr>
          <p:cNvCxnSpPr/>
          <p:nvPr/>
        </p:nvCxnSpPr>
        <p:spPr>
          <a:xfrm>
            <a:off x="6365875" y="3917769"/>
            <a:ext cx="70303" cy="6846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C8D42359-10AF-4B21-BC30-198C4486231B}"/>
              </a:ext>
            </a:extLst>
          </p:cNvPr>
          <p:cNvCxnSpPr/>
          <p:nvPr/>
        </p:nvCxnSpPr>
        <p:spPr>
          <a:xfrm>
            <a:off x="6436178" y="3986233"/>
            <a:ext cx="70304" cy="4144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0F9AA1F5-FEBE-4E76-B97A-49EE8C606208}"/>
              </a:ext>
            </a:extLst>
          </p:cNvPr>
          <p:cNvCxnSpPr/>
          <p:nvPr/>
        </p:nvCxnSpPr>
        <p:spPr>
          <a:xfrm>
            <a:off x="6506482" y="4027673"/>
            <a:ext cx="70303" cy="595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231DCEC1-11EE-4491-A653-80687D94557D}"/>
              </a:ext>
            </a:extLst>
          </p:cNvPr>
          <p:cNvCxnSpPr/>
          <p:nvPr/>
        </p:nvCxnSpPr>
        <p:spPr>
          <a:xfrm flipV="1">
            <a:off x="6576785" y="4000679"/>
            <a:ext cx="70305" cy="3294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8603E9AD-88DB-4B39-AEF2-6E6B180D0743}"/>
              </a:ext>
            </a:extLst>
          </p:cNvPr>
          <p:cNvCxnSpPr/>
          <p:nvPr/>
        </p:nvCxnSpPr>
        <p:spPr>
          <a:xfrm flipV="1">
            <a:off x="6647090" y="3931343"/>
            <a:ext cx="70303" cy="6933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59FF918B-A4D1-4D6E-A131-A14559F48C70}"/>
              </a:ext>
            </a:extLst>
          </p:cNvPr>
          <p:cNvCxnSpPr/>
          <p:nvPr/>
        </p:nvCxnSpPr>
        <p:spPr>
          <a:xfrm flipV="1">
            <a:off x="6717393" y="3833880"/>
            <a:ext cx="70304" cy="9746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734A746C-4369-4555-B4B1-636948478F45}"/>
              </a:ext>
            </a:extLst>
          </p:cNvPr>
          <p:cNvCxnSpPr/>
          <p:nvPr/>
        </p:nvCxnSpPr>
        <p:spPr>
          <a:xfrm flipV="1">
            <a:off x="6787697" y="3721100"/>
            <a:ext cx="70303" cy="11278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8F392EA1-0723-4F71-9FFD-43D86930C917}"/>
              </a:ext>
            </a:extLst>
          </p:cNvPr>
          <p:cNvCxnSpPr/>
          <p:nvPr/>
        </p:nvCxnSpPr>
        <p:spPr>
          <a:xfrm flipV="1">
            <a:off x="6858000" y="3608320"/>
            <a:ext cx="70303" cy="11278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F1A72594-B357-4546-872C-0512C69338D2}"/>
              </a:ext>
            </a:extLst>
          </p:cNvPr>
          <p:cNvCxnSpPr/>
          <p:nvPr/>
        </p:nvCxnSpPr>
        <p:spPr>
          <a:xfrm flipV="1">
            <a:off x="6928303" y="3510857"/>
            <a:ext cx="70304" cy="9746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D32AE676-D4A3-46BD-BB58-B16663D417CC}"/>
              </a:ext>
            </a:extLst>
          </p:cNvPr>
          <p:cNvCxnSpPr/>
          <p:nvPr/>
        </p:nvCxnSpPr>
        <p:spPr>
          <a:xfrm flipV="1">
            <a:off x="6998607" y="3441521"/>
            <a:ext cx="70303" cy="6933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EB1616A9-D3E1-4E8A-902C-FF0CEAD27A58}"/>
              </a:ext>
            </a:extLst>
          </p:cNvPr>
          <p:cNvCxnSpPr/>
          <p:nvPr/>
        </p:nvCxnSpPr>
        <p:spPr>
          <a:xfrm flipV="1">
            <a:off x="7068910" y="3408575"/>
            <a:ext cx="70305" cy="3294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88F92774-6C87-4814-8C32-44DE37A0BB0E}"/>
              </a:ext>
            </a:extLst>
          </p:cNvPr>
          <p:cNvCxnSpPr/>
          <p:nvPr/>
        </p:nvCxnSpPr>
        <p:spPr>
          <a:xfrm>
            <a:off x="7139215" y="3408575"/>
            <a:ext cx="70303" cy="595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3B440261-A999-4D7F-AB23-1D636A7043EA}"/>
              </a:ext>
            </a:extLst>
          </p:cNvPr>
          <p:cNvCxnSpPr/>
          <p:nvPr/>
        </p:nvCxnSpPr>
        <p:spPr>
          <a:xfrm>
            <a:off x="7209518" y="3414527"/>
            <a:ext cx="70304" cy="4144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437758E9-F800-4E20-8C41-D50D4485F7F1}"/>
              </a:ext>
            </a:extLst>
          </p:cNvPr>
          <p:cNvCxnSpPr/>
          <p:nvPr/>
        </p:nvCxnSpPr>
        <p:spPr>
          <a:xfrm>
            <a:off x="7279822" y="3455967"/>
            <a:ext cx="70303" cy="6846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60C3AD54-DCA3-4EED-A24A-09D9932677C8}"/>
              </a:ext>
            </a:extLst>
          </p:cNvPr>
          <p:cNvCxnSpPr/>
          <p:nvPr/>
        </p:nvCxnSpPr>
        <p:spPr>
          <a:xfrm>
            <a:off x="7350125" y="3524431"/>
            <a:ext cx="70303" cy="8368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5A2E8A8A-FE13-40DE-8BB9-2E99EBBBB264}"/>
              </a:ext>
            </a:extLst>
          </p:cNvPr>
          <p:cNvCxnSpPr/>
          <p:nvPr/>
        </p:nvCxnSpPr>
        <p:spPr>
          <a:xfrm>
            <a:off x="7420428" y="3608117"/>
            <a:ext cx="70304" cy="8595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65B07BFA-4AC7-48E2-8E4D-760032F75A31}"/>
              </a:ext>
            </a:extLst>
          </p:cNvPr>
          <p:cNvCxnSpPr/>
          <p:nvPr/>
        </p:nvCxnSpPr>
        <p:spPr>
          <a:xfrm>
            <a:off x="7490732" y="3694069"/>
            <a:ext cx="70303" cy="7633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51BC3B83-C4AA-4224-A947-1D41234D4B8E}"/>
              </a:ext>
            </a:extLst>
          </p:cNvPr>
          <p:cNvCxnSpPr/>
          <p:nvPr/>
        </p:nvCxnSpPr>
        <p:spPr>
          <a:xfrm>
            <a:off x="7561035" y="3770406"/>
            <a:ext cx="70305" cy="5776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37C34F7A-F89E-42EA-86EA-6159697E99E1}"/>
              </a:ext>
            </a:extLst>
          </p:cNvPr>
          <p:cNvCxnSpPr/>
          <p:nvPr/>
        </p:nvCxnSpPr>
        <p:spPr>
          <a:xfrm>
            <a:off x="7631340" y="3828174"/>
            <a:ext cx="70303" cy="3432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8D35AFA2-8DE8-406B-8637-E7DF1A565B06}"/>
              </a:ext>
            </a:extLst>
          </p:cNvPr>
          <p:cNvCxnSpPr/>
          <p:nvPr/>
        </p:nvCxnSpPr>
        <p:spPr>
          <a:xfrm>
            <a:off x="7701643" y="3862495"/>
            <a:ext cx="70304" cy="1035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63B9E84E-837D-426C-A11B-77182CE3E546}"/>
              </a:ext>
            </a:extLst>
          </p:cNvPr>
          <p:cNvCxnSpPr/>
          <p:nvPr/>
        </p:nvCxnSpPr>
        <p:spPr>
          <a:xfrm flipV="1">
            <a:off x="7771947" y="3862498"/>
            <a:ext cx="70303" cy="1034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65B49EDE-3AED-43D4-B96D-83707EFFE24D}"/>
              </a:ext>
            </a:extLst>
          </p:cNvPr>
          <p:cNvCxnSpPr/>
          <p:nvPr/>
        </p:nvCxnSpPr>
        <p:spPr>
          <a:xfrm flipV="1">
            <a:off x="7842250" y="3837315"/>
            <a:ext cx="70303" cy="251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C0FC50A7-AF04-4FCE-A31D-9E88B1861C85}"/>
              </a:ext>
            </a:extLst>
          </p:cNvPr>
          <p:cNvCxnSpPr/>
          <p:nvPr/>
        </p:nvCxnSpPr>
        <p:spPr>
          <a:xfrm flipV="1">
            <a:off x="7912553" y="3804212"/>
            <a:ext cx="70304" cy="3310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DAE6BD94-F969-4255-9D75-1BD094A96BAC}"/>
              </a:ext>
            </a:extLst>
          </p:cNvPr>
          <p:cNvCxnSpPr/>
          <p:nvPr/>
        </p:nvCxnSpPr>
        <p:spPr>
          <a:xfrm flipV="1">
            <a:off x="7982857" y="3769658"/>
            <a:ext cx="70303" cy="3455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B63DBFDB-27D3-4E21-ADF1-0B2BD5016CB1}"/>
              </a:ext>
            </a:extLst>
          </p:cNvPr>
          <p:cNvCxnSpPr/>
          <p:nvPr/>
        </p:nvCxnSpPr>
        <p:spPr>
          <a:xfrm flipV="1">
            <a:off x="8053160" y="3738526"/>
            <a:ext cx="70305" cy="3113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7605156A-22AC-4FCD-8405-223826B800F9}"/>
              </a:ext>
            </a:extLst>
          </p:cNvPr>
          <p:cNvCxnSpPr/>
          <p:nvPr/>
        </p:nvCxnSpPr>
        <p:spPr>
          <a:xfrm flipV="1">
            <a:off x="8123465" y="3713521"/>
            <a:ext cx="70303" cy="2500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26D5853B-6289-4E04-AAB0-9ABC205D0066}"/>
              </a:ext>
            </a:extLst>
          </p:cNvPr>
          <p:cNvCxnSpPr/>
          <p:nvPr/>
        </p:nvCxnSpPr>
        <p:spPr>
          <a:xfrm flipV="1">
            <a:off x="8193768" y="3695235"/>
            <a:ext cx="70304" cy="1828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F55095DC-60FF-4A05-82B2-0DB2B7550ADC}"/>
              </a:ext>
            </a:extLst>
          </p:cNvPr>
          <p:cNvCxnSpPr/>
          <p:nvPr/>
        </p:nvCxnSpPr>
        <p:spPr>
          <a:xfrm flipV="1">
            <a:off x="8264072" y="3682750"/>
            <a:ext cx="70303" cy="1248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45FA586D-AF92-4C04-978B-12CF9C75C881}"/>
              </a:ext>
            </a:extLst>
          </p:cNvPr>
          <p:cNvCxnSpPr/>
          <p:nvPr/>
        </p:nvCxnSpPr>
        <p:spPr>
          <a:xfrm flipV="1">
            <a:off x="8334375" y="3674552"/>
            <a:ext cx="70303" cy="819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DDAD2B79-33FE-4242-BA6F-99F3FE841537}"/>
              </a:ext>
            </a:extLst>
          </p:cNvPr>
          <p:cNvCxnSpPr/>
          <p:nvPr/>
        </p:nvCxnSpPr>
        <p:spPr>
          <a:xfrm flipV="1">
            <a:off x="8404678" y="3669476"/>
            <a:ext cx="70304" cy="507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4012B6AD-27BE-42CA-B3C6-4631C8409C21}"/>
              </a:ext>
            </a:extLst>
          </p:cNvPr>
          <p:cNvCxnSpPr/>
          <p:nvPr/>
        </p:nvCxnSpPr>
        <p:spPr>
          <a:xfrm flipV="1">
            <a:off x="8474982" y="3667392"/>
            <a:ext cx="70303" cy="208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C5DB7568-047B-4948-840B-8C459403AEC9}"/>
              </a:ext>
            </a:extLst>
          </p:cNvPr>
          <p:cNvCxnSpPr/>
          <p:nvPr/>
        </p:nvCxnSpPr>
        <p:spPr>
          <a:xfrm>
            <a:off x="8545285" y="3667392"/>
            <a:ext cx="70305" cy="204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02F08E01-41A4-4236-9052-F55608AA6942}"/>
              </a:ext>
            </a:extLst>
          </p:cNvPr>
          <p:cNvCxnSpPr/>
          <p:nvPr/>
        </p:nvCxnSpPr>
        <p:spPr>
          <a:xfrm>
            <a:off x="8615590" y="3669435"/>
            <a:ext cx="70303" cy="82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DA38FFBD-294A-4464-9C1C-CCAC8AA3F4CA}"/>
              </a:ext>
            </a:extLst>
          </p:cNvPr>
          <p:cNvCxnSpPr/>
          <p:nvPr/>
        </p:nvCxnSpPr>
        <p:spPr>
          <a:xfrm>
            <a:off x="8685893" y="3677693"/>
            <a:ext cx="70304" cy="167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3F69753D-B422-4584-9794-BBF3FC5F7AD2}"/>
              </a:ext>
            </a:extLst>
          </p:cNvPr>
          <p:cNvCxnSpPr/>
          <p:nvPr/>
        </p:nvCxnSpPr>
        <p:spPr>
          <a:xfrm>
            <a:off x="8756197" y="3694438"/>
            <a:ext cx="70303" cy="2666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17B09FF3-96D3-4E1F-B164-A734BCAD35BB}"/>
              </a:ext>
            </a:extLst>
          </p:cNvPr>
          <p:cNvCxnSpPr/>
          <p:nvPr/>
        </p:nvCxnSpPr>
        <p:spPr>
          <a:xfrm>
            <a:off x="8826500" y="3721100"/>
            <a:ext cx="70303" cy="3617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65E5DEDE-7996-4D0D-99F1-E389ED2263D7}"/>
              </a:ext>
            </a:extLst>
          </p:cNvPr>
          <p:cNvCxnSpPr/>
          <p:nvPr/>
        </p:nvCxnSpPr>
        <p:spPr>
          <a:xfrm>
            <a:off x="8896803" y="3757278"/>
            <a:ext cx="70304" cy="4280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8E0951C4-5244-4FB2-AE1A-D76128FDE145}"/>
              </a:ext>
            </a:extLst>
          </p:cNvPr>
          <p:cNvCxnSpPr/>
          <p:nvPr/>
        </p:nvCxnSpPr>
        <p:spPr>
          <a:xfrm>
            <a:off x="8967107" y="3800080"/>
            <a:ext cx="70303" cy="4396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39F72F01-35C6-4311-ACD4-582F9CA00D99}"/>
              </a:ext>
            </a:extLst>
          </p:cNvPr>
          <p:cNvCxnSpPr/>
          <p:nvPr/>
        </p:nvCxnSpPr>
        <p:spPr>
          <a:xfrm>
            <a:off x="9037410" y="3844041"/>
            <a:ext cx="70305" cy="3766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3446E145-9D81-47E2-A484-476F5645C737}"/>
              </a:ext>
            </a:extLst>
          </p:cNvPr>
          <p:cNvCxnSpPr/>
          <p:nvPr/>
        </p:nvCxnSpPr>
        <p:spPr>
          <a:xfrm>
            <a:off x="9107715" y="3881709"/>
            <a:ext cx="70303" cy="2314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192CACEC-CC7A-4495-B8E3-EEB072C9F038}"/>
              </a:ext>
            </a:extLst>
          </p:cNvPr>
          <p:cNvCxnSpPr/>
          <p:nvPr/>
        </p:nvCxnSpPr>
        <p:spPr>
          <a:xfrm>
            <a:off x="9178018" y="3904856"/>
            <a:ext cx="70304" cy="124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EA56399A-E108-467D-B556-95D6FC44BF95}"/>
              </a:ext>
            </a:extLst>
          </p:cNvPr>
          <p:cNvCxnSpPr/>
          <p:nvPr/>
        </p:nvCxnSpPr>
        <p:spPr>
          <a:xfrm flipV="1">
            <a:off x="9248322" y="3880622"/>
            <a:ext cx="70303" cy="2548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A35CF35B-3D29-4319-8A98-FBF344AED491}"/>
              </a:ext>
            </a:extLst>
          </p:cNvPr>
          <p:cNvCxnSpPr/>
          <p:nvPr/>
        </p:nvCxnSpPr>
        <p:spPr>
          <a:xfrm flipV="1">
            <a:off x="9318625" y="3827531"/>
            <a:ext cx="70303" cy="5309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0869AE35-1634-430A-9CB2-1CF34260AEA0}"/>
              </a:ext>
            </a:extLst>
          </p:cNvPr>
          <p:cNvCxnSpPr/>
          <p:nvPr/>
        </p:nvCxnSpPr>
        <p:spPr>
          <a:xfrm flipV="1">
            <a:off x="9388928" y="3750665"/>
            <a:ext cx="70304" cy="7686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6313436C-3C38-4D30-95B0-7EF5F74779D7}"/>
              </a:ext>
            </a:extLst>
          </p:cNvPr>
          <p:cNvCxnSpPr/>
          <p:nvPr/>
        </p:nvCxnSpPr>
        <p:spPr>
          <a:xfrm flipV="1">
            <a:off x="9459232" y="3658461"/>
            <a:ext cx="70303" cy="9220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22C94CD1-58ED-412C-961A-CB8F8017B55A}"/>
              </a:ext>
            </a:extLst>
          </p:cNvPr>
          <p:cNvCxnSpPr/>
          <p:nvPr/>
        </p:nvCxnSpPr>
        <p:spPr>
          <a:xfrm flipV="1">
            <a:off x="9529535" y="3562935"/>
            <a:ext cx="70305" cy="9552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415B61CF-367A-4DE0-8219-0318388221DB}"/>
              </a:ext>
            </a:extLst>
          </p:cNvPr>
          <p:cNvCxnSpPr/>
          <p:nvPr/>
        </p:nvCxnSpPr>
        <p:spPr>
          <a:xfrm flipV="1">
            <a:off x="9599840" y="3477868"/>
            <a:ext cx="70303" cy="8506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443B9D65-A4D5-420C-AEE8-DA991310D59C}"/>
              </a:ext>
            </a:extLst>
          </p:cNvPr>
          <p:cNvCxnSpPr/>
          <p:nvPr/>
        </p:nvCxnSpPr>
        <p:spPr>
          <a:xfrm flipV="1">
            <a:off x="9670143" y="3416519"/>
            <a:ext cx="70304" cy="6134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5546C452-9BCE-4FAF-9E3E-D641EB169CBD}"/>
              </a:ext>
            </a:extLst>
          </p:cNvPr>
          <p:cNvCxnSpPr/>
          <p:nvPr/>
        </p:nvCxnSpPr>
        <p:spPr>
          <a:xfrm flipV="1">
            <a:off x="9740447" y="3389293"/>
            <a:ext cx="70303" cy="2722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C6F6499D-AF1C-4929-96E2-13B9D59E90C8}"/>
              </a:ext>
            </a:extLst>
          </p:cNvPr>
          <p:cNvCxnSpPr/>
          <p:nvPr/>
        </p:nvCxnSpPr>
        <p:spPr>
          <a:xfrm>
            <a:off x="9810750" y="3389293"/>
            <a:ext cx="70303" cy="1250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376A0A8C-B129-4175-9F49-63ACE0038181}"/>
              </a:ext>
            </a:extLst>
          </p:cNvPr>
          <p:cNvCxnSpPr/>
          <p:nvPr/>
        </p:nvCxnSpPr>
        <p:spPr>
          <a:xfrm>
            <a:off x="9881053" y="3401802"/>
            <a:ext cx="70304" cy="5192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0660BD6A-B322-44B3-B8E9-67FDA364B1D7}"/>
              </a:ext>
            </a:extLst>
          </p:cNvPr>
          <p:cNvCxnSpPr/>
          <p:nvPr/>
        </p:nvCxnSpPr>
        <p:spPr>
          <a:xfrm>
            <a:off x="9951357" y="3453726"/>
            <a:ext cx="70303" cy="8497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DFC7235A-AE65-4F28-82EE-3E858329F559}"/>
              </a:ext>
            </a:extLst>
          </p:cNvPr>
          <p:cNvCxnSpPr/>
          <p:nvPr/>
        </p:nvCxnSpPr>
        <p:spPr>
          <a:xfrm>
            <a:off x="10021660" y="3538697"/>
            <a:ext cx="70305" cy="10655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1B2FA414-12B9-47CA-B3F3-1F44ECB5B81F}"/>
              </a:ext>
            </a:extLst>
          </p:cNvPr>
          <p:cNvCxnSpPr/>
          <p:nvPr/>
        </p:nvCxnSpPr>
        <p:spPr>
          <a:xfrm>
            <a:off x="10091965" y="3645256"/>
            <a:ext cx="70303" cy="11346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8349006F-18C1-402F-AC9D-31538BEA7551}"/>
              </a:ext>
            </a:extLst>
          </p:cNvPr>
          <p:cNvCxnSpPr/>
          <p:nvPr/>
        </p:nvCxnSpPr>
        <p:spPr>
          <a:xfrm>
            <a:off x="10162268" y="3758722"/>
            <a:ext cx="70304" cy="10489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B487DFDB-51C1-46EA-A3B3-B77B6C0EC239}"/>
              </a:ext>
            </a:extLst>
          </p:cNvPr>
          <p:cNvCxnSpPr/>
          <p:nvPr/>
        </p:nvCxnSpPr>
        <p:spPr>
          <a:xfrm>
            <a:off x="10232572" y="3863617"/>
            <a:ext cx="70303" cy="825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7EDAFC9D-D919-4DFA-9FCD-04DA70355FF0}"/>
              </a:ext>
            </a:extLst>
          </p:cNvPr>
          <p:cNvCxnSpPr/>
          <p:nvPr/>
        </p:nvCxnSpPr>
        <p:spPr>
          <a:xfrm>
            <a:off x="10302875" y="3946200"/>
            <a:ext cx="70303" cy="504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0BBC666D-1DFB-4151-97D0-01133EBAE954}"/>
              </a:ext>
            </a:extLst>
          </p:cNvPr>
          <p:cNvCxnSpPr/>
          <p:nvPr/>
        </p:nvCxnSpPr>
        <p:spPr>
          <a:xfrm>
            <a:off x="10373178" y="3996645"/>
            <a:ext cx="70304" cy="1381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8629E9ED-BCBF-406E-9034-1DAB2DFC5636}"/>
              </a:ext>
            </a:extLst>
          </p:cNvPr>
          <p:cNvCxnSpPr/>
          <p:nvPr/>
        </p:nvCxnSpPr>
        <p:spPr>
          <a:xfrm flipV="1">
            <a:off x="10443482" y="3988915"/>
            <a:ext cx="70303" cy="2154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FD4F972C-27E8-419F-B37A-FE982CEF0983}"/>
              </a:ext>
            </a:extLst>
          </p:cNvPr>
          <p:cNvCxnSpPr/>
          <p:nvPr/>
        </p:nvCxnSpPr>
        <p:spPr>
          <a:xfrm flipV="1">
            <a:off x="10513785" y="3938446"/>
            <a:ext cx="70305" cy="5046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9F7BB6A7-7B12-45B3-A9ED-6B5D8C3BB345}"/>
              </a:ext>
            </a:extLst>
          </p:cNvPr>
          <p:cNvCxnSpPr/>
          <p:nvPr/>
        </p:nvCxnSpPr>
        <p:spPr>
          <a:xfrm flipV="1">
            <a:off x="10584090" y="3869186"/>
            <a:ext cx="70303" cy="692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2335F47E-FEAE-42D6-92CA-638AAA5701A7}"/>
              </a:ext>
            </a:extLst>
          </p:cNvPr>
          <p:cNvCxnSpPr/>
          <p:nvPr/>
        </p:nvCxnSpPr>
        <p:spPr>
          <a:xfrm flipV="1">
            <a:off x="10654393" y="3792949"/>
            <a:ext cx="70304" cy="7623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64024E20-0DEB-4BAD-9AB8-6E66245FDCB3}"/>
              </a:ext>
            </a:extLst>
          </p:cNvPr>
          <p:cNvCxnSpPr/>
          <p:nvPr/>
        </p:nvCxnSpPr>
        <p:spPr>
          <a:xfrm flipV="1">
            <a:off x="10724697" y="3721100"/>
            <a:ext cx="70303" cy="7184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sp>
        <p:nvSpPr>
          <p:cNvPr id="252" name="TextBox 251">
            <a:extLst>
              <a:ext uri="{FF2B5EF4-FFF2-40B4-BE49-F238E27FC236}">
                <a16:creationId xmlns:a16="http://schemas.microsoft.com/office/drawing/2014/main" id="{7438D4DC-B506-45C5-9050-DAE019AB7F6C}"/>
              </a:ext>
            </a:extLst>
          </p:cNvPr>
          <p:cNvSpPr txBox="1"/>
          <p:nvPr/>
        </p:nvSpPr>
        <p:spPr>
          <a:xfrm>
            <a:off x="889000" y="4419600"/>
            <a:ext cx="10414000" cy="292388"/>
          </a:xfrm>
          <a:prstGeom prst="rect">
            <a:avLst/>
          </a:prstGeom>
          <a:noFill/>
        </p:spPr>
        <p:txBody>
          <a:bodyPr vert="horz" wrap="square" lIns="0" tIns="0" rIns="0" bIns="0" rtlCol="0">
            <a:spAutoFit/>
          </a:bodyPr>
          <a:lstStyle/>
          <a:p>
            <a:r>
              <a:rPr lang="en-US" sz="1900">
                <a:solidFill>
                  <a:srgbClr val="CCDDEC"/>
                </a:solidFill>
                <a:latin typeface="Aptos"/>
              </a:rPr>
              <a:t>The samples stay in time. A slowly changing sine-shaped gain makes their amplitude pulse.</a:t>
            </a:r>
          </a:p>
        </p:txBody>
      </p:sp>
      <p:sp>
        <p:nvSpPr>
          <p:cNvPr id="253" name="Rectangle 252">
            <a:extLst>
              <a:ext uri="{FF2B5EF4-FFF2-40B4-BE49-F238E27FC236}">
                <a16:creationId xmlns:a16="http://schemas.microsoft.com/office/drawing/2014/main" id="{E8BB0CBE-C50E-4309-9609-B137ACDE0EFF}"/>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TextBox 253">
            <a:extLst>
              <a:ext uri="{FF2B5EF4-FFF2-40B4-BE49-F238E27FC236}">
                <a16:creationId xmlns:a16="http://schemas.microsoft.com/office/drawing/2014/main" id="{B5CC7BDF-2FC7-4CE5-A6DD-4B80CF70B369}"/>
              </a:ext>
            </a:extLst>
          </p:cNvPr>
          <p:cNvSpPr txBox="1"/>
          <p:nvPr/>
        </p:nvSpPr>
        <p:spPr>
          <a:xfrm>
            <a:off x="1066800" y="5283200"/>
            <a:ext cx="10058400" cy="204671"/>
          </a:xfrm>
          <a:prstGeom prst="rect">
            <a:avLst/>
          </a:prstGeom>
          <a:noFill/>
        </p:spPr>
        <p:txBody>
          <a:bodyPr vert="horz" wrap="square" lIns="0" tIns="0" rIns="0" bIns="0" rtlCol="0">
            <a:spAutoFit/>
          </a:bodyPr>
          <a:lstStyle/>
          <a:p>
            <a:r>
              <a:rPr lang="en-US" sz="1330">
                <a:solidFill>
                  <a:srgbClr val="37D9E9"/>
                </a:solidFill>
                <a:latin typeface="Consolas" panose="020B0609020204030204" pitchFamily="49" charset="0"/>
              </a:rPr>
              <a:t>gain = 1 - amount + amount * (1 + sin(2*pi*rate*time)) / 2; output = audio * gain</a:t>
            </a:r>
          </a:p>
        </p:txBody>
      </p:sp>
      <p:sp>
        <p:nvSpPr>
          <p:cNvPr id="255" name="TextBox 254">
            <a:extLst>
              <a:ext uri="{FF2B5EF4-FFF2-40B4-BE49-F238E27FC236}">
                <a16:creationId xmlns:a16="http://schemas.microsoft.com/office/drawing/2014/main" id="{29506F0E-F92B-463F-BB56-77B9F92BD9D6}"/>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256" name="TextBox 255">
            <a:extLst>
              <a:ext uri="{FF2B5EF4-FFF2-40B4-BE49-F238E27FC236}">
                <a16:creationId xmlns:a16="http://schemas.microsoft.com/office/drawing/2014/main" id="{94C52EEE-4364-4972-935B-7832DCBA3999}"/>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Choose Tremolo; move the speed slider and listen for pulsing.</a:t>
            </a:r>
          </a:p>
        </p:txBody>
      </p:sp>
      <p:sp>
        <p:nvSpPr>
          <p:cNvPr id="257" name="Rectangle 256">
            <a:extLst>
              <a:ext uri="{FF2B5EF4-FFF2-40B4-BE49-F238E27FC236}">
                <a16:creationId xmlns:a16="http://schemas.microsoft.com/office/drawing/2014/main" id="{83858436-ACE3-4E4F-A648-733D24A89B05}"/>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TextBox 257">
            <a:extLst>
              <a:ext uri="{FF2B5EF4-FFF2-40B4-BE49-F238E27FC236}">
                <a16:creationId xmlns:a16="http://schemas.microsoft.com/office/drawing/2014/main" id="{6EA3946C-C268-4ED1-A777-792A38415D12}"/>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10</a:t>
            </a:r>
          </a:p>
        </p:txBody>
      </p:sp>
      <p:sp>
        <p:nvSpPr>
          <p:cNvPr id="259" name="TextBox 258">
            <a:extLst>
              <a:ext uri="{FF2B5EF4-FFF2-40B4-BE49-F238E27FC236}">
                <a16:creationId xmlns:a16="http://schemas.microsoft.com/office/drawing/2014/main" id="{4F2DB78D-6C81-41CF-B919-498B5AB98A6D}"/>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587968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2894C9-84A0-4A21-A118-F4418C43E11B}"/>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ADC73B-33B4-4813-AF43-64CABC3C2503}"/>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Distortion: reshaping the peaks</a:t>
            </a:r>
          </a:p>
        </p:txBody>
      </p:sp>
      <p:cxnSp>
        <p:nvCxnSpPr>
          <p:cNvPr id="4" name="Straight Connector 3">
            <a:extLst>
              <a:ext uri="{FF2B5EF4-FFF2-40B4-BE49-F238E27FC236}">
                <a16:creationId xmlns:a16="http://schemas.microsoft.com/office/drawing/2014/main" id="{98218E7A-BDB0-43DE-B17A-BD0BED9F5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BA0986B-7D24-4BF2-9A46-E7A3A799E4B1}"/>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437D206C-41B9-4B28-966C-09180326BEA2}"/>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11</a:t>
            </a:r>
          </a:p>
        </p:txBody>
      </p:sp>
      <p:sp>
        <p:nvSpPr>
          <p:cNvPr id="22" name="TextBox 21">
            <a:extLst>
              <a:ext uri="{FF2B5EF4-FFF2-40B4-BE49-F238E27FC236}">
                <a16:creationId xmlns:a16="http://schemas.microsoft.com/office/drawing/2014/main" id="{D13E3EB5-6713-4962-93DC-51480F9C1FE5}"/>
              </a:ext>
            </a:extLst>
          </p:cNvPr>
          <p:cNvSpPr txBox="1"/>
          <p:nvPr/>
        </p:nvSpPr>
        <p:spPr>
          <a:xfrm>
            <a:off x="889000" y="1549400"/>
            <a:ext cx="762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COMPARE THE WAVE SHAPES</a:t>
            </a:r>
          </a:p>
        </p:txBody>
      </p:sp>
      <p:sp>
        <p:nvSpPr>
          <p:cNvPr id="23" name="Rectangle 22">
            <a:extLst>
              <a:ext uri="{FF2B5EF4-FFF2-40B4-BE49-F238E27FC236}">
                <a16:creationId xmlns:a16="http://schemas.microsoft.com/office/drawing/2014/main" id="{596B11B3-F3EF-42E9-AD57-A4DBD1C0C4C6}"/>
              </a:ext>
            </a:extLst>
          </p:cNvPr>
          <p:cNvSpPr/>
          <p:nvPr/>
        </p:nvSpPr>
        <p:spPr>
          <a:xfrm>
            <a:off x="863600" y="20066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630B59D-38F1-4A5C-A86F-01A015CD36E3}"/>
              </a:ext>
            </a:extLst>
          </p:cNvPr>
          <p:cNvSpPr txBox="1"/>
          <p:nvPr/>
        </p:nvSpPr>
        <p:spPr>
          <a:xfrm>
            <a:off x="1066800" y="2349500"/>
            <a:ext cx="1524000" cy="215444"/>
          </a:xfrm>
          <a:prstGeom prst="rect">
            <a:avLst/>
          </a:prstGeom>
          <a:noFill/>
        </p:spPr>
        <p:txBody>
          <a:bodyPr vert="horz" wrap="square" lIns="0" tIns="0" rIns="0" bIns="0" rtlCol="0">
            <a:spAutoFit/>
          </a:bodyPr>
          <a:lstStyle/>
          <a:p>
            <a:r>
              <a:rPr lang="en-US" sz="1400">
                <a:solidFill>
                  <a:srgbClr val="85A0B8"/>
                </a:solidFill>
                <a:latin typeface="Aptos"/>
              </a:rPr>
              <a:t>smooth input</a:t>
            </a:r>
          </a:p>
        </p:txBody>
      </p:sp>
      <p:sp>
        <p:nvSpPr>
          <p:cNvPr id="25" name="TextBox 24">
            <a:extLst>
              <a:ext uri="{FF2B5EF4-FFF2-40B4-BE49-F238E27FC236}">
                <a16:creationId xmlns:a16="http://schemas.microsoft.com/office/drawing/2014/main" id="{27270F15-7097-4977-B2C6-ECBB84E526EF}"/>
              </a:ext>
            </a:extLst>
          </p:cNvPr>
          <p:cNvSpPr txBox="1"/>
          <p:nvPr/>
        </p:nvSpPr>
        <p:spPr>
          <a:xfrm>
            <a:off x="1066800" y="3403600"/>
            <a:ext cx="1778000" cy="215444"/>
          </a:xfrm>
          <a:prstGeom prst="rect">
            <a:avLst/>
          </a:prstGeom>
          <a:noFill/>
        </p:spPr>
        <p:txBody>
          <a:bodyPr vert="horz" wrap="square" lIns="0" tIns="0" rIns="0" bIns="0" rtlCol="0">
            <a:spAutoFit/>
          </a:bodyPr>
          <a:lstStyle/>
          <a:p>
            <a:r>
              <a:rPr lang="en-US" sz="1400">
                <a:solidFill>
                  <a:srgbClr val="85A0B8"/>
                </a:solidFill>
                <a:latin typeface="Aptos"/>
              </a:rPr>
              <a:t>saturated output</a:t>
            </a:r>
          </a:p>
        </p:txBody>
      </p:sp>
      <p:cxnSp>
        <p:nvCxnSpPr>
          <p:cNvPr id="26" name="Straight Connector 25">
            <a:extLst>
              <a:ext uri="{FF2B5EF4-FFF2-40B4-BE49-F238E27FC236}">
                <a16:creationId xmlns:a16="http://schemas.microsoft.com/office/drawing/2014/main" id="{9FFA2899-0541-401D-A926-C71B32184A1E}"/>
              </a:ext>
            </a:extLst>
          </p:cNvPr>
          <p:cNvCxnSpPr/>
          <p:nvPr/>
        </p:nvCxnSpPr>
        <p:spPr>
          <a:xfrm>
            <a:off x="2921000" y="2768600"/>
            <a:ext cx="78740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B474570-1B6F-4AD5-84FA-6896C83CC4D8}"/>
              </a:ext>
            </a:extLst>
          </p:cNvPr>
          <p:cNvCxnSpPr/>
          <p:nvPr/>
        </p:nvCxnSpPr>
        <p:spPr>
          <a:xfrm>
            <a:off x="2921000" y="3721100"/>
            <a:ext cx="78740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D16D06D-612A-4FE0-A139-E61C6499FAD5}"/>
              </a:ext>
            </a:extLst>
          </p:cNvPr>
          <p:cNvCxnSpPr/>
          <p:nvPr/>
        </p:nvCxnSpPr>
        <p:spPr>
          <a:xfrm flipV="1">
            <a:off x="2921000" y="2663736"/>
            <a:ext cx="70304"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2C39A59-8695-41E1-B165-F4D01866945A}"/>
              </a:ext>
            </a:extLst>
          </p:cNvPr>
          <p:cNvCxnSpPr/>
          <p:nvPr/>
        </p:nvCxnSpPr>
        <p:spPr>
          <a:xfrm flipV="1">
            <a:off x="2991304" y="2570642"/>
            <a:ext cx="70303"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236660-BE2A-4344-804B-A6137E392EA1}"/>
              </a:ext>
            </a:extLst>
          </p:cNvPr>
          <p:cNvCxnSpPr/>
          <p:nvPr/>
        </p:nvCxnSpPr>
        <p:spPr>
          <a:xfrm flipV="1">
            <a:off x="3061607" y="2499765"/>
            <a:ext cx="70304"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8FCD3F2-4905-417D-B464-E6F5198CA1D4}"/>
              </a:ext>
            </a:extLst>
          </p:cNvPr>
          <p:cNvCxnSpPr/>
          <p:nvPr/>
        </p:nvCxnSpPr>
        <p:spPr>
          <a:xfrm flipV="1">
            <a:off x="3131911" y="2459060"/>
            <a:ext cx="70303"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6E42260-9058-4643-9461-0C3F8D92D533}"/>
              </a:ext>
            </a:extLst>
          </p:cNvPr>
          <p:cNvCxnSpPr/>
          <p:nvPr/>
        </p:nvCxnSpPr>
        <p:spPr>
          <a:xfrm flipV="1">
            <a:off x="3202214" y="2453096"/>
            <a:ext cx="70304"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91AD3BA-11A7-473B-91F2-E3707CC6674A}"/>
              </a:ext>
            </a:extLst>
          </p:cNvPr>
          <p:cNvCxnSpPr/>
          <p:nvPr/>
        </p:nvCxnSpPr>
        <p:spPr>
          <a:xfrm>
            <a:off x="3272518" y="2453096"/>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5F14117-1E58-420E-8827-826507A9681D}"/>
              </a:ext>
            </a:extLst>
          </p:cNvPr>
          <p:cNvCxnSpPr/>
          <p:nvPr/>
        </p:nvCxnSpPr>
        <p:spPr>
          <a:xfrm>
            <a:off x="3342822" y="2482542"/>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1EFDB58-78D3-43C4-B64B-2161E3573CE3}"/>
              </a:ext>
            </a:extLst>
          </p:cNvPr>
          <p:cNvCxnSpPr/>
          <p:nvPr/>
        </p:nvCxnSpPr>
        <p:spPr>
          <a:xfrm>
            <a:off x="3413125" y="2544094"/>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F6C64A9-3D12-43DC-9D3E-D2E0B3659828}"/>
              </a:ext>
            </a:extLst>
          </p:cNvPr>
          <p:cNvCxnSpPr/>
          <p:nvPr/>
        </p:nvCxnSpPr>
        <p:spPr>
          <a:xfrm>
            <a:off x="3483428" y="2630842"/>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152A027-7149-441A-A26C-4C7329AB22A9}"/>
              </a:ext>
            </a:extLst>
          </p:cNvPr>
          <p:cNvCxnSpPr/>
          <p:nvPr/>
        </p:nvCxnSpPr>
        <p:spPr>
          <a:xfrm>
            <a:off x="3553732" y="2733051"/>
            <a:ext cx="70304"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870BE1E-D9A4-4918-87FC-2F4BC2BCE57A}"/>
              </a:ext>
            </a:extLst>
          </p:cNvPr>
          <p:cNvCxnSpPr/>
          <p:nvPr/>
        </p:nvCxnSpPr>
        <p:spPr>
          <a:xfrm>
            <a:off x="3624036" y="2839250"/>
            <a:ext cx="70303"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9C3FE7C-BB37-4149-A508-EFFB7FD2C065}"/>
              </a:ext>
            </a:extLst>
          </p:cNvPr>
          <p:cNvCxnSpPr/>
          <p:nvPr/>
        </p:nvCxnSpPr>
        <p:spPr>
          <a:xfrm>
            <a:off x="3694339" y="2937520"/>
            <a:ext cx="70304"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6447FD1-4F50-49F3-8946-D7A2F56A60DD}"/>
              </a:ext>
            </a:extLst>
          </p:cNvPr>
          <p:cNvCxnSpPr/>
          <p:nvPr/>
        </p:nvCxnSpPr>
        <p:spPr>
          <a:xfrm>
            <a:off x="3764643" y="3016832"/>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C2DF6CF-AA4F-4367-9C7F-CEA3F8C3F98D}"/>
              </a:ext>
            </a:extLst>
          </p:cNvPr>
          <p:cNvCxnSpPr/>
          <p:nvPr/>
        </p:nvCxnSpPr>
        <p:spPr>
          <a:xfrm>
            <a:off x="3834947" y="3068283"/>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4100E22-8E65-4F82-9185-AD363FA157C3}"/>
              </a:ext>
            </a:extLst>
          </p:cNvPr>
          <p:cNvCxnSpPr/>
          <p:nvPr/>
        </p:nvCxnSpPr>
        <p:spPr>
          <a:xfrm flipV="1">
            <a:off x="3905250" y="3068283"/>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A28E479-2963-41A1-B159-3552FAF734B1}"/>
              </a:ext>
            </a:extLst>
          </p:cNvPr>
          <p:cNvCxnSpPr/>
          <p:nvPr/>
        </p:nvCxnSpPr>
        <p:spPr>
          <a:xfrm flipV="1">
            <a:off x="3975553" y="3016832"/>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B850AB0-2D76-4621-A532-3D5F020D7046}"/>
              </a:ext>
            </a:extLst>
          </p:cNvPr>
          <p:cNvCxnSpPr/>
          <p:nvPr/>
        </p:nvCxnSpPr>
        <p:spPr>
          <a:xfrm flipV="1">
            <a:off x="4045857" y="2937520"/>
            <a:ext cx="70304"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2B8E97C-5B53-471C-8945-99C2C1B7C4DE}"/>
              </a:ext>
            </a:extLst>
          </p:cNvPr>
          <p:cNvCxnSpPr/>
          <p:nvPr/>
        </p:nvCxnSpPr>
        <p:spPr>
          <a:xfrm flipV="1">
            <a:off x="4116161" y="2839250"/>
            <a:ext cx="70303"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31E308E-D8C2-4E65-AE92-50CFC88ED512}"/>
              </a:ext>
            </a:extLst>
          </p:cNvPr>
          <p:cNvCxnSpPr/>
          <p:nvPr/>
        </p:nvCxnSpPr>
        <p:spPr>
          <a:xfrm flipV="1">
            <a:off x="4186464" y="2733051"/>
            <a:ext cx="70304"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0E0953D-189A-4AF9-814B-ECB5628F28FC}"/>
              </a:ext>
            </a:extLst>
          </p:cNvPr>
          <p:cNvCxnSpPr/>
          <p:nvPr/>
        </p:nvCxnSpPr>
        <p:spPr>
          <a:xfrm flipV="1">
            <a:off x="4256768" y="2630842"/>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404D596-6178-4ABC-A27A-A1E03EC91DB3}"/>
              </a:ext>
            </a:extLst>
          </p:cNvPr>
          <p:cNvCxnSpPr/>
          <p:nvPr/>
        </p:nvCxnSpPr>
        <p:spPr>
          <a:xfrm flipV="1">
            <a:off x="4327072" y="2544094"/>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727F505-C806-4F58-8206-476554F4A922}"/>
              </a:ext>
            </a:extLst>
          </p:cNvPr>
          <p:cNvCxnSpPr/>
          <p:nvPr/>
        </p:nvCxnSpPr>
        <p:spPr>
          <a:xfrm flipV="1">
            <a:off x="4397375" y="2482542"/>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E90112A-DBB5-4701-98D2-966A77BC4A05}"/>
              </a:ext>
            </a:extLst>
          </p:cNvPr>
          <p:cNvCxnSpPr/>
          <p:nvPr/>
        </p:nvCxnSpPr>
        <p:spPr>
          <a:xfrm flipV="1">
            <a:off x="4467678" y="2453096"/>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DCFD199-3464-4F77-B348-1753CE5BBDEA}"/>
              </a:ext>
            </a:extLst>
          </p:cNvPr>
          <p:cNvCxnSpPr/>
          <p:nvPr/>
        </p:nvCxnSpPr>
        <p:spPr>
          <a:xfrm>
            <a:off x="4537982" y="2453096"/>
            <a:ext cx="70304"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3F57408-702B-4B02-8198-32778C4F1D01}"/>
              </a:ext>
            </a:extLst>
          </p:cNvPr>
          <p:cNvCxnSpPr/>
          <p:nvPr/>
        </p:nvCxnSpPr>
        <p:spPr>
          <a:xfrm>
            <a:off x="4608286" y="2459060"/>
            <a:ext cx="70303"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72C1953-607F-4E8F-AAE9-D42E22595E34}"/>
              </a:ext>
            </a:extLst>
          </p:cNvPr>
          <p:cNvCxnSpPr/>
          <p:nvPr/>
        </p:nvCxnSpPr>
        <p:spPr>
          <a:xfrm>
            <a:off x="4678589" y="2499765"/>
            <a:ext cx="70304"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9153C9B-8729-402C-9AB2-05CEF15C104B}"/>
              </a:ext>
            </a:extLst>
          </p:cNvPr>
          <p:cNvCxnSpPr/>
          <p:nvPr/>
        </p:nvCxnSpPr>
        <p:spPr>
          <a:xfrm>
            <a:off x="4748893" y="2570642"/>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F062161-DDC8-418A-8443-09E16E3744FB}"/>
              </a:ext>
            </a:extLst>
          </p:cNvPr>
          <p:cNvCxnSpPr/>
          <p:nvPr/>
        </p:nvCxnSpPr>
        <p:spPr>
          <a:xfrm>
            <a:off x="4819197" y="2663736"/>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D4FAD9F-95ED-43EC-A340-F28A9E003D45}"/>
              </a:ext>
            </a:extLst>
          </p:cNvPr>
          <p:cNvCxnSpPr/>
          <p:nvPr/>
        </p:nvCxnSpPr>
        <p:spPr>
          <a:xfrm>
            <a:off x="4889500" y="2768600"/>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6318F2C-E01D-4A75-AC04-153314535CBA}"/>
              </a:ext>
            </a:extLst>
          </p:cNvPr>
          <p:cNvCxnSpPr/>
          <p:nvPr/>
        </p:nvCxnSpPr>
        <p:spPr>
          <a:xfrm>
            <a:off x="4959803" y="2873464"/>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4EBF16-34C3-43E9-B550-6F9540F48A69}"/>
              </a:ext>
            </a:extLst>
          </p:cNvPr>
          <p:cNvCxnSpPr/>
          <p:nvPr/>
        </p:nvCxnSpPr>
        <p:spPr>
          <a:xfrm>
            <a:off x="5030107" y="2966558"/>
            <a:ext cx="70304"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FBF7D57-8580-421D-A4FB-AAE9D342521B}"/>
              </a:ext>
            </a:extLst>
          </p:cNvPr>
          <p:cNvCxnSpPr/>
          <p:nvPr/>
        </p:nvCxnSpPr>
        <p:spPr>
          <a:xfrm>
            <a:off x="5100411" y="3037435"/>
            <a:ext cx="70303"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E4F2A6E-880E-4E8B-94B8-C16B2B5FA47D}"/>
              </a:ext>
            </a:extLst>
          </p:cNvPr>
          <p:cNvCxnSpPr/>
          <p:nvPr/>
        </p:nvCxnSpPr>
        <p:spPr>
          <a:xfrm>
            <a:off x="5170714" y="3078140"/>
            <a:ext cx="70304"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0F78289-FAD4-4937-8AA4-D8A6BF4DDF2A}"/>
              </a:ext>
            </a:extLst>
          </p:cNvPr>
          <p:cNvCxnSpPr/>
          <p:nvPr/>
        </p:nvCxnSpPr>
        <p:spPr>
          <a:xfrm flipV="1">
            <a:off x="5241018" y="3054658"/>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3B45CA0-B9E7-47BA-8EB8-4C528952A642}"/>
              </a:ext>
            </a:extLst>
          </p:cNvPr>
          <p:cNvCxnSpPr/>
          <p:nvPr/>
        </p:nvCxnSpPr>
        <p:spPr>
          <a:xfrm flipV="1">
            <a:off x="5311322" y="2993106"/>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BB9AD4D-14FB-4F6C-AAB7-A309648FF31F}"/>
              </a:ext>
            </a:extLst>
          </p:cNvPr>
          <p:cNvCxnSpPr/>
          <p:nvPr/>
        </p:nvCxnSpPr>
        <p:spPr>
          <a:xfrm flipV="1">
            <a:off x="5381625" y="2906358"/>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15F9467-B7A5-4262-A955-273EF4EB1D2C}"/>
              </a:ext>
            </a:extLst>
          </p:cNvPr>
          <p:cNvCxnSpPr/>
          <p:nvPr/>
        </p:nvCxnSpPr>
        <p:spPr>
          <a:xfrm flipV="1">
            <a:off x="5451928" y="2804149"/>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3787448-2662-4C1F-95D8-1F3312043CAC}"/>
              </a:ext>
            </a:extLst>
          </p:cNvPr>
          <p:cNvCxnSpPr/>
          <p:nvPr/>
        </p:nvCxnSpPr>
        <p:spPr>
          <a:xfrm flipV="1">
            <a:off x="5522232" y="2697950"/>
            <a:ext cx="70304"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E819340-EBA2-4461-AFE8-2246170974D0}"/>
              </a:ext>
            </a:extLst>
          </p:cNvPr>
          <p:cNvCxnSpPr/>
          <p:nvPr/>
        </p:nvCxnSpPr>
        <p:spPr>
          <a:xfrm flipV="1">
            <a:off x="5592536" y="2599680"/>
            <a:ext cx="70303"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4930959-DBFD-47C3-BC2C-1093595A5958}"/>
              </a:ext>
            </a:extLst>
          </p:cNvPr>
          <p:cNvCxnSpPr/>
          <p:nvPr/>
        </p:nvCxnSpPr>
        <p:spPr>
          <a:xfrm flipV="1">
            <a:off x="5662839" y="2520368"/>
            <a:ext cx="70304"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73CAB1A-3AEF-4390-8C41-A188D34D11A1}"/>
              </a:ext>
            </a:extLst>
          </p:cNvPr>
          <p:cNvCxnSpPr/>
          <p:nvPr/>
        </p:nvCxnSpPr>
        <p:spPr>
          <a:xfrm flipV="1">
            <a:off x="5733143" y="2468917"/>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8F05822-FB60-4622-8C33-FB94BF533862}"/>
              </a:ext>
            </a:extLst>
          </p:cNvPr>
          <p:cNvCxnSpPr/>
          <p:nvPr/>
        </p:nvCxnSpPr>
        <p:spPr>
          <a:xfrm flipV="1">
            <a:off x="5803447" y="2451100"/>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317223B4-CB91-48FE-9225-9FDF5395ED55}"/>
              </a:ext>
            </a:extLst>
          </p:cNvPr>
          <p:cNvCxnSpPr/>
          <p:nvPr/>
        </p:nvCxnSpPr>
        <p:spPr>
          <a:xfrm>
            <a:off x="5873750" y="2451100"/>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1008F486-FAA5-4597-B337-01F2D36745F5}"/>
              </a:ext>
            </a:extLst>
          </p:cNvPr>
          <p:cNvCxnSpPr/>
          <p:nvPr/>
        </p:nvCxnSpPr>
        <p:spPr>
          <a:xfrm>
            <a:off x="5944053" y="2468917"/>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97B4402-877D-4AC0-960A-B42E9BAC3708}"/>
              </a:ext>
            </a:extLst>
          </p:cNvPr>
          <p:cNvCxnSpPr/>
          <p:nvPr/>
        </p:nvCxnSpPr>
        <p:spPr>
          <a:xfrm>
            <a:off x="6014357" y="2520368"/>
            <a:ext cx="70304"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583D7B5-46BD-4D80-B2E6-E92AABC2F5DF}"/>
              </a:ext>
            </a:extLst>
          </p:cNvPr>
          <p:cNvCxnSpPr/>
          <p:nvPr/>
        </p:nvCxnSpPr>
        <p:spPr>
          <a:xfrm>
            <a:off x="6084661" y="2599680"/>
            <a:ext cx="70303"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BF8145D-B603-4213-BA5D-22C4CDC2861C}"/>
              </a:ext>
            </a:extLst>
          </p:cNvPr>
          <p:cNvCxnSpPr/>
          <p:nvPr/>
        </p:nvCxnSpPr>
        <p:spPr>
          <a:xfrm>
            <a:off x="6154964" y="2697950"/>
            <a:ext cx="70304"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DF7F9EB-CAC1-4397-95BD-6351147860F3}"/>
              </a:ext>
            </a:extLst>
          </p:cNvPr>
          <p:cNvCxnSpPr/>
          <p:nvPr/>
        </p:nvCxnSpPr>
        <p:spPr>
          <a:xfrm>
            <a:off x="6225268" y="2804149"/>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26FAB34A-DE7F-4691-B6A4-03D6A3F1D452}"/>
              </a:ext>
            </a:extLst>
          </p:cNvPr>
          <p:cNvCxnSpPr/>
          <p:nvPr/>
        </p:nvCxnSpPr>
        <p:spPr>
          <a:xfrm>
            <a:off x="6295572" y="2906358"/>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D7DCC1A5-F651-44BE-98B2-7E54F441FFA6}"/>
              </a:ext>
            </a:extLst>
          </p:cNvPr>
          <p:cNvCxnSpPr/>
          <p:nvPr/>
        </p:nvCxnSpPr>
        <p:spPr>
          <a:xfrm>
            <a:off x="6365875" y="2993106"/>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3B1410B-D22C-4E4B-8A48-D77B94613895}"/>
              </a:ext>
            </a:extLst>
          </p:cNvPr>
          <p:cNvCxnSpPr/>
          <p:nvPr/>
        </p:nvCxnSpPr>
        <p:spPr>
          <a:xfrm>
            <a:off x="6436178" y="3054658"/>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50748EAC-118B-4178-9814-DA121ADFB6E1}"/>
              </a:ext>
            </a:extLst>
          </p:cNvPr>
          <p:cNvCxnSpPr/>
          <p:nvPr/>
        </p:nvCxnSpPr>
        <p:spPr>
          <a:xfrm flipV="1">
            <a:off x="6506482" y="3078140"/>
            <a:ext cx="70303"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BEA726E-698F-4C34-B07E-7F30C8E86C26}"/>
              </a:ext>
            </a:extLst>
          </p:cNvPr>
          <p:cNvCxnSpPr/>
          <p:nvPr/>
        </p:nvCxnSpPr>
        <p:spPr>
          <a:xfrm flipV="1">
            <a:off x="6576785" y="3037435"/>
            <a:ext cx="70305"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55EC000-F656-49FA-BB7F-922310CD13D5}"/>
              </a:ext>
            </a:extLst>
          </p:cNvPr>
          <p:cNvCxnSpPr/>
          <p:nvPr/>
        </p:nvCxnSpPr>
        <p:spPr>
          <a:xfrm flipV="1">
            <a:off x="6647090" y="2966558"/>
            <a:ext cx="70303"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7A3BBC45-A2A7-41CE-BB1B-71CD54BEABC4}"/>
              </a:ext>
            </a:extLst>
          </p:cNvPr>
          <p:cNvCxnSpPr/>
          <p:nvPr/>
        </p:nvCxnSpPr>
        <p:spPr>
          <a:xfrm flipV="1">
            <a:off x="6717393" y="2873464"/>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93A6956-F37A-4D00-959A-55C6D52F4125}"/>
              </a:ext>
            </a:extLst>
          </p:cNvPr>
          <p:cNvCxnSpPr/>
          <p:nvPr/>
        </p:nvCxnSpPr>
        <p:spPr>
          <a:xfrm flipV="1">
            <a:off x="6787697" y="2768600"/>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6C7F5DB-8ABE-41E5-B734-47E368769699}"/>
              </a:ext>
            </a:extLst>
          </p:cNvPr>
          <p:cNvCxnSpPr/>
          <p:nvPr/>
        </p:nvCxnSpPr>
        <p:spPr>
          <a:xfrm flipV="1">
            <a:off x="6858000" y="2663736"/>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AF10970A-C962-4870-A456-58C1F6F3C2D9}"/>
              </a:ext>
            </a:extLst>
          </p:cNvPr>
          <p:cNvCxnSpPr/>
          <p:nvPr/>
        </p:nvCxnSpPr>
        <p:spPr>
          <a:xfrm flipV="1">
            <a:off x="6928303" y="2570642"/>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9AFCF62A-594F-4E43-9375-4FA47F883743}"/>
              </a:ext>
            </a:extLst>
          </p:cNvPr>
          <p:cNvCxnSpPr/>
          <p:nvPr/>
        </p:nvCxnSpPr>
        <p:spPr>
          <a:xfrm flipV="1">
            <a:off x="6998607" y="2499765"/>
            <a:ext cx="70303"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D137369-5066-4E8A-B859-1690607FDC4F}"/>
              </a:ext>
            </a:extLst>
          </p:cNvPr>
          <p:cNvCxnSpPr/>
          <p:nvPr/>
        </p:nvCxnSpPr>
        <p:spPr>
          <a:xfrm flipV="1">
            <a:off x="7068910" y="2459060"/>
            <a:ext cx="70305"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146962A-DE85-4297-AB5A-DE65231F8B5E}"/>
              </a:ext>
            </a:extLst>
          </p:cNvPr>
          <p:cNvCxnSpPr/>
          <p:nvPr/>
        </p:nvCxnSpPr>
        <p:spPr>
          <a:xfrm flipV="1">
            <a:off x="7139215" y="2453096"/>
            <a:ext cx="70303"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21E546A0-055B-4841-94ED-01ABB96542DE}"/>
              </a:ext>
            </a:extLst>
          </p:cNvPr>
          <p:cNvCxnSpPr/>
          <p:nvPr/>
        </p:nvCxnSpPr>
        <p:spPr>
          <a:xfrm>
            <a:off x="7209518" y="2453096"/>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96F8AEC-678B-4856-9338-38675E17A742}"/>
              </a:ext>
            </a:extLst>
          </p:cNvPr>
          <p:cNvCxnSpPr/>
          <p:nvPr/>
        </p:nvCxnSpPr>
        <p:spPr>
          <a:xfrm>
            <a:off x="7279822" y="2482542"/>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3ACD1CA-6817-47C6-A4E0-9ADD54AD5097}"/>
              </a:ext>
            </a:extLst>
          </p:cNvPr>
          <p:cNvCxnSpPr/>
          <p:nvPr/>
        </p:nvCxnSpPr>
        <p:spPr>
          <a:xfrm>
            <a:off x="7350125" y="2544094"/>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DE5994E-0CEA-4AEC-A09F-CC66CEEEC4E4}"/>
              </a:ext>
            </a:extLst>
          </p:cNvPr>
          <p:cNvCxnSpPr/>
          <p:nvPr/>
        </p:nvCxnSpPr>
        <p:spPr>
          <a:xfrm>
            <a:off x="7420428" y="2630842"/>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74ED4A14-96B3-454C-9159-D64ABA86BE22}"/>
              </a:ext>
            </a:extLst>
          </p:cNvPr>
          <p:cNvCxnSpPr/>
          <p:nvPr/>
        </p:nvCxnSpPr>
        <p:spPr>
          <a:xfrm>
            <a:off x="7490732" y="2733051"/>
            <a:ext cx="70303"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63F9FB0-2BAB-4904-82F3-D2B45DE682A4}"/>
              </a:ext>
            </a:extLst>
          </p:cNvPr>
          <p:cNvCxnSpPr/>
          <p:nvPr/>
        </p:nvCxnSpPr>
        <p:spPr>
          <a:xfrm>
            <a:off x="7561035" y="2839250"/>
            <a:ext cx="70305"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CFF5DF4-2DB4-4D39-B315-8F9FB9A29C88}"/>
              </a:ext>
            </a:extLst>
          </p:cNvPr>
          <p:cNvCxnSpPr/>
          <p:nvPr/>
        </p:nvCxnSpPr>
        <p:spPr>
          <a:xfrm>
            <a:off x="7631340" y="2937520"/>
            <a:ext cx="70303"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864AC90-F2CB-4B86-8829-D50710E00074}"/>
              </a:ext>
            </a:extLst>
          </p:cNvPr>
          <p:cNvCxnSpPr/>
          <p:nvPr/>
        </p:nvCxnSpPr>
        <p:spPr>
          <a:xfrm>
            <a:off x="7701643" y="3016832"/>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1168DC21-48FD-4343-A3F3-FF4F2644A44D}"/>
              </a:ext>
            </a:extLst>
          </p:cNvPr>
          <p:cNvCxnSpPr/>
          <p:nvPr/>
        </p:nvCxnSpPr>
        <p:spPr>
          <a:xfrm>
            <a:off x="7771947" y="3068283"/>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B85FFDFA-EB1E-4D58-A743-31F569C37CCE}"/>
              </a:ext>
            </a:extLst>
          </p:cNvPr>
          <p:cNvCxnSpPr/>
          <p:nvPr/>
        </p:nvCxnSpPr>
        <p:spPr>
          <a:xfrm flipV="1">
            <a:off x="7842250" y="3068283"/>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0219D65-94C5-4631-A99A-1423968E8667}"/>
              </a:ext>
            </a:extLst>
          </p:cNvPr>
          <p:cNvCxnSpPr/>
          <p:nvPr/>
        </p:nvCxnSpPr>
        <p:spPr>
          <a:xfrm flipV="1">
            <a:off x="7912553" y="3016832"/>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EC5F0179-E7EA-4F2A-A543-64FDF37A6F94}"/>
              </a:ext>
            </a:extLst>
          </p:cNvPr>
          <p:cNvCxnSpPr/>
          <p:nvPr/>
        </p:nvCxnSpPr>
        <p:spPr>
          <a:xfrm flipV="1">
            <a:off x="7982857" y="2937520"/>
            <a:ext cx="70303"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08A2776D-0881-44A0-A6D4-8D15147B43EB}"/>
              </a:ext>
            </a:extLst>
          </p:cNvPr>
          <p:cNvCxnSpPr/>
          <p:nvPr/>
        </p:nvCxnSpPr>
        <p:spPr>
          <a:xfrm flipV="1">
            <a:off x="8053160" y="2839250"/>
            <a:ext cx="70305"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C604EB24-6770-47C8-B666-3EB4D6EC48E0}"/>
              </a:ext>
            </a:extLst>
          </p:cNvPr>
          <p:cNvCxnSpPr/>
          <p:nvPr/>
        </p:nvCxnSpPr>
        <p:spPr>
          <a:xfrm flipV="1">
            <a:off x="8123465" y="2733051"/>
            <a:ext cx="70303"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84B06738-CAEA-4E26-9D2E-B7B2B070EE45}"/>
              </a:ext>
            </a:extLst>
          </p:cNvPr>
          <p:cNvCxnSpPr/>
          <p:nvPr/>
        </p:nvCxnSpPr>
        <p:spPr>
          <a:xfrm flipV="1">
            <a:off x="8193768" y="2630842"/>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151A2CDB-09E7-43EC-8979-96D5CF91537F}"/>
              </a:ext>
            </a:extLst>
          </p:cNvPr>
          <p:cNvCxnSpPr/>
          <p:nvPr/>
        </p:nvCxnSpPr>
        <p:spPr>
          <a:xfrm flipV="1">
            <a:off x="8264072" y="2544094"/>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0335024C-B665-4185-A769-314AA8A45278}"/>
              </a:ext>
            </a:extLst>
          </p:cNvPr>
          <p:cNvCxnSpPr/>
          <p:nvPr/>
        </p:nvCxnSpPr>
        <p:spPr>
          <a:xfrm flipV="1">
            <a:off x="8334375" y="2482542"/>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D7C7B3FD-086C-4DBE-9CE9-0FF2CD042109}"/>
              </a:ext>
            </a:extLst>
          </p:cNvPr>
          <p:cNvCxnSpPr/>
          <p:nvPr/>
        </p:nvCxnSpPr>
        <p:spPr>
          <a:xfrm flipV="1">
            <a:off x="8404678" y="2453096"/>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E1DEAEF9-6F1C-4C7C-9FC9-6476D3CDF0B5}"/>
              </a:ext>
            </a:extLst>
          </p:cNvPr>
          <p:cNvCxnSpPr/>
          <p:nvPr/>
        </p:nvCxnSpPr>
        <p:spPr>
          <a:xfrm>
            <a:off x="8474982" y="2453096"/>
            <a:ext cx="70303"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D767DF03-A77A-47FA-AFBD-97FF438729C1}"/>
              </a:ext>
            </a:extLst>
          </p:cNvPr>
          <p:cNvCxnSpPr/>
          <p:nvPr/>
        </p:nvCxnSpPr>
        <p:spPr>
          <a:xfrm>
            <a:off x="8545285" y="2459060"/>
            <a:ext cx="70305"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16B60837-22A8-4D5C-90FA-513F6834B4C3}"/>
              </a:ext>
            </a:extLst>
          </p:cNvPr>
          <p:cNvCxnSpPr/>
          <p:nvPr/>
        </p:nvCxnSpPr>
        <p:spPr>
          <a:xfrm>
            <a:off x="8615590" y="2499765"/>
            <a:ext cx="70303"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2DCB7218-17D6-4CBE-9303-5478D4441629}"/>
              </a:ext>
            </a:extLst>
          </p:cNvPr>
          <p:cNvCxnSpPr/>
          <p:nvPr/>
        </p:nvCxnSpPr>
        <p:spPr>
          <a:xfrm>
            <a:off x="8685893" y="2570642"/>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0FD0DA78-3420-421C-8C65-E2597D1E88E2}"/>
              </a:ext>
            </a:extLst>
          </p:cNvPr>
          <p:cNvCxnSpPr/>
          <p:nvPr/>
        </p:nvCxnSpPr>
        <p:spPr>
          <a:xfrm>
            <a:off x="8756197" y="2663736"/>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DD494D1-A0C1-4B86-B3EF-9856F92AEC86}"/>
              </a:ext>
            </a:extLst>
          </p:cNvPr>
          <p:cNvCxnSpPr/>
          <p:nvPr/>
        </p:nvCxnSpPr>
        <p:spPr>
          <a:xfrm>
            <a:off x="8826500" y="2768600"/>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FA9E9CB3-71AB-4941-8D43-93B1715FD3EC}"/>
              </a:ext>
            </a:extLst>
          </p:cNvPr>
          <p:cNvCxnSpPr/>
          <p:nvPr/>
        </p:nvCxnSpPr>
        <p:spPr>
          <a:xfrm>
            <a:off x="8896803" y="2873464"/>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8F5DDC3-8E48-43BC-AA18-ADDDCD5EFB86}"/>
              </a:ext>
            </a:extLst>
          </p:cNvPr>
          <p:cNvCxnSpPr/>
          <p:nvPr/>
        </p:nvCxnSpPr>
        <p:spPr>
          <a:xfrm>
            <a:off x="8967107" y="2966558"/>
            <a:ext cx="70303"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B9419E3C-7AA5-4AA8-B29E-6712CCF1C22B}"/>
              </a:ext>
            </a:extLst>
          </p:cNvPr>
          <p:cNvCxnSpPr/>
          <p:nvPr/>
        </p:nvCxnSpPr>
        <p:spPr>
          <a:xfrm>
            <a:off x="9037410" y="3037435"/>
            <a:ext cx="70305"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00D3504-9C29-4F63-A280-546FD648A868}"/>
              </a:ext>
            </a:extLst>
          </p:cNvPr>
          <p:cNvCxnSpPr/>
          <p:nvPr/>
        </p:nvCxnSpPr>
        <p:spPr>
          <a:xfrm>
            <a:off x="9107715" y="3078140"/>
            <a:ext cx="70303"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A0B9CC7A-2C3E-42CA-84F4-EDFC6DFBFE1D}"/>
              </a:ext>
            </a:extLst>
          </p:cNvPr>
          <p:cNvCxnSpPr/>
          <p:nvPr/>
        </p:nvCxnSpPr>
        <p:spPr>
          <a:xfrm flipV="1">
            <a:off x="9178018" y="3054658"/>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77FDB19F-E744-474F-8328-78B699D85192}"/>
              </a:ext>
            </a:extLst>
          </p:cNvPr>
          <p:cNvCxnSpPr/>
          <p:nvPr/>
        </p:nvCxnSpPr>
        <p:spPr>
          <a:xfrm flipV="1">
            <a:off x="9248322" y="2993106"/>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6A80B26-ECAD-4081-B282-9667AD904994}"/>
              </a:ext>
            </a:extLst>
          </p:cNvPr>
          <p:cNvCxnSpPr/>
          <p:nvPr/>
        </p:nvCxnSpPr>
        <p:spPr>
          <a:xfrm flipV="1">
            <a:off x="9318625" y="2906358"/>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8648296B-30BC-45B4-9B98-83FAF35E5657}"/>
              </a:ext>
            </a:extLst>
          </p:cNvPr>
          <p:cNvCxnSpPr/>
          <p:nvPr/>
        </p:nvCxnSpPr>
        <p:spPr>
          <a:xfrm flipV="1">
            <a:off x="9388928" y="2804149"/>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C233E28-39E1-4F7B-8873-0BC8D9A71228}"/>
              </a:ext>
            </a:extLst>
          </p:cNvPr>
          <p:cNvCxnSpPr/>
          <p:nvPr/>
        </p:nvCxnSpPr>
        <p:spPr>
          <a:xfrm flipV="1">
            <a:off x="9459232" y="2697950"/>
            <a:ext cx="70303"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2A6DBA6A-3C94-45C6-A06E-8A87D92092AF}"/>
              </a:ext>
            </a:extLst>
          </p:cNvPr>
          <p:cNvCxnSpPr/>
          <p:nvPr/>
        </p:nvCxnSpPr>
        <p:spPr>
          <a:xfrm flipV="1">
            <a:off x="9529535" y="2599680"/>
            <a:ext cx="70305"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6C6AB2B7-DE66-41CF-9BF7-CB08890C9C27}"/>
              </a:ext>
            </a:extLst>
          </p:cNvPr>
          <p:cNvCxnSpPr/>
          <p:nvPr/>
        </p:nvCxnSpPr>
        <p:spPr>
          <a:xfrm flipV="1">
            <a:off x="9599840" y="2520368"/>
            <a:ext cx="70303"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6B5D1E8-F755-491A-9060-619627A8A6D0}"/>
              </a:ext>
            </a:extLst>
          </p:cNvPr>
          <p:cNvCxnSpPr/>
          <p:nvPr/>
        </p:nvCxnSpPr>
        <p:spPr>
          <a:xfrm flipV="1">
            <a:off x="9670143" y="2468917"/>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595B5ED9-927D-40E2-A8D5-4D2F1FD43717}"/>
              </a:ext>
            </a:extLst>
          </p:cNvPr>
          <p:cNvCxnSpPr/>
          <p:nvPr/>
        </p:nvCxnSpPr>
        <p:spPr>
          <a:xfrm flipV="1">
            <a:off x="9740447" y="2451100"/>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63757186-CD81-414F-97E3-93FEB6A203AD}"/>
              </a:ext>
            </a:extLst>
          </p:cNvPr>
          <p:cNvCxnSpPr/>
          <p:nvPr/>
        </p:nvCxnSpPr>
        <p:spPr>
          <a:xfrm>
            <a:off x="9810750" y="2451100"/>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3904806E-83D0-4050-9ACD-35E8A0AED84E}"/>
              </a:ext>
            </a:extLst>
          </p:cNvPr>
          <p:cNvCxnSpPr/>
          <p:nvPr/>
        </p:nvCxnSpPr>
        <p:spPr>
          <a:xfrm>
            <a:off x="9881053" y="2468917"/>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E9BB9742-3F98-4CFD-AE84-B877601913E5}"/>
              </a:ext>
            </a:extLst>
          </p:cNvPr>
          <p:cNvCxnSpPr/>
          <p:nvPr/>
        </p:nvCxnSpPr>
        <p:spPr>
          <a:xfrm>
            <a:off x="9951357" y="2520368"/>
            <a:ext cx="70303"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CFE8124E-773E-4C66-B44F-2BD94318DA85}"/>
              </a:ext>
            </a:extLst>
          </p:cNvPr>
          <p:cNvCxnSpPr/>
          <p:nvPr/>
        </p:nvCxnSpPr>
        <p:spPr>
          <a:xfrm>
            <a:off x="10021660" y="2599680"/>
            <a:ext cx="70305"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E93C5D88-E6BF-4C41-B95F-92D0F716E822}"/>
              </a:ext>
            </a:extLst>
          </p:cNvPr>
          <p:cNvCxnSpPr/>
          <p:nvPr/>
        </p:nvCxnSpPr>
        <p:spPr>
          <a:xfrm>
            <a:off x="10091965" y="2697950"/>
            <a:ext cx="70303"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E4121E2-B0C4-494A-89E3-B83735BD2019}"/>
              </a:ext>
            </a:extLst>
          </p:cNvPr>
          <p:cNvCxnSpPr/>
          <p:nvPr/>
        </p:nvCxnSpPr>
        <p:spPr>
          <a:xfrm>
            <a:off x="10162268" y="2804149"/>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88EEA99F-7926-4403-A7DE-42462720B6B0}"/>
              </a:ext>
            </a:extLst>
          </p:cNvPr>
          <p:cNvCxnSpPr/>
          <p:nvPr/>
        </p:nvCxnSpPr>
        <p:spPr>
          <a:xfrm>
            <a:off x="10232572" y="2906358"/>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5AF55B2A-D23B-45E1-AE8D-1A18B69FD088}"/>
              </a:ext>
            </a:extLst>
          </p:cNvPr>
          <p:cNvCxnSpPr/>
          <p:nvPr/>
        </p:nvCxnSpPr>
        <p:spPr>
          <a:xfrm>
            <a:off x="10302875" y="2993106"/>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259818F5-17E3-49DC-A74E-4B7DFFA9A1BC}"/>
              </a:ext>
            </a:extLst>
          </p:cNvPr>
          <p:cNvCxnSpPr/>
          <p:nvPr/>
        </p:nvCxnSpPr>
        <p:spPr>
          <a:xfrm>
            <a:off x="10373178" y="3054658"/>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FFBD9332-A77C-4A4C-B23C-DE9B8367AFF9}"/>
              </a:ext>
            </a:extLst>
          </p:cNvPr>
          <p:cNvCxnSpPr/>
          <p:nvPr/>
        </p:nvCxnSpPr>
        <p:spPr>
          <a:xfrm flipV="1">
            <a:off x="10443482" y="3078140"/>
            <a:ext cx="70303"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819EE852-7E9E-49B1-A48B-6906CB21FDC9}"/>
              </a:ext>
            </a:extLst>
          </p:cNvPr>
          <p:cNvCxnSpPr/>
          <p:nvPr/>
        </p:nvCxnSpPr>
        <p:spPr>
          <a:xfrm flipV="1">
            <a:off x="10513785" y="3037435"/>
            <a:ext cx="70305"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02E46210-659E-4D76-9A4D-EB30EAEB3B99}"/>
              </a:ext>
            </a:extLst>
          </p:cNvPr>
          <p:cNvCxnSpPr/>
          <p:nvPr/>
        </p:nvCxnSpPr>
        <p:spPr>
          <a:xfrm flipV="1">
            <a:off x="10584090" y="2966558"/>
            <a:ext cx="70303"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EF85E8D3-848E-4BA7-8803-48F0545420B7}"/>
              </a:ext>
            </a:extLst>
          </p:cNvPr>
          <p:cNvCxnSpPr/>
          <p:nvPr/>
        </p:nvCxnSpPr>
        <p:spPr>
          <a:xfrm flipV="1">
            <a:off x="10654393" y="2873464"/>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6B60FFE8-DDCA-45CB-93AF-34778EF81DD9}"/>
              </a:ext>
            </a:extLst>
          </p:cNvPr>
          <p:cNvCxnSpPr/>
          <p:nvPr/>
        </p:nvCxnSpPr>
        <p:spPr>
          <a:xfrm flipV="1">
            <a:off x="10724697" y="2768600"/>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355905B-70FB-4008-8194-0F7CE975D0BC}"/>
              </a:ext>
            </a:extLst>
          </p:cNvPr>
          <p:cNvCxnSpPr/>
          <p:nvPr/>
        </p:nvCxnSpPr>
        <p:spPr>
          <a:xfrm flipV="1">
            <a:off x="2921000" y="3446535"/>
            <a:ext cx="70304"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C5D012F-AE47-4345-80BA-607A83F95F78}"/>
              </a:ext>
            </a:extLst>
          </p:cNvPr>
          <p:cNvCxnSpPr/>
          <p:nvPr/>
        </p:nvCxnSpPr>
        <p:spPr>
          <a:xfrm flipV="1">
            <a:off x="2991304" y="3397752"/>
            <a:ext cx="70303"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00877920-8606-4BC3-A9EC-D039822D0A93}"/>
              </a:ext>
            </a:extLst>
          </p:cNvPr>
          <p:cNvCxnSpPr/>
          <p:nvPr/>
        </p:nvCxnSpPr>
        <p:spPr>
          <a:xfrm flipV="1">
            <a:off x="3061607" y="3391892"/>
            <a:ext cx="70304"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DAE0376-FAB5-4E96-9D66-410E382C9856}"/>
              </a:ext>
            </a:extLst>
          </p:cNvPr>
          <p:cNvCxnSpPr/>
          <p:nvPr/>
        </p:nvCxnSpPr>
        <p:spPr>
          <a:xfrm flipV="1">
            <a:off x="3131911" y="3390998"/>
            <a:ext cx="70303"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8BBE0785-2D1D-4BC7-B24D-8DADC2849BBE}"/>
              </a:ext>
            </a:extLst>
          </p:cNvPr>
          <p:cNvCxnSpPr/>
          <p:nvPr/>
        </p:nvCxnSpPr>
        <p:spPr>
          <a:xfrm flipV="1">
            <a:off x="3202214" y="3390923"/>
            <a:ext cx="70304"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EDAF0C59-F25B-4ED6-9166-B49972F76CEB}"/>
              </a:ext>
            </a:extLst>
          </p:cNvPr>
          <p:cNvCxnSpPr/>
          <p:nvPr/>
        </p:nvCxnSpPr>
        <p:spPr>
          <a:xfrm>
            <a:off x="3272518" y="3390923"/>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6D14C9AF-AA7B-452B-BAB2-99398F03CDEF}"/>
              </a:ext>
            </a:extLst>
          </p:cNvPr>
          <p:cNvCxnSpPr/>
          <p:nvPr/>
        </p:nvCxnSpPr>
        <p:spPr>
          <a:xfrm>
            <a:off x="3342822" y="3391412"/>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E0625E4-ECA2-405F-BAF5-415D212F93C0}"/>
              </a:ext>
            </a:extLst>
          </p:cNvPr>
          <p:cNvCxnSpPr/>
          <p:nvPr/>
        </p:nvCxnSpPr>
        <p:spPr>
          <a:xfrm>
            <a:off x="3413125" y="339445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9B4B439D-F98F-44D2-8D97-D5DF3020D329}"/>
              </a:ext>
            </a:extLst>
          </p:cNvPr>
          <p:cNvCxnSpPr/>
          <p:nvPr/>
        </p:nvCxnSpPr>
        <p:spPr>
          <a:xfrm>
            <a:off x="3483428" y="3418270"/>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81638082-DAAB-4445-A7C3-EECDBA5E3A35}"/>
              </a:ext>
            </a:extLst>
          </p:cNvPr>
          <p:cNvCxnSpPr/>
          <p:nvPr/>
        </p:nvCxnSpPr>
        <p:spPr>
          <a:xfrm>
            <a:off x="3553732" y="3594585"/>
            <a:ext cx="70304"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AF3C32F0-31BF-4D75-AD27-2351E80F5DAF}"/>
              </a:ext>
            </a:extLst>
          </p:cNvPr>
          <p:cNvCxnSpPr/>
          <p:nvPr/>
        </p:nvCxnSpPr>
        <p:spPr>
          <a:xfrm>
            <a:off x="3624036" y="3940891"/>
            <a:ext cx="70303"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17F19829-8727-4A0F-8030-14522F7D0F4A}"/>
              </a:ext>
            </a:extLst>
          </p:cNvPr>
          <p:cNvCxnSpPr/>
          <p:nvPr/>
        </p:nvCxnSpPr>
        <p:spPr>
          <a:xfrm>
            <a:off x="3694339" y="4037749"/>
            <a:ext cx="70304"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410592B1-5B88-43AE-A3DA-849D43617282}"/>
              </a:ext>
            </a:extLst>
          </p:cNvPr>
          <p:cNvCxnSpPr/>
          <p:nvPr/>
        </p:nvCxnSpPr>
        <p:spPr>
          <a:xfrm>
            <a:off x="3764643" y="4049426"/>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C887ECF-DEBF-42E0-BDA2-38CE15313B02}"/>
              </a:ext>
            </a:extLst>
          </p:cNvPr>
          <p:cNvCxnSpPr/>
          <p:nvPr/>
        </p:nvCxnSpPr>
        <p:spPr>
          <a:xfrm>
            <a:off x="3834947" y="4051055"/>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0ED22FA6-046A-4700-A98A-1112A02DD30C}"/>
              </a:ext>
            </a:extLst>
          </p:cNvPr>
          <p:cNvCxnSpPr/>
          <p:nvPr/>
        </p:nvCxnSpPr>
        <p:spPr>
          <a:xfrm flipV="1">
            <a:off x="3905250" y="4051055"/>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5E5808C7-E864-4DE2-B4B4-DFF8763B6FA0}"/>
              </a:ext>
            </a:extLst>
          </p:cNvPr>
          <p:cNvCxnSpPr/>
          <p:nvPr/>
        </p:nvCxnSpPr>
        <p:spPr>
          <a:xfrm flipV="1">
            <a:off x="3975553" y="4049426"/>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0F43CC27-F7A9-4CF8-8C15-7B1106AEE9AD}"/>
              </a:ext>
            </a:extLst>
          </p:cNvPr>
          <p:cNvCxnSpPr/>
          <p:nvPr/>
        </p:nvCxnSpPr>
        <p:spPr>
          <a:xfrm flipV="1">
            <a:off x="4045857" y="4037749"/>
            <a:ext cx="70304"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4EE2CFE5-DD9C-4EB1-8B0D-E7BF27975C71}"/>
              </a:ext>
            </a:extLst>
          </p:cNvPr>
          <p:cNvCxnSpPr/>
          <p:nvPr/>
        </p:nvCxnSpPr>
        <p:spPr>
          <a:xfrm flipV="1">
            <a:off x="4116161" y="3940891"/>
            <a:ext cx="70303"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487BB489-5CBB-45BE-82B7-91BD0B772D07}"/>
              </a:ext>
            </a:extLst>
          </p:cNvPr>
          <p:cNvCxnSpPr/>
          <p:nvPr/>
        </p:nvCxnSpPr>
        <p:spPr>
          <a:xfrm flipV="1">
            <a:off x="4186464" y="3594585"/>
            <a:ext cx="70304"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803DA0C3-0EC3-4721-9A5F-74EB33A68947}"/>
              </a:ext>
            </a:extLst>
          </p:cNvPr>
          <p:cNvCxnSpPr/>
          <p:nvPr/>
        </p:nvCxnSpPr>
        <p:spPr>
          <a:xfrm flipV="1">
            <a:off x="4256768" y="3418270"/>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F82CEE93-94D5-43AC-84B7-B16257ADC0D8}"/>
              </a:ext>
            </a:extLst>
          </p:cNvPr>
          <p:cNvCxnSpPr/>
          <p:nvPr/>
        </p:nvCxnSpPr>
        <p:spPr>
          <a:xfrm flipV="1">
            <a:off x="4327072" y="339445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6BCF3AA7-F70E-433F-8A57-D20EEB1CD4D0}"/>
              </a:ext>
            </a:extLst>
          </p:cNvPr>
          <p:cNvCxnSpPr/>
          <p:nvPr/>
        </p:nvCxnSpPr>
        <p:spPr>
          <a:xfrm flipV="1">
            <a:off x="4397375" y="3391412"/>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065D537F-C275-404A-A4D6-E4A6CCFD5971}"/>
              </a:ext>
            </a:extLst>
          </p:cNvPr>
          <p:cNvCxnSpPr/>
          <p:nvPr/>
        </p:nvCxnSpPr>
        <p:spPr>
          <a:xfrm flipV="1">
            <a:off x="4467678" y="3390923"/>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B9E523D0-2797-4806-A194-EF0B07CBF42D}"/>
              </a:ext>
            </a:extLst>
          </p:cNvPr>
          <p:cNvCxnSpPr/>
          <p:nvPr/>
        </p:nvCxnSpPr>
        <p:spPr>
          <a:xfrm>
            <a:off x="4537982" y="3390923"/>
            <a:ext cx="70304"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7C2CA46D-77A7-4444-90E1-5840BE1CF4A4}"/>
              </a:ext>
            </a:extLst>
          </p:cNvPr>
          <p:cNvCxnSpPr/>
          <p:nvPr/>
        </p:nvCxnSpPr>
        <p:spPr>
          <a:xfrm>
            <a:off x="4608286" y="3390998"/>
            <a:ext cx="70303"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4CB4D70E-A6FF-409F-BAA6-D315B03B426F}"/>
              </a:ext>
            </a:extLst>
          </p:cNvPr>
          <p:cNvCxnSpPr/>
          <p:nvPr/>
        </p:nvCxnSpPr>
        <p:spPr>
          <a:xfrm>
            <a:off x="4678589" y="3391892"/>
            <a:ext cx="70304"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6331D3E1-5F9D-4B7A-8A92-284DC7BD09D4}"/>
              </a:ext>
            </a:extLst>
          </p:cNvPr>
          <p:cNvCxnSpPr/>
          <p:nvPr/>
        </p:nvCxnSpPr>
        <p:spPr>
          <a:xfrm>
            <a:off x="4748893" y="3397752"/>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86782BDD-5CCB-46CC-953C-011AACD2B11B}"/>
              </a:ext>
            </a:extLst>
          </p:cNvPr>
          <p:cNvCxnSpPr/>
          <p:nvPr/>
        </p:nvCxnSpPr>
        <p:spPr>
          <a:xfrm>
            <a:off x="4819197" y="3446535"/>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D0530FA3-C4FE-454A-921E-A09657860706}"/>
              </a:ext>
            </a:extLst>
          </p:cNvPr>
          <p:cNvCxnSpPr/>
          <p:nvPr/>
        </p:nvCxnSpPr>
        <p:spPr>
          <a:xfrm>
            <a:off x="4889500" y="3721100"/>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F7371471-CEF4-4ADC-9B30-4D9121861DB0}"/>
              </a:ext>
            </a:extLst>
          </p:cNvPr>
          <p:cNvCxnSpPr/>
          <p:nvPr/>
        </p:nvCxnSpPr>
        <p:spPr>
          <a:xfrm>
            <a:off x="4959803" y="3995665"/>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FC127F19-1373-4823-BC36-A865510843A7}"/>
              </a:ext>
            </a:extLst>
          </p:cNvPr>
          <p:cNvCxnSpPr/>
          <p:nvPr/>
        </p:nvCxnSpPr>
        <p:spPr>
          <a:xfrm>
            <a:off x="5030107" y="4044448"/>
            <a:ext cx="70304"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BF9AE357-5273-482D-AE35-A7062A9DD820}"/>
              </a:ext>
            </a:extLst>
          </p:cNvPr>
          <p:cNvCxnSpPr/>
          <p:nvPr/>
        </p:nvCxnSpPr>
        <p:spPr>
          <a:xfrm>
            <a:off x="5100411" y="4050308"/>
            <a:ext cx="70303"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FC26AE29-F477-4D9D-BA24-2E004D81476B}"/>
              </a:ext>
            </a:extLst>
          </p:cNvPr>
          <p:cNvCxnSpPr/>
          <p:nvPr/>
        </p:nvCxnSpPr>
        <p:spPr>
          <a:xfrm>
            <a:off x="5170714" y="4051202"/>
            <a:ext cx="70304"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EE045944-57F5-41D8-86D1-46DAA627803A}"/>
              </a:ext>
            </a:extLst>
          </p:cNvPr>
          <p:cNvCxnSpPr/>
          <p:nvPr/>
        </p:nvCxnSpPr>
        <p:spPr>
          <a:xfrm flipV="1">
            <a:off x="5241018" y="4050788"/>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9DE886B8-4DEE-4E00-B38E-0F88C21B22E5}"/>
              </a:ext>
            </a:extLst>
          </p:cNvPr>
          <p:cNvCxnSpPr/>
          <p:nvPr/>
        </p:nvCxnSpPr>
        <p:spPr>
          <a:xfrm flipV="1">
            <a:off x="5311322" y="4047750"/>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62C3464B-0086-4E94-98DF-0CAA5BD1BCBA}"/>
              </a:ext>
            </a:extLst>
          </p:cNvPr>
          <p:cNvCxnSpPr/>
          <p:nvPr/>
        </p:nvCxnSpPr>
        <p:spPr>
          <a:xfrm flipV="1">
            <a:off x="5381625" y="402393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303AD387-7CB6-4B97-9DF2-F27E6CA1EC54}"/>
              </a:ext>
            </a:extLst>
          </p:cNvPr>
          <p:cNvCxnSpPr/>
          <p:nvPr/>
        </p:nvCxnSpPr>
        <p:spPr>
          <a:xfrm flipV="1">
            <a:off x="5451928" y="3847615"/>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D8061933-BF72-404B-A7CA-369355C85C41}"/>
              </a:ext>
            </a:extLst>
          </p:cNvPr>
          <p:cNvCxnSpPr/>
          <p:nvPr/>
        </p:nvCxnSpPr>
        <p:spPr>
          <a:xfrm flipV="1">
            <a:off x="5522232" y="3501309"/>
            <a:ext cx="70304"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6D5AB287-BDF6-47CF-B30C-2CB3F5F17827}"/>
              </a:ext>
            </a:extLst>
          </p:cNvPr>
          <p:cNvCxnSpPr/>
          <p:nvPr/>
        </p:nvCxnSpPr>
        <p:spPr>
          <a:xfrm flipV="1">
            <a:off x="5592536" y="3404451"/>
            <a:ext cx="70303"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2761DD82-17BF-4EAE-8191-602402F259A7}"/>
              </a:ext>
            </a:extLst>
          </p:cNvPr>
          <p:cNvCxnSpPr/>
          <p:nvPr/>
        </p:nvCxnSpPr>
        <p:spPr>
          <a:xfrm flipV="1">
            <a:off x="5662839" y="3392774"/>
            <a:ext cx="70304"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AB0A3BB3-38B7-4E47-8A1A-C5CC3C0A1F68}"/>
              </a:ext>
            </a:extLst>
          </p:cNvPr>
          <p:cNvCxnSpPr/>
          <p:nvPr/>
        </p:nvCxnSpPr>
        <p:spPr>
          <a:xfrm flipV="1">
            <a:off x="5733143" y="3391145"/>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564BA6EB-118A-4DFC-8283-3CD998A5DE7B}"/>
              </a:ext>
            </a:extLst>
          </p:cNvPr>
          <p:cNvCxnSpPr/>
          <p:nvPr/>
        </p:nvCxnSpPr>
        <p:spPr>
          <a:xfrm flipV="1">
            <a:off x="5803447" y="3390900"/>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3E6E7371-5F55-4720-BD9C-34B10C2F405D}"/>
              </a:ext>
            </a:extLst>
          </p:cNvPr>
          <p:cNvCxnSpPr/>
          <p:nvPr/>
        </p:nvCxnSpPr>
        <p:spPr>
          <a:xfrm>
            <a:off x="5873750" y="3390900"/>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8B38C63A-FC81-4FE0-9F8F-6866FF67ACA1}"/>
              </a:ext>
            </a:extLst>
          </p:cNvPr>
          <p:cNvCxnSpPr/>
          <p:nvPr/>
        </p:nvCxnSpPr>
        <p:spPr>
          <a:xfrm>
            <a:off x="5944053" y="3391145"/>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70DD9494-F2BD-42AB-A6C9-FFBAA411B859}"/>
              </a:ext>
            </a:extLst>
          </p:cNvPr>
          <p:cNvCxnSpPr/>
          <p:nvPr/>
        </p:nvCxnSpPr>
        <p:spPr>
          <a:xfrm>
            <a:off x="6014357" y="3392774"/>
            <a:ext cx="70304"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5CFB57C0-63AB-4F30-97C4-ADA00B1E1332}"/>
              </a:ext>
            </a:extLst>
          </p:cNvPr>
          <p:cNvCxnSpPr/>
          <p:nvPr/>
        </p:nvCxnSpPr>
        <p:spPr>
          <a:xfrm>
            <a:off x="6084661" y="3404451"/>
            <a:ext cx="70303"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3FE5BE89-3300-49B3-A06B-C0EBD46C16CD}"/>
              </a:ext>
            </a:extLst>
          </p:cNvPr>
          <p:cNvCxnSpPr/>
          <p:nvPr/>
        </p:nvCxnSpPr>
        <p:spPr>
          <a:xfrm>
            <a:off x="6154964" y="3501309"/>
            <a:ext cx="70304"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10504CB6-3CF4-45AE-8188-10F2D2FA14E6}"/>
              </a:ext>
            </a:extLst>
          </p:cNvPr>
          <p:cNvCxnSpPr/>
          <p:nvPr/>
        </p:nvCxnSpPr>
        <p:spPr>
          <a:xfrm>
            <a:off x="6225268" y="3847615"/>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040A145A-5DC7-4E6F-A32E-65ED174521BB}"/>
              </a:ext>
            </a:extLst>
          </p:cNvPr>
          <p:cNvCxnSpPr/>
          <p:nvPr/>
        </p:nvCxnSpPr>
        <p:spPr>
          <a:xfrm>
            <a:off x="6295572" y="402393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21527054-C735-4A97-B713-ECBD1D82E3D9}"/>
              </a:ext>
            </a:extLst>
          </p:cNvPr>
          <p:cNvCxnSpPr/>
          <p:nvPr/>
        </p:nvCxnSpPr>
        <p:spPr>
          <a:xfrm>
            <a:off x="6365875" y="4047750"/>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E3E37630-AAC6-4A41-9686-66DAF526E66A}"/>
              </a:ext>
            </a:extLst>
          </p:cNvPr>
          <p:cNvCxnSpPr/>
          <p:nvPr/>
        </p:nvCxnSpPr>
        <p:spPr>
          <a:xfrm>
            <a:off x="6436178" y="4050788"/>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DA5FB7A8-5316-4F82-9FD8-E70458BCDF54}"/>
              </a:ext>
            </a:extLst>
          </p:cNvPr>
          <p:cNvCxnSpPr/>
          <p:nvPr/>
        </p:nvCxnSpPr>
        <p:spPr>
          <a:xfrm flipV="1">
            <a:off x="6506482" y="4051202"/>
            <a:ext cx="70303"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092D32F5-EF1F-475E-AA6F-5DC757793936}"/>
              </a:ext>
            </a:extLst>
          </p:cNvPr>
          <p:cNvCxnSpPr/>
          <p:nvPr/>
        </p:nvCxnSpPr>
        <p:spPr>
          <a:xfrm flipV="1">
            <a:off x="6576785" y="4050308"/>
            <a:ext cx="70305"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BE175272-03E0-47DE-8072-2D1DE914C91B}"/>
              </a:ext>
            </a:extLst>
          </p:cNvPr>
          <p:cNvCxnSpPr/>
          <p:nvPr/>
        </p:nvCxnSpPr>
        <p:spPr>
          <a:xfrm flipV="1">
            <a:off x="6647090" y="4044448"/>
            <a:ext cx="70303"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B6F92706-725C-4FCA-83BC-C4637F0AFA95}"/>
              </a:ext>
            </a:extLst>
          </p:cNvPr>
          <p:cNvCxnSpPr/>
          <p:nvPr/>
        </p:nvCxnSpPr>
        <p:spPr>
          <a:xfrm flipV="1">
            <a:off x="6717393" y="3995665"/>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DF7FC02B-97B8-4903-A6C4-AFB0826F6521}"/>
              </a:ext>
            </a:extLst>
          </p:cNvPr>
          <p:cNvCxnSpPr/>
          <p:nvPr/>
        </p:nvCxnSpPr>
        <p:spPr>
          <a:xfrm flipV="1">
            <a:off x="6787697" y="3721100"/>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26625813-11EA-442B-9276-093A69F468C6}"/>
              </a:ext>
            </a:extLst>
          </p:cNvPr>
          <p:cNvCxnSpPr/>
          <p:nvPr/>
        </p:nvCxnSpPr>
        <p:spPr>
          <a:xfrm flipV="1">
            <a:off x="6858000" y="3446535"/>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EF222514-3E19-48EB-871D-0351B99FA7DF}"/>
              </a:ext>
            </a:extLst>
          </p:cNvPr>
          <p:cNvCxnSpPr/>
          <p:nvPr/>
        </p:nvCxnSpPr>
        <p:spPr>
          <a:xfrm flipV="1">
            <a:off x="6928303" y="3397752"/>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2E7F8FD2-3D6C-4014-A7F3-431FA3E71671}"/>
              </a:ext>
            </a:extLst>
          </p:cNvPr>
          <p:cNvCxnSpPr/>
          <p:nvPr/>
        </p:nvCxnSpPr>
        <p:spPr>
          <a:xfrm flipV="1">
            <a:off x="6998607" y="3391892"/>
            <a:ext cx="70303"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6D3D9115-091F-4507-BA37-033C5709FF99}"/>
              </a:ext>
            </a:extLst>
          </p:cNvPr>
          <p:cNvCxnSpPr/>
          <p:nvPr/>
        </p:nvCxnSpPr>
        <p:spPr>
          <a:xfrm flipV="1">
            <a:off x="7068910" y="3390998"/>
            <a:ext cx="70305"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87233963-5854-4825-BEED-FED39F33B8CA}"/>
              </a:ext>
            </a:extLst>
          </p:cNvPr>
          <p:cNvCxnSpPr/>
          <p:nvPr/>
        </p:nvCxnSpPr>
        <p:spPr>
          <a:xfrm flipV="1">
            <a:off x="7139215" y="3390923"/>
            <a:ext cx="70303"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6DC59605-3986-4F3B-85CE-766042500A86}"/>
              </a:ext>
            </a:extLst>
          </p:cNvPr>
          <p:cNvCxnSpPr/>
          <p:nvPr/>
        </p:nvCxnSpPr>
        <p:spPr>
          <a:xfrm>
            <a:off x="7209518" y="3390923"/>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F168A8E3-60EB-47B8-A795-AE6C12DE04B2}"/>
              </a:ext>
            </a:extLst>
          </p:cNvPr>
          <p:cNvCxnSpPr/>
          <p:nvPr/>
        </p:nvCxnSpPr>
        <p:spPr>
          <a:xfrm>
            <a:off x="7279822" y="3391412"/>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FA406E06-9F05-416D-99A8-32BD11D327FF}"/>
              </a:ext>
            </a:extLst>
          </p:cNvPr>
          <p:cNvCxnSpPr/>
          <p:nvPr/>
        </p:nvCxnSpPr>
        <p:spPr>
          <a:xfrm>
            <a:off x="7350125" y="339445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3C35F5E6-EFC6-42D2-AFA7-3DB3B3C79F8E}"/>
              </a:ext>
            </a:extLst>
          </p:cNvPr>
          <p:cNvCxnSpPr/>
          <p:nvPr/>
        </p:nvCxnSpPr>
        <p:spPr>
          <a:xfrm>
            <a:off x="7420428" y="3418270"/>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A03E95DA-EC4F-4BC4-8B61-D763D0175055}"/>
              </a:ext>
            </a:extLst>
          </p:cNvPr>
          <p:cNvCxnSpPr/>
          <p:nvPr/>
        </p:nvCxnSpPr>
        <p:spPr>
          <a:xfrm>
            <a:off x="7490732" y="3594585"/>
            <a:ext cx="70303"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D168E65F-BE62-42CD-ABB3-4E8D3DA7F9E0}"/>
              </a:ext>
            </a:extLst>
          </p:cNvPr>
          <p:cNvCxnSpPr/>
          <p:nvPr/>
        </p:nvCxnSpPr>
        <p:spPr>
          <a:xfrm>
            <a:off x="7561035" y="3940891"/>
            <a:ext cx="70305"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4AD86B08-E266-481D-A791-4DD441251097}"/>
              </a:ext>
            </a:extLst>
          </p:cNvPr>
          <p:cNvCxnSpPr/>
          <p:nvPr/>
        </p:nvCxnSpPr>
        <p:spPr>
          <a:xfrm>
            <a:off x="7631340" y="4037749"/>
            <a:ext cx="70303"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A556C185-BAB5-4947-94CE-BFE700E87873}"/>
              </a:ext>
            </a:extLst>
          </p:cNvPr>
          <p:cNvCxnSpPr/>
          <p:nvPr/>
        </p:nvCxnSpPr>
        <p:spPr>
          <a:xfrm>
            <a:off x="7701643" y="4049426"/>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C5BA6B0C-6AF5-4CF4-BEF0-F135DD1F45D4}"/>
              </a:ext>
            </a:extLst>
          </p:cNvPr>
          <p:cNvCxnSpPr/>
          <p:nvPr/>
        </p:nvCxnSpPr>
        <p:spPr>
          <a:xfrm>
            <a:off x="7771947" y="4051055"/>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10B0FD4C-8945-48E5-A6B4-533F626FD886}"/>
              </a:ext>
            </a:extLst>
          </p:cNvPr>
          <p:cNvCxnSpPr/>
          <p:nvPr/>
        </p:nvCxnSpPr>
        <p:spPr>
          <a:xfrm flipV="1">
            <a:off x="7842250" y="4051055"/>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CB137C07-37F4-4A26-B85C-4C6C9D5D5398}"/>
              </a:ext>
            </a:extLst>
          </p:cNvPr>
          <p:cNvCxnSpPr/>
          <p:nvPr/>
        </p:nvCxnSpPr>
        <p:spPr>
          <a:xfrm flipV="1">
            <a:off x="7912553" y="4049426"/>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E67110FC-7EC2-4FF0-AD3F-8E99FB3C42C9}"/>
              </a:ext>
            </a:extLst>
          </p:cNvPr>
          <p:cNvCxnSpPr/>
          <p:nvPr/>
        </p:nvCxnSpPr>
        <p:spPr>
          <a:xfrm flipV="1">
            <a:off x="7982857" y="4037749"/>
            <a:ext cx="70303"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415D4CDC-8B3C-4715-A3F7-8E1341A14ECF}"/>
              </a:ext>
            </a:extLst>
          </p:cNvPr>
          <p:cNvCxnSpPr/>
          <p:nvPr/>
        </p:nvCxnSpPr>
        <p:spPr>
          <a:xfrm flipV="1">
            <a:off x="8053160" y="3940891"/>
            <a:ext cx="70305"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3DFB7B14-AD28-4467-B4F1-A03783193DCF}"/>
              </a:ext>
            </a:extLst>
          </p:cNvPr>
          <p:cNvCxnSpPr/>
          <p:nvPr/>
        </p:nvCxnSpPr>
        <p:spPr>
          <a:xfrm flipV="1">
            <a:off x="8123465" y="3594585"/>
            <a:ext cx="70303"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861B3A4A-D6A1-4BFD-91D6-AD2F7C58E7CE}"/>
              </a:ext>
            </a:extLst>
          </p:cNvPr>
          <p:cNvCxnSpPr/>
          <p:nvPr/>
        </p:nvCxnSpPr>
        <p:spPr>
          <a:xfrm flipV="1">
            <a:off x="8193768" y="3418270"/>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CF0D2514-2172-4D54-8222-BD5E1F3B97FF}"/>
              </a:ext>
            </a:extLst>
          </p:cNvPr>
          <p:cNvCxnSpPr/>
          <p:nvPr/>
        </p:nvCxnSpPr>
        <p:spPr>
          <a:xfrm flipV="1">
            <a:off x="8264072" y="339445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037F3BCC-7851-4F9D-930E-2835EDE3793B}"/>
              </a:ext>
            </a:extLst>
          </p:cNvPr>
          <p:cNvCxnSpPr/>
          <p:nvPr/>
        </p:nvCxnSpPr>
        <p:spPr>
          <a:xfrm flipV="1">
            <a:off x="8334375" y="3391412"/>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A5357A24-60DB-4BCB-958E-2B893CA50647}"/>
              </a:ext>
            </a:extLst>
          </p:cNvPr>
          <p:cNvCxnSpPr/>
          <p:nvPr/>
        </p:nvCxnSpPr>
        <p:spPr>
          <a:xfrm flipV="1">
            <a:off x="8404678" y="3390923"/>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41BAD43E-F9F0-4571-9BD2-E42C062F6989}"/>
              </a:ext>
            </a:extLst>
          </p:cNvPr>
          <p:cNvCxnSpPr/>
          <p:nvPr/>
        </p:nvCxnSpPr>
        <p:spPr>
          <a:xfrm>
            <a:off x="8474982" y="3390923"/>
            <a:ext cx="70303"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3A7D950E-F4A5-494E-8FF1-0CCA53FF6F0A}"/>
              </a:ext>
            </a:extLst>
          </p:cNvPr>
          <p:cNvCxnSpPr/>
          <p:nvPr/>
        </p:nvCxnSpPr>
        <p:spPr>
          <a:xfrm>
            <a:off x="8545285" y="3390998"/>
            <a:ext cx="70305"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2961D4DE-A3BC-4333-A0F5-938DA9E690EF}"/>
              </a:ext>
            </a:extLst>
          </p:cNvPr>
          <p:cNvCxnSpPr/>
          <p:nvPr/>
        </p:nvCxnSpPr>
        <p:spPr>
          <a:xfrm>
            <a:off x="8615590" y="3391892"/>
            <a:ext cx="70303"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29315E2B-B64E-4D77-B74A-3760154B9C21}"/>
              </a:ext>
            </a:extLst>
          </p:cNvPr>
          <p:cNvCxnSpPr/>
          <p:nvPr/>
        </p:nvCxnSpPr>
        <p:spPr>
          <a:xfrm>
            <a:off x="8685893" y="3397752"/>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5DEC52B4-C2A7-4094-9FDC-E3CE70B55325}"/>
              </a:ext>
            </a:extLst>
          </p:cNvPr>
          <p:cNvCxnSpPr/>
          <p:nvPr/>
        </p:nvCxnSpPr>
        <p:spPr>
          <a:xfrm>
            <a:off x="8756197" y="3446535"/>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1CDB630F-1863-47E1-8D85-8F94B5386CC4}"/>
              </a:ext>
            </a:extLst>
          </p:cNvPr>
          <p:cNvCxnSpPr/>
          <p:nvPr/>
        </p:nvCxnSpPr>
        <p:spPr>
          <a:xfrm>
            <a:off x="8826500" y="3721100"/>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83F2BD2-B211-4F68-91E9-8DC791BCA437}"/>
              </a:ext>
            </a:extLst>
          </p:cNvPr>
          <p:cNvCxnSpPr/>
          <p:nvPr/>
        </p:nvCxnSpPr>
        <p:spPr>
          <a:xfrm>
            <a:off x="8896803" y="3995665"/>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ABF0700-73E0-4D1E-A7B8-0D244A89207E}"/>
              </a:ext>
            </a:extLst>
          </p:cNvPr>
          <p:cNvCxnSpPr/>
          <p:nvPr/>
        </p:nvCxnSpPr>
        <p:spPr>
          <a:xfrm>
            <a:off x="8967107" y="4044448"/>
            <a:ext cx="70303"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458E6970-D4D6-4C09-BB21-390F20CF1F80}"/>
              </a:ext>
            </a:extLst>
          </p:cNvPr>
          <p:cNvCxnSpPr/>
          <p:nvPr/>
        </p:nvCxnSpPr>
        <p:spPr>
          <a:xfrm>
            <a:off x="9037410" y="4050308"/>
            <a:ext cx="70305"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FBC4343C-83F2-4D7C-B8CC-BE58F14EA47F}"/>
              </a:ext>
            </a:extLst>
          </p:cNvPr>
          <p:cNvCxnSpPr/>
          <p:nvPr/>
        </p:nvCxnSpPr>
        <p:spPr>
          <a:xfrm>
            <a:off x="9107715" y="4051202"/>
            <a:ext cx="70303"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0551ABCE-4209-4CFF-9BA7-4E946A5F23FE}"/>
              </a:ext>
            </a:extLst>
          </p:cNvPr>
          <p:cNvCxnSpPr/>
          <p:nvPr/>
        </p:nvCxnSpPr>
        <p:spPr>
          <a:xfrm flipV="1">
            <a:off x="9178018" y="4050788"/>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F26D8F31-24E3-4AA8-A276-4A9C14C277AD}"/>
              </a:ext>
            </a:extLst>
          </p:cNvPr>
          <p:cNvCxnSpPr/>
          <p:nvPr/>
        </p:nvCxnSpPr>
        <p:spPr>
          <a:xfrm flipV="1">
            <a:off x="9248322" y="4047750"/>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E5F58EBC-373D-4CBF-8CDA-CC6D3925B56F}"/>
              </a:ext>
            </a:extLst>
          </p:cNvPr>
          <p:cNvCxnSpPr/>
          <p:nvPr/>
        </p:nvCxnSpPr>
        <p:spPr>
          <a:xfrm flipV="1">
            <a:off x="9318625" y="402393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5DC37D33-96BE-4F21-A0FC-0A7BF154DFBF}"/>
              </a:ext>
            </a:extLst>
          </p:cNvPr>
          <p:cNvCxnSpPr/>
          <p:nvPr/>
        </p:nvCxnSpPr>
        <p:spPr>
          <a:xfrm flipV="1">
            <a:off x="9388928" y="3847615"/>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FC4A1FDA-4304-4967-8670-7BE954EE4A2E}"/>
              </a:ext>
            </a:extLst>
          </p:cNvPr>
          <p:cNvCxnSpPr/>
          <p:nvPr/>
        </p:nvCxnSpPr>
        <p:spPr>
          <a:xfrm flipV="1">
            <a:off x="9459232" y="3501309"/>
            <a:ext cx="70303"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E9E88786-7879-4598-A7F0-260E926D99C1}"/>
              </a:ext>
            </a:extLst>
          </p:cNvPr>
          <p:cNvCxnSpPr/>
          <p:nvPr/>
        </p:nvCxnSpPr>
        <p:spPr>
          <a:xfrm flipV="1">
            <a:off x="9529535" y="3404451"/>
            <a:ext cx="70305"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4B401603-6147-4680-AE9F-FD08554B605C}"/>
              </a:ext>
            </a:extLst>
          </p:cNvPr>
          <p:cNvCxnSpPr/>
          <p:nvPr/>
        </p:nvCxnSpPr>
        <p:spPr>
          <a:xfrm flipV="1">
            <a:off x="9599840" y="3392774"/>
            <a:ext cx="70303"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891CFF4B-7F33-4E09-9390-713612CE1297}"/>
              </a:ext>
            </a:extLst>
          </p:cNvPr>
          <p:cNvCxnSpPr/>
          <p:nvPr/>
        </p:nvCxnSpPr>
        <p:spPr>
          <a:xfrm flipV="1">
            <a:off x="9670143" y="3391145"/>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68543E3D-B07D-4774-A4B5-230E665E6945}"/>
              </a:ext>
            </a:extLst>
          </p:cNvPr>
          <p:cNvCxnSpPr/>
          <p:nvPr/>
        </p:nvCxnSpPr>
        <p:spPr>
          <a:xfrm flipV="1">
            <a:off x="9740447" y="3390900"/>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7840C433-03FE-42BC-AE42-1D3E599349AD}"/>
              </a:ext>
            </a:extLst>
          </p:cNvPr>
          <p:cNvCxnSpPr/>
          <p:nvPr/>
        </p:nvCxnSpPr>
        <p:spPr>
          <a:xfrm>
            <a:off x="9810750" y="3390900"/>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5240F2DD-4C8A-4CB6-BF9E-A75AAE1EA422}"/>
              </a:ext>
            </a:extLst>
          </p:cNvPr>
          <p:cNvCxnSpPr/>
          <p:nvPr/>
        </p:nvCxnSpPr>
        <p:spPr>
          <a:xfrm>
            <a:off x="9881053" y="3391145"/>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72647B70-E446-4184-8D46-600CBF81BEF4}"/>
              </a:ext>
            </a:extLst>
          </p:cNvPr>
          <p:cNvCxnSpPr/>
          <p:nvPr/>
        </p:nvCxnSpPr>
        <p:spPr>
          <a:xfrm>
            <a:off x="9951357" y="3392774"/>
            <a:ext cx="70303"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C837CD45-31DA-485A-A998-03CFAC58AA2D}"/>
              </a:ext>
            </a:extLst>
          </p:cNvPr>
          <p:cNvCxnSpPr/>
          <p:nvPr/>
        </p:nvCxnSpPr>
        <p:spPr>
          <a:xfrm>
            <a:off x="10021660" y="3404451"/>
            <a:ext cx="70305"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6DC74C93-137E-4DC1-856D-A87EB09498C0}"/>
              </a:ext>
            </a:extLst>
          </p:cNvPr>
          <p:cNvCxnSpPr/>
          <p:nvPr/>
        </p:nvCxnSpPr>
        <p:spPr>
          <a:xfrm>
            <a:off x="10091965" y="3501309"/>
            <a:ext cx="70303"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D7CBE32A-179A-4417-8382-0082CF5FDF2F}"/>
              </a:ext>
            </a:extLst>
          </p:cNvPr>
          <p:cNvCxnSpPr/>
          <p:nvPr/>
        </p:nvCxnSpPr>
        <p:spPr>
          <a:xfrm>
            <a:off x="10162268" y="3847615"/>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622E2D51-0C59-4668-9B30-613B763569B7}"/>
              </a:ext>
            </a:extLst>
          </p:cNvPr>
          <p:cNvCxnSpPr/>
          <p:nvPr/>
        </p:nvCxnSpPr>
        <p:spPr>
          <a:xfrm>
            <a:off x="10232572" y="402393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81101AC9-2261-40A6-A562-50238F75FC4D}"/>
              </a:ext>
            </a:extLst>
          </p:cNvPr>
          <p:cNvCxnSpPr/>
          <p:nvPr/>
        </p:nvCxnSpPr>
        <p:spPr>
          <a:xfrm>
            <a:off x="10302875" y="4047750"/>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6C6760B5-4016-4A63-8A61-745953366996}"/>
              </a:ext>
            </a:extLst>
          </p:cNvPr>
          <p:cNvCxnSpPr/>
          <p:nvPr/>
        </p:nvCxnSpPr>
        <p:spPr>
          <a:xfrm>
            <a:off x="10373178" y="4050788"/>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5DE03357-B503-493B-B330-33AC488F4C36}"/>
              </a:ext>
            </a:extLst>
          </p:cNvPr>
          <p:cNvCxnSpPr/>
          <p:nvPr/>
        </p:nvCxnSpPr>
        <p:spPr>
          <a:xfrm flipV="1">
            <a:off x="10443482" y="4051202"/>
            <a:ext cx="70303"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1245FEC6-87BD-49DF-86D7-31D073481B96}"/>
              </a:ext>
            </a:extLst>
          </p:cNvPr>
          <p:cNvCxnSpPr/>
          <p:nvPr/>
        </p:nvCxnSpPr>
        <p:spPr>
          <a:xfrm flipV="1">
            <a:off x="10513785" y="4050308"/>
            <a:ext cx="70305"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CDD1E7E4-234E-43D3-8FE3-C2DEE8D6A730}"/>
              </a:ext>
            </a:extLst>
          </p:cNvPr>
          <p:cNvCxnSpPr/>
          <p:nvPr/>
        </p:nvCxnSpPr>
        <p:spPr>
          <a:xfrm flipV="1">
            <a:off x="10584090" y="4044448"/>
            <a:ext cx="70303"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3673F682-B7C3-45BF-BF03-EA8700822BCD}"/>
              </a:ext>
            </a:extLst>
          </p:cNvPr>
          <p:cNvCxnSpPr/>
          <p:nvPr/>
        </p:nvCxnSpPr>
        <p:spPr>
          <a:xfrm flipV="1">
            <a:off x="10654393" y="3995665"/>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082C95D0-EFEA-4ACA-8E4A-D3D390899D28}"/>
              </a:ext>
            </a:extLst>
          </p:cNvPr>
          <p:cNvCxnSpPr/>
          <p:nvPr/>
        </p:nvCxnSpPr>
        <p:spPr>
          <a:xfrm flipV="1">
            <a:off x="10724697" y="3721100"/>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sp>
        <p:nvSpPr>
          <p:cNvPr id="252" name="TextBox 251">
            <a:extLst>
              <a:ext uri="{FF2B5EF4-FFF2-40B4-BE49-F238E27FC236}">
                <a16:creationId xmlns:a16="http://schemas.microsoft.com/office/drawing/2014/main" id="{B86EF35A-3CCF-4CAD-81FB-558A33C9F40B}"/>
              </a:ext>
            </a:extLst>
          </p:cNvPr>
          <p:cNvSpPr txBox="1"/>
          <p:nvPr/>
        </p:nvSpPr>
        <p:spPr>
          <a:xfrm>
            <a:off x="889000" y="4419600"/>
            <a:ext cx="10414000" cy="292388"/>
          </a:xfrm>
          <a:prstGeom prst="rect">
            <a:avLst/>
          </a:prstGeom>
          <a:noFill/>
        </p:spPr>
        <p:txBody>
          <a:bodyPr vert="horz" wrap="square" lIns="0" tIns="0" rIns="0" bIns="0" rtlCol="0">
            <a:spAutoFit/>
          </a:bodyPr>
          <a:lstStyle/>
          <a:p>
            <a:r>
              <a:rPr lang="en-US" sz="1900">
                <a:solidFill>
                  <a:srgbClr val="CCDDEC"/>
                </a:solidFill>
                <a:latin typeface="Aptos"/>
              </a:rPr>
              <a:t>Tanh compresses high peaks smoothly. That nonlinear change creates extra harmonics.</a:t>
            </a:r>
          </a:p>
        </p:txBody>
      </p:sp>
      <p:sp>
        <p:nvSpPr>
          <p:cNvPr id="253" name="Rectangle 252">
            <a:extLst>
              <a:ext uri="{FF2B5EF4-FFF2-40B4-BE49-F238E27FC236}">
                <a16:creationId xmlns:a16="http://schemas.microsoft.com/office/drawing/2014/main" id="{CCE60DD6-B753-4061-9B42-A200F0DE1A10}"/>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TextBox 253">
            <a:extLst>
              <a:ext uri="{FF2B5EF4-FFF2-40B4-BE49-F238E27FC236}">
                <a16:creationId xmlns:a16="http://schemas.microsoft.com/office/drawing/2014/main" id="{C60A744B-0A2D-435C-BC0B-0469377D94E2}"/>
              </a:ext>
            </a:extLst>
          </p:cNvPr>
          <p:cNvSpPr txBox="1"/>
          <p:nvPr/>
        </p:nvSpPr>
        <p:spPr>
          <a:xfrm>
            <a:off x="1066800" y="5283200"/>
            <a:ext cx="10058400" cy="204671"/>
          </a:xfrm>
          <a:prstGeom prst="rect">
            <a:avLst/>
          </a:prstGeom>
          <a:noFill/>
        </p:spPr>
        <p:txBody>
          <a:bodyPr vert="horz" wrap="square" lIns="0" tIns="0" rIns="0" bIns="0" rtlCol="0">
            <a:spAutoFit/>
          </a:bodyPr>
          <a:lstStyle/>
          <a:p>
            <a:r>
              <a:rPr lang="en-US" sz="1330">
                <a:solidFill>
                  <a:srgbClr val="37D9E9"/>
                </a:solidFill>
                <a:latin typeface="Consolas" panose="020B0609020204030204" pitchFamily="49" charset="0"/>
              </a:rPr>
              <a:t>drive = 1 + 24 * amount; output = tanh(drive * audio) / tanh(drive)</a:t>
            </a:r>
          </a:p>
        </p:txBody>
      </p:sp>
      <p:sp>
        <p:nvSpPr>
          <p:cNvPr id="255" name="TextBox 254">
            <a:extLst>
              <a:ext uri="{FF2B5EF4-FFF2-40B4-BE49-F238E27FC236}">
                <a16:creationId xmlns:a16="http://schemas.microsoft.com/office/drawing/2014/main" id="{CE0F5EDE-AB4F-429C-97C4-936A8BE756FA}"/>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256" name="TextBox 255">
            <a:extLst>
              <a:ext uri="{FF2B5EF4-FFF2-40B4-BE49-F238E27FC236}">
                <a16:creationId xmlns:a16="http://schemas.microsoft.com/office/drawing/2014/main" id="{3478C77A-9B39-4952-8C1D-57CAD77C9095}"/>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Choose Distortion; raise amount and compare the spectrum.</a:t>
            </a:r>
          </a:p>
        </p:txBody>
      </p:sp>
      <p:sp>
        <p:nvSpPr>
          <p:cNvPr id="257" name="Rectangle 256">
            <a:extLst>
              <a:ext uri="{FF2B5EF4-FFF2-40B4-BE49-F238E27FC236}">
                <a16:creationId xmlns:a16="http://schemas.microsoft.com/office/drawing/2014/main" id="{2FC09D8A-8B50-48F8-B59D-BDAFFAFE595B}"/>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TextBox 257">
            <a:extLst>
              <a:ext uri="{FF2B5EF4-FFF2-40B4-BE49-F238E27FC236}">
                <a16:creationId xmlns:a16="http://schemas.microsoft.com/office/drawing/2014/main" id="{BBF41D83-0894-43B8-9702-A9C7D368A836}"/>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11</a:t>
            </a:r>
          </a:p>
        </p:txBody>
      </p:sp>
      <p:sp>
        <p:nvSpPr>
          <p:cNvPr id="259" name="TextBox 258">
            <a:extLst>
              <a:ext uri="{FF2B5EF4-FFF2-40B4-BE49-F238E27FC236}">
                <a16:creationId xmlns:a16="http://schemas.microsoft.com/office/drawing/2014/main" id="{CAAB7B61-416A-4169-BCD0-7BD1694F1FF5}"/>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1764209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35B12C-D8F6-4FB2-AA03-AB246F004A9C}"/>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70FEE7-7A7F-487A-B94C-9FCF00CFE494}"/>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Musical onsets and pitch</a:t>
            </a:r>
          </a:p>
        </p:txBody>
      </p:sp>
      <p:cxnSp>
        <p:nvCxnSpPr>
          <p:cNvPr id="4" name="Straight Connector 3">
            <a:extLst>
              <a:ext uri="{FF2B5EF4-FFF2-40B4-BE49-F238E27FC236}">
                <a16:creationId xmlns:a16="http://schemas.microsoft.com/office/drawing/2014/main" id="{4A49BF5B-F57A-4F71-9192-6A5690E538C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843B60D-A13F-4278-8291-9DFA0A247A50}"/>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74467141-AB74-4656-BCC3-41764FE26989}"/>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12</a:t>
            </a:r>
          </a:p>
        </p:txBody>
      </p:sp>
      <p:pic>
        <p:nvPicPr>
          <p:cNvPr id="8" name="Picture 7">
            <a:extLst>
              <a:ext uri="{FF2B5EF4-FFF2-40B4-BE49-F238E27FC236}">
                <a16:creationId xmlns:a16="http://schemas.microsoft.com/office/drawing/2014/main" id="{C10C11F0-9CE4-48AE-A390-2DBC4118F9F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1000" y="1346200"/>
            <a:ext cx="11430000" cy="4648200"/>
          </a:xfrm>
          <a:prstGeom prst="rect">
            <a:avLst/>
          </a:prstGeom>
        </p:spPr>
      </p:pic>
      <p:sp>
        <p:nvSpPr>
          <p:cNvPr id="9" name="TextBox 8">
            <a:extLst>
              <a:ext uri="{FF2B5EF4-FFF2-40B4-BE49-F238E27FC236}">
                <a16:creationId xmlns:a16="http://schemas.microsoft.com/office/drawing/2014/main" id="{139BC269-CC51-4F71-9996-0BA88561C55C}"/>
              </a:ext>
            </a:extLst>
          </p:cNvPr>
          <p:cNvSpPr txBox="1"/>
          <p:nvPr/>
        </p:nvSpPr>
        <p:spPr>
          <a:xfrm>
            <a:off x="673100" y="6045200"/>
            <a:ext cx="10845800" cy="276999"/>
          </a:xfrm>
          <a:prstGeom prst="rect">
            <a:avLst/>
          </a:prstGeom>
          <a:noFill/>
        </p:spPr>
        <p:txBody>
          <a:bodyPr vert="horz" wrap="square" lIns="0" tIns="0" rIns="0" bIns="0" rtlCol="0">
            <a:spAutoFit/>
          </a:bodyPr>
          <a:lstStyle/>
          <a:p>
            <a:r>
              <a:rPr lang="en-US">
                <a:solidFill>
                  <a:srgbClr val="CCDDEC"/>
                </a:solidFill>
                <a:latin typeface="Aptos"/>
              </a:rPr>
              <a:t>Onsets: positive STFT magnitude changes.   Pitch: frequency = sample rate / repeating lag.</a:t>
            </a:r>
          </a:p>
        </p:txBody>
      </p:sp>
      <p:sp>
        <p:nvSpPr>
          <p:cNvPr id="7" name="Rectangle 6">
            <a:extLst>
              <a:ext uri="{FF2B5EF4-FFF2-40B4-BE49-F238E27FC236}">
                <a16:creationId xmlns:a16="http://schemas.microsoft.com/office/drawing/2014/main" id="{8F008345-2AD1-4516-88E4-5EA1B7148465}"/>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9FDF348-6A83-4FBF-9D6D-8EB10842F82A}"/>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12</a:t>
            </a:r>
          </a:p>
        </p:txBody>
      </p:sp>
    </p:spTree>
    <p:extLst>
      <p:ext uri="{BB962C8B-B14F-4D97-AF65-F5344CB8AC3E}">
        <p14:creationId xmlns:p14="http://schemas.microsoft.com/office/powerpoint/2010/main" val="4228261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5BA698-1FEE-487B-9104-A6A16A73E5E1}"/>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15CC62A-3840-401F-AEEC-9DBA25CF1668}"/>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Similarity, alignment and echo</a:t>
            </a:r>
          </a:p>
        </p:txBody>
      </p:sp>
      <p:cxnSp>
        <p:nvCxnSpPr>
          <p:cNvPr id="4" name="Straight Connector 3">
            <a:extLst>
              <a:ext uri="{FF2B5EF4-FFF2-40B4-BE49-F238E27FC236}">
                <a16:creationId xmlns:a16="http://schemas.microsoft.com/office/drawing/2014/main" id="{201FAF34-1F3A-4C0D-B9A5-64FC8E2EFEAE}"/>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3635DE6-14A5-4497-BB98-766E78CB6C70}"/>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6C34C6C0-B422-415A-9D17-325150F9812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13</a:t>
            </a:r>
          </a:p>
        </p:txBody>
      </p:sp>
      <p:sp>
        <p:nvSpPr>
          <p:cNvPr id="7" name="TextBox 6">
            <a:extLst>
              <a:ext uri="{FF2B5EF4-FFF2-40B4-BE49-F238E27FC236}">
                <a16:creationId xmlns:a16="http://schemas.microsoft.com/office/drawing/2014/main" id="{987F3B86-0290-4252-80F1-65A6633E9D7A}"/>
              </a:ext>
            </a:extLst>
          </p:cNvPr>
          <p:cNvSpPr txBox="1"/>
          <p:nvPr/>
        </p:nvSpPr>
        <p:spPr>
          <a:xfrm>
            <a:off x="774700" y="1536700"/>
            <a:ext cx="10414000" cy="384721"/>
          </a:xfrm>
          <a:prstGeom prst="rect">
            <a:avLst/>
          </a:prstGeom>
          <a:noFill/>
        </p:spPr>
        <p:txBody>
          <a:bodyPr vert="horz" wrap="square" lIns="0" tIns="0" rIns="0" bIns="0" rtlCol="0">
            <a:spAutoFit/>
          </a:bodyPr>
          <a:lstStyle/>
          <a:p>
            <a:r>
              <a:rPr lang="en-US" sz="2500" b="1">
                <a:solidFill>
                  <a:srgbClr val="37D9E9"/>
                </a:solidFill>
                <a:latin typeface="Bahnschrift" panose="020B0502040204020203" pitchFamily="34" charset="0"/>
              </a:rPr>
              <a:t>Compare clips by lining up their loudness patterns first.</a:t>
            </a:r>
          </a:p>
        </p:txBody>
      </p:sp>
      <p:sp>
        <p:nvSpPr>
          <p:cNvPr id="8" name="TextBox 7">
            <a:extLst>
              <a:ext uri="{FF2B5EF4-FFF2-40B4-BE49-F238E27FC236}">
                <a16:creationId xmlns:a16="http://schemas.microsoft.com/office/drawing/2014/main" id="{62A7EF65-C2F0-4B4E-9244-4E862BB22E18}"/>
              </a:ext>
            </a:extLst>
          </p:cNvPr>
          <p:cNvSpPr txBox="1"/>
          <p:nvPr/>
        </p:nvSpPr>
        <p:spPr>
          <a:xfrm>
            <a:off x="825500" y="2438400"/>
            <a:ext cx="1270000" cy="276999"/>
          </a:xfrm>
          <a:prstGeom prst="rect">
            <a:avLst/>
          </a:prstGeom>
          <a:noFill/>
        </p:spPr>
        <p:txBody>
          <a:bodyPr vert="horz" wrap="square" lIns="0" tIns="0" rIns="0" bIns="0" rtlCol="0">
            <a:spAutoFit/>
          </a:bodyPr>
          <a:lstStyle/>
          <a:p>
            <a:r>
              <a:rPr lang="en-US" b="1">
                <a:solidFill>
                  <a:srgbClr val="CCDDEC"/>
                </a:solidFill>
                <a:latin typeface="Aptos"/>
              </a:rPr>
              <a:t>Clip A</a:t>
            </a:r>
          </a:p>
        </p:txBody>
      </p:sp>
      <p:sp>
        <p:nvSpPr>
          <p:cNvPr id="9" name="TextBox 8">
            <a:extLst>
              <a:ext uri="{FF2B5EF4-FFF2-40B4-BE49-F238E27FC236}">
                <a16:creationId xmlns:a16="http://schemas.microsoft.com/office/drawing/2014/main" id="{178438CC-83E7-4BEC-94DE-B3C88DB17A6B}"/>
              </a:ext>
            </a:extLst>
          </p:cNvPr>
          <p:cNvSpPr txBox="1"/>
          <p:nvPr/>
        </p:nvSpPr>
        <p:spPr>
          <a:xfrm>
            <a:off x="825500" y="3302000"/>
            <a:ext cx="1270000" cy="276999"/>
          </a:xfrm>
          <a:prstGeom prst="rect">
            <a:avLst/>
          </a:prstGeom>
          <a:noFill/>
        </p:spPr>
        <p:txBody>
          <a:bodyPr vert="horz" wrap="square" lIns="0" tIns="0" rIns="0" bIns="0" rtlCol="0">
            <a:spAutoFit/>
          </a:bodyPr>
          <a:lstStyle/>
          <a:p>
            <a:r>
              <a:rPr lang="en-US" b="1">
                <a:solidFill>
                  <a:srgbClr val="CCDDEC"/>
                </a:solidFill>
                <a:latin typeface="Aptos"/>
              </a:rPr>
              <a:t>Clip B</a:t>
            </a:r>
          </a:p>
        </p:txBody>
      </p:sp>
      <p:cxnSp>
        <p:nvCxnSpPr>
          <p:cNvPr id="10" name="Straight Connector 9">
            <a:extLst>
              <a:ext uri="{FF2B5EF4-FFF2-40B4-BE49-F238E27FC236}">
                <a16:creationId xmlns:a16="http://schemas.microsoft.com/office/drawing/2014/main" id="{AE8D54E3-D5A3-4BB5-B007-3F6E2E1AFD33}"/>
              </a:ext>
            </a:extLst>
          </p:cNvPr>
          <p:cNvCxnSpPr/>
          <p:nvPr/>
        </p:nvCxnSpPr>
        <p:spPr>
          <a:xfrm>
            <a:off x="1981200" y="2984500"/>
            <a:ext cx="9067800" cy="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52608B-A3E6-438D-82DC-0CC2377FA092}"/>
              </a:ext>
            </a:extLst>
          </p:cNvPr>
          <p:cNvCxnSpPr/>
          <p:nvPr/>
        </p:nvCxnSpPr>
        <p:spPr>
          <a:xfrm>
            <a:off x="1981200" y="3848100"/>
            <a:ext cx="9067800" cy="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AFC2C37-9EF4-425A-85D5-CEC6DE2D9D86}"/>
              </a:ext>
            </a:extLst>
          </p:cNvPr>
          <p:cNvCxnSpPr/>
          <p:nvPr/>
        </p:nvCxnSpPr>
        <p:spPr>
          <a:xfrm>
            <a:off x="3733800" y="2298700"/>
            <a:ext cx="0" cy="685800"/>
          </a:xfrm>
          <a:prstGeom prst="line">
            <a:avLst/>
          </a:prstGeom>
          <a:ln w="1016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C37D88A-5F93-471A-9AAC-2B278C9591EC}"/>
              </a:ext>
            </a:extLst>
          </p:cNvPr>
          <p:cNvCxnSpPr/>
          <p:nvPr/>
        </p:nvCxnSpPr>
        <p:spPr>
          <a:xfrm>
            <a:off x="4521200" y="3289300"/>
            <a:ext cx="0" cy="558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BDDCBB3-8F05-4F02-93A8-A0B7A7C2B3B4}"/>
              </a:ext>
            </a:extLst>
          </p:cNvPr>
          <p:cNvCxnSpPr/>
          <p:nvPr/>
        </p:nvCxnSpPr>
        <p:spPr>
          <a:xfrm>
            <a:off x="5905500" y="2298700"/>
            <a:ext cx="0" cy="685800"/>
          </a:xfrm>
          <a:prstGeom prst="line">
            <a:avLst/>
          </a:prstGeom>
          <a:ln w="1016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CCCE47-D457-4C19-B971-8641677FB010}"/>
              </a:ext>
            </a:extLst>
          </p:cNvPr>
          <p:cNvCxnSpPr/>
          <p:nvPr/>
        </p:nvCxnSpPr>
        <p:spPr>
          <a:xfrm>
            <a:off x="6692900" y="3289300"/>
            <a:ext cx="0" cy="558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598A7CF-3BE3-45EF-8011-C23883120D6E}"/>
              </a:ext>
            </a:extLst>
          </p:cNvPr>
          <p:cNvCxnSpPr/>
          <p:nvPr/>
        </p:nvCxnSpPr>
        <p:spPr>
          <a:xfrm>
            <a:off x="8064500" y="2298700"/>
            <a:ext cx="0" cy="685800"/>
          </a:xfrm>
          <a:prstGeom prst="line">
            <a:avLst/>
          </a:prstGeom>
          <a:ln w="1016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A315AF-8ED2-4FA4-8C3D-4A07955A2C5B}"/>
              </a:ext>
            </a:extLst>
          </p:cNvPr>
          <p:cNvCxnSpPr/>
          <p:nvPr/>
        </p:nvCxnSpPr>
        <p:spPr>
          <a:xfrm>
            <a:off x="8851900" y="3289300"/>
            <a:ext cx="0" cy="558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47F73AF-71C0-422D-A639-80D6430AE002}"/>
              </a:ext>
            </a:extLst>
          </p:cNvPr>
          <p:cNvSpPr txBox="1"/>
          <p:nvPr/>
        </p:nvSpPr>
        <p:spPr>
          <a:xfrm>
            <a:off x="2108200" y="4267200"/>
            <a:ext cx="9398000" cy="307777"/>
          </a:xfrm>
          <a:prstGeom prst="rect">
            <a:avLst/>
          </a:prstGeom>
          <a:noFill/>
        </p:spPr>
        <p:txBody>
          <a:bodyPr vert="horz" wrap="square" lIns="0" tIns="0" rIns="0" bIns="0" rtlCol="0">
            <a:spAutoFit/>
          </a:bodyPr>
          <a:lstStyle/>
          <a:p>
            <a:r>
              <a:rPr lang="en-US" sz="2000">
                <a:solidFill>
                  <a:srgbClr val="CCDDEC"/>
                </a:solidFill>
                <a:latin typeface="Aptos"/>
              </a:rPr>
              <a:t>A shift brings matching events together before subtraction or correlation.</a:t>
            </a:r>
          </a:p>
        </p:txBody>
      </p:sp>
      <p:cxnSp>
        <p:nvCxnSpPr>
          <p:cNvPr id="19" name="Straight Connector 18">
            <a:extLst>
              <a:ext uri="{FF2B5EF4-FFF2-40B4-BE49-F238E27FC236}">
                <a16:creationId xmlns:a16="http://schemas.microsoft.com/office/drawing/2014/main" id="{69748472-D746-4BAF-A4C9-18FE15903928}"/>
              </a:ext>
            </a:extLst>
          </p:cNvPr>
          <p:cNvCxnSpPr/>
          <p:nvPr/>
        </p:nvCxnSpPr>
        <p:spPr>
          <a:xfrm>
            <a:off x="850900" y="4940300"/>
            <a:ext cx="104902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C7CE7F5-D005-4BA4-A835-1F534C298CF0}"/>
              </a:ext>
            </a:extLst>
          </p:cNvPr>
          <p:cNvSpPr txBox="1"/>
          <p:nvPr/>
        </p:nvSpPr>
        <p:spPr>
          <a:xfrm>
            <a:off x="825500" y="5194300"/>
            <a:ext cx="10541000" cy="646331"/>
          </a:xfrm>
          <a:prstGeom prst="rect">
            <a:avLst/>
          </a:prstGeom>
          <a:noFill/>
        </p:spPr>
        <p:txBody>
          <a:bodyPr vert="horz" wrap="square" lIns="0" tIns="0" rIns="0" bIns="0" rtlCol="0">
            <a:spAutoFit/>
          </a:bodyPr>
          <a:lstStyle/>
          <a:p>
            <a:r>
              <a:rPr lang="en-US" sz="2100">
                <a:solidFill>
                  <a:srgbClr val="CCDDEC"/>
                </a:solidFill>
                <a:latin typeface="Aptos"/>
              </a:rPr>
              <a:t>Echo detection slides one signal against itself. A secondary autocorrelation peak gives a candidate delay.</a:t>
            </a:r>
          </a:p>
        </p:txBody>
      </p:sp>
      <p:sp>
        <p:nvSpPr>
          <p:cNvPr id="21" name="TextBox 20">
            <a:extLst>
              <a:ext uri="{FF2B5EF4-FFF2-40B4-BE49-F238E27FC236}">
                <a16:creationId xmlns:a16="http://schemas.microsoft.com/office/drawing/2014/main" id="{387E966C-9797-419E-8D4F-54B695ED1DCA}"/>
              </a:ext>
            </a:extLst>
          </p:cNvPr>
          <p:cNvSpPr txBox="1"/>
          <p:nvPr/>
        </p:nvSpPr>
        <p:spPr>
          <a:xfrm>
            <a:off x="825500" y="6057900"/>
            <a:ext cx="10541000" cy="261610"/>
          </a:xfrm>
          <a:prstGeom prst="rect">
            <a:avLst/>
          </a:prstGeom>
          <a:noFill/>
        </p:spPr>
        <p:txBody>
          <a:bodyPr vert="horz" wrap="square" lIns="0" tIns="0" rIns="0" bIns="0" rtlCol="0">
            <a:spAutoFit/>
          </a:bodyPr>
          <a:lstStyle/>
          <a:p>
            <a:r>
              <a:rPr lang="en-US" sz="1700">
                <a:solidFill>
                  <a:srgbClr val="85A0B8"/>
                </a:solidFill>
                <a:latin typeface="Aptos"/>
              </a:rPr>
              <a:t>Repeated music can produce a similar peak, so a detected delay is evidence of repetition.</a:t>
            </a:r>
          </a:p>
        </p:txBody>
      </p:sp>
      <p:sp>
        <p:nvSpPr>
          <p:cNvPr id="22" name="Rectangle 21">
            <a:extLst>
              <a:ext uri="{FF2B5EF4-FFF2-40B4-BE49-F238E27FC236}">
                <a16:creationId xmlns:a16="http://schemas.microsoft.com/office/drawing/2014/main" id="{E47278C7-62FF-4FAD-AF33-44C9CA4BD343}"/>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F20897D-F9AE-4740-8D96-DE0A62C15659}"/>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13</a:t>
            </a:r>
          </a:p>
        </p:txBody>
      </p:sp>
    </p:spTree>
    <p:extLst>
      <p:ext uri="{BB962C8B-B14F-4D97-AF65-F5344CB8AC3E}">
        <p14:creationId xmlns:p14="http://schemas.microsoft.com/office/powerpoint/2010/main" val="594913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BFF145-D528-4C83-9EEB-195633308246}"/>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880F267-C0EB-47FD-923F-DFCB143C0DE5}"/>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Encryption: protect the whole audio file</a:t>
            </a:r>
          </a:p>
        </p:txBody>
      </p:sp>
      <p:cxnSp>
        <p:nvCxnSpPr>
          <p:cNvPr id="4" name="Straight Connector 3">
            <a:extLst>
              <a:ext uri="{FF2B5EF4-FFF2-40B4-BE49-F238E27FC236}">
                <a16:creationId xmlns:a16="http://schemas.microsoft.com/office/drawing/2014/main" id="{5CB08722-0840-4DE7-BB42-6BBA53345BCE}"/>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40542D6-21B9-4BD3-B80A-A5514A4F224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732A7762-47FD-4C62-9676-36E970FCB20B}"/>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14</a:t>
            </a:r>
          </a:p>
        </p:txBody>
      </p:sp>
      <p:sp>
        <p:nvSpPr>
          <p:cNvPr id="24" name="TextBox 23">
            <a:extLst>
              <a:ext uri="{FF2B5EF4-FFF2-40B4-BE49-F238E27FC236}">
                <a16:creationId xmlns:a16="http://schemas.microsoft.com/office/drawing/2014/main" id="{F2C6A286-986E-4D69-A6F2-5A3B102F5A68}"/>
              </a:ext>
            </a:extLst>
          </p:cNvPr>
          <p:cNvSpPr txBox="1"/>
          <p:nvPr/>
        </p:nvSpPr>
        <p:spPr>
          <a:xfrm>
            <a:off x="889000" y="1549400"/>
            <a:ext cx="762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FOLLOW THE BYTES</a:t>
            </a:r>
          </a:p>
        </p:txBody>
      </p:sp>
      <p:sp>
        <p:nvSpPr>
          <p:cNvPr id="25" name="Rectangle 24">
            <a:extLst>
              <a:ext uri="{FF2B5EF4-FFF2-40B4-BE49-F238E27FC236}">
                <a16:creationId xmlns:a16="http://schemas.microsoft.com/office/drawing/2014/main" id="{795F3F40-CE8B-4186-AE66-45D32AB81B09}"/>
              </a:ext>
            </a:extLst>
          </p:cNvPr>
          <p:cNvSpPr/>
          <p:nvPr/>
        </p:nvSpPr>
        <p:spPr>
          <a:xfrm>
            <a:off x="863600" y="20320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0DDEF1F-F36C-4D2E-BA61-10B41673BFC2}"/>
              </a:ext>
            </a:extLst>
          </p:cNvPr>
          <p:cNvSpPr txBox="1"/>
          <p:nvPr/>
        </p:nvSpPr>
        <p:spPr>
          <a:xfrm>
            <a:off x="1193800" y="2603500"/>
            <a:ext cx="27940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ORIGINAL FILE</a:t>
            </a:r>
          </a:p>
        </p:txBody>
      </p:sp>
      <p:sp>
        <p:nvSpPr>
          <p:cNvPr id="27" name="TextBox 26">
            <a:extLst>
              <a:ext uri="{FF2B5EF4-FFF2-40B4-BE49-F238E27FC236}">
                <a16:creationId xmlns:a16="http://schemas.microsoft.com/office/drawing/2014/main" id="{DA95E22C-FDBA-400E-BEF2-653AA75627A3}"/>
              </a:ext>
            </a:extLst>
          </p:cNvPr>
          <p:cNvSpPr txBox="1"/>
          <p:nvPr/>
        </p:nvSpPr>
        <p:spPr>
          <a:xfrm>
            <a:off x="1193800" y="3149600"/>
            <a:ext cx="2806700" cy="230832"/>
          </a:xfrm>
          <a:prstGeom prst="rect">
            <a:avLst/>
          </a:prstGeom>
          <a:noFill/>
        </p:spPr>
        <p:txBody>
          <a:bodyPr vert="horz" wrap="square" lIns="0" tIns="0" rIns="0" bIns="0" rtlCol="0">
            <a:spAutoFit/>
          </a:bodyPr>
          <a:lstStyle/>
          <a:p>
            <a:r>
              <a:rPr lang="en-US" sz="1500">
                <a:solidFill>
                  <a:srgbClr val="CCDDEC"/>
                </a:solidFill>
                <a:latin typeface="Aptos"/>
              </a:rPr>
              <a:t>bytes + filename</a:t>
            </a:r>
          </a:p>
        </p:txBody>
      </p:sp>
      <p:cxnSp>
        <p:nvCxnSpPr>
          <p:cNvPr id="28" name="Straight Connector 27">
            <a:extLst>
              <a:ext uri="{FF2B5EF4-FFF2-40B4-BE49-F238E27FC236}">
                <a16:creationId xmlns:a16="http://schemas.microsoft.com/office/drawing/2014/main" id="{11561974-34A0-4CBB-AD97-5AF11C56B6DE}"/>
              </a:ext>
            </a:extLst>
          </p:cNvPr>
          <p:cNvCxnSpPr/>
          <p:nvPr/>
        </p:nvCxnSpPr>
        <p:spPr>
          <a:xfrm>
            <a:off x="3937000" y="2844800"/>
            <a:ext cx="508000" cy="0"/>
          </a:xfrm>
          <a:prstGeom prst="line">
            <a:avLst/>
          </a:prstGeom>
          <a:ln w="22860">
            <a:solidFill>
              <a:srgbClr val="85A0B8"/>
            </a:solidFill>
            <a:tail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5E5C7C1-26E0-482E-81B7-1A4F4DAE5D66}"/>
              </a:ext>
            </a:extLst>
          </p:cNvPr>
          <p:cNvSpPr txBox="1"/>
          <p:nvPr/>
        </p:nvSpPr>
        <p:spPr>
          <a:xfrm>
            <a:off x="4749800" y="2603500"/>
            <a:ext cx="2794000" cy="323165"/>
          </a:xfrm>
          <a:prstGeom prst="rect">
            <a:avLst/>
          </a:prstGeom>
          <a:noFill/>
        </p:spPr>
        <p:txBody>
          <a:bodyPr vert="horz" wrap="square" lIns="0" tIns="0" rIns="0" bIns="0" rtlCol="0">
            <a:spAutoFit/>
          </a:bodyPr>
          <a:lstStyle/>
          <a:p>
            <a:r>
              <a:rPr lang="en-US" sz="2100" b="1">
                <a:solidFill>
                  <a:srgbClr val="FF64A5"/>
                </a:solidFill>
                <a:latin typeface="Bahnschrift" panose="020B0502040204020203" pitchFamily="34" charset="0"/>
              </a:rPr>
              <a:t>AES-GCM</a:t>
            </a:r>
          </a:p>
        </p:txBody>
      </p:sp>
      <p:sp>
        <p:nvSpPr>
          <p:cNvPr id="30" name="TextBox 29">
            <a:extLst>
              <a:ext uri="{FF2B5EF4-FFF2-40B4-BE49-F238E27FC236}">
                <a16:creationId xmlns:a16="http://schemas.microsoft.com/office/drawing/2014/main" id="{F580D8AE-E1C6-4644-B7B9-184D63D514D8}"/>
              </a:ext>
            </a:extLst>
          </p:cNvPr>
          <p:cNvSpPr txBox="1"/>
          <p:nvPr/>
        </p:nvSpPr>
        <p:spPr>
          <a:xfrm>
            <a:off x="4749800" y="3149600"/>
            <a:ext cx="2806700" cy="230832"/>
          </a:xfrm>
          <a:prstGeom prst="rect">
            <a:avLst/>
          </a:prstGeom>
          <a:noFill/>
        </p:spPr>
        <p:txBody>
          <a:bodyPr vert="horz" wrap="square" lIns="0" tIns="0" rIns="0" bIns="0" rtlCol="0">
            <a:spAutoFit/>
          </a:bodyPr>
          <a:lstStyle/>
          <a:p>
            <a:r>
              <a:rPr lang="en-US" sz="1500">
                <a:solidFill>
                  <a:srgbClr val="CCDDEC"/>
                </a:solidFill>
                <a:latin typeface="Aptos"/>
              </a:rPr>
              <a:t>password-derived key</a:t>
            </a:r>
          </a:p>
        </p:txBody>
      </p:sp>
      <p:cxnSp>
        <p:nvCxnSpPr>
          <p:cNvPr id="31" name="Straight Connector 30">
            <a:extLst>
              <a:ext uri="{FF2B5EF4-FFF2-40B4-BE49-F238E27FC236}">
                <a16:creationId xmlns:a16="http://schemas.microsoft.com/office/drawing/2014/main" id="{A443D7E5-6642-4138-AF6D-D73E9D4F95A1}"/>
              </a:ext>
            </a:extLst>
          </p:cNvPr>
          <p:cNvCxnSpPr/>
          <p:nvPr/>
        </p:nvCxnSpPr>
        <p:spPr>
          <a:xfrm>
            <a:off x="7493000" y="2844800"/>
            <a:ext cx="533400" cy="0"/>
          </a:xfrm>
          <a:prstGeom prst="line">
            <a:avLst/>
          </a:prstGeom>
          <a:ln w="22860">
            <a:solidFill>
              <a:srgbClr val="85A0B8"/>
            </a:solidFill>
            <a:tail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A3548D2-03CC-467D-8445-FCBF91D5BCA1}"/>
              </a:ext>
            </a:extLst>
          </p:cNvPr>
          <p:cNvSpPr txBox="1"/>
          <p:nvPr/>
        </p:nvSpPr>
        <p:spPr>
          <a:xfrm>
            <a:off x="8331200" y="2603500"/>
            <a:ext cx="27940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ENCRYPTED WAV</a:t>
            </a:r>
          </a:p>
        </p:txBody>
      </p:sp>
      <p:sp>
        <p:nvSpPr>
          <p:cNvPr id="33" name="TextBox 32">
            <a:extLst>
              <a:ext uri="{FF2B5EF4-FFF2-40B4-BE49-F238E27FC236}">
                <a16:creationId xmlns:a16="http://schemas.microsoft.com/office/drawing/2014/main" id="{11573C76-B1B2-43EB-8F89-5CDF0624C69A}"/>
              </a:ext>
            </a:extLst>
          </p:cNvPr>
          <p:cNvSpPr txBox="1"/>
          <p:nvPr/>
        </p:nvSpPr>
        <p:spPr>
          <a:xfrm>
            <a:off x="8331200" y="3149600"/>
            <a:ext cx="2806700" cy="230832"/>
          </a:xfrm>
          <a:prstGeom prst="rect">
            <a:avLst/>
          </a:prstGeom>
          <a:noFill/>
        </p:spPr>
        <p:txBody>
          <a:bodyPr vert="horz" wrap="square" lIns="0" tIns="0" rIns="0" bIns="0" rtlCol="0">
            <a:spAutoFit/>
          </a:bodyPr>
          <a:lstStyle/>
          <a:p>
            <a:r>
              <a:rPr lang="en-US" sz="1500">
                <a:solidFill>
                  <a:srgbClr val="CCDDEC"/>
                </a:solidFill>
                <a:latin typeface="Aptos"/>
              </a:rPr>
              <a:t>ciphertext as PCM samples</a:t>
            </a:r>
          </a:p>
        </p:txBody>
      </p:sp>
      <p:sp>
        <p:nvSpPr>
          <p:cNvPr id="34" name="TextBox 33">
            <a:extLst>
              <a:ext uri="{FF2B5EF4-FFF2-40B4-BE49-F238E27FC236}">
                <a16:creationId xmlns:a16="http://schemas.microsoft.com/office/drawing/2014/main" id="{CF1AFBF3-E00F-4BC4-AE3E-553466C6015B}"/>
              </a:ext>
            </a:extLst>
          </p:cNvPr>
          <p:cNvSpPr txBox="1"/>
          <p:nvPr/>
        </p:nvSpPr>
        <p:spPr>
          <a:xfrm>
            <a:off x="901700" y="4495800"/>
            <a:ext cx="10388600" cy="276999"/>
          </a:xfrm>
          <a:prstGeom prst="rect">
            <a:avLst/>
          </a:prstGeom>
          <a:noFill/>
        </p:spPr>
        <p:txBody>
          <a:bodyPr vert="horz" wrap="square" lIns="0" tIns="0" rIns="0" bIns="0" rtlCol="0">
            <a:spAutoFit/>
          </a:bodyPr>
          <a:lstStyle/>
          <a:p>
            <a:r>
              <a:rPr lang="en-US">
                <a:solidFill>
                  <a:srgbClr val="CCDDEC"/>
                </a:solidFill>
                <a:latin typeface="Aptos"/>
              </a:rPr>
              <a:t>The carrier sounds like noise, but its PCM bytes must stay unchanged for decryption.</a:t>
            </a:r>
          </a:p>
        </p:txBody>
      </p:sp>
      <p:sp>
        <p:nvSpPr>
          <p:cNvPr id="35" name="Rectangle 34">
            <a:extLst>
              <a:ext uri="{FF2B5EF4-FFF2-40B4-BE49-F238E27FC236}">
                <a16:creationId xmlns:a16="http://schemas.microsoft.com/office/drawing/2014/main" id="{914A13D1-C1F1-4BD3-BEBE-9F9CB74448CC}"/>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BEAA8047-866C-46AA-A863-57B09A44F7D7}"/>
              </a:ext>
            </a:extLst>
          </p:cNvPr>
          <p:cNvSpPr txBox="1"/>
          <p:nvPr/>
        </p:nvSpPr>
        <p:spPr>
          <a:xfrm>
            <a:off x="1066800" y="5283200"/>
            <a:ext cx="10058400" cy="200055"/>
          </a:xfrm>
          <a:prstGeom prst="rect">
            <a:avLst/>
          </a:prstGeom>
          <a:noFill/>
        </p:spPr>
        <p:txBody>
          <a:bodyPr vert="horz" wrap="square" lIns="0" tIns="0" rIns="0" bIns="0" rtlCol="0">
            <a:spAutoFit/>
          </a:bodyPr>
          <a:lstStyle/>
          <a:p>
            <a:r>
              <a:rPr lang="en-US" sz="1300">
                <a:solidFill>
                  <a:srgbClr val="37D9E9"/>
                </a:solidFill>
                <a:latin typeface="Consolas" panose="020B0609020204030204" pitchFamily="49" charset="0"/>
              </a:rPr>
              <a:t>ciphertext = aesgcm.encrypt(nonce, plaintext, None); carrier = np.frombuffer(packed, dtype=np.int16)</a:t>
            </a:r>
          </a:p>
        </p:txBody>
      </p:sp>
      <p:sp>
        <p:nvSpPr>
          <p:cNvPr id="37" name="TextBox 36">
            <a:extLst>
              <a:ext uri="{FF2B5EF4-FFF2-40B4-BE49-F238E27FC236}">
                <a16:creationId xmlns:a16="http://schemas.microsoft.com/office/drawing/2014/main" id="{E826033E-CAEF-4FBF-BD00-2AB6B30D76BF}"/>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38" name="TextBox 37">
            <a:extLst>
              <a:ext uri="{FF2B5EF4-FFF2-40B4-BE49-F238E27FC236}">
                <a16:creationId xmlns:a16="http://schemas.microsoft.com/office/drawing/2014/main" id="{3E43B21F-D59C-466B-9CD3-85D1C98B505B}"/>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Encrypt → download the WAV → decrypt using the same password.</a:t>
            </a:r>
          </a:p>
        </p:txBody>
      </p:sp>
      <p:sp>
        <p:nvSpPr>
          <p:cNvPr id="39" name="Rectangle 38">
            <a:extLst>
              <a:ext uri="{FF2B5EF4-FFF2-40B4-BE49-F238E27FC236}">
                <a16:creationId xmlns:a16="http://schemas.microsoft.com/office/drawing/2014/main" id="{97988F1A-D3BE-4311-B2C4-67A124415642}"/>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5EC16063-CDB2-4B65-BC92-F718FBFFAD04}"/>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14</a:t>
            </a:r>
          </a:p>
        </p:txBody>
      </p:sp>
      <p:sp>
        <p:nvSpPr>
          <p:cNvPr id="41" name="TextBox 40">
            <a:extLst>
              <a:ext uri="{FF2B5EF4-FFF2-40B4-BE49-F238E27FC236}">
                <a16:creationId xmlns:a16="http://schemas.microsoft.com/office/drawing/2014/main" id="{87FDB134-0781-41B4-B6E0-C8AC716123B5}"/>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3444313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BFF145-D528-4C83-9EEB-195633308246}"/>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880F267-C0EB-47FD-923F-DFCB143C0DE5}"/>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Steganography: hide text in sound</a:t>
            </a:r>
          </a:p>
        </p:txBody>
      </p:sp>
      <p:cxnSp>
        <p:nvCxnSpPr>
          <p:cNvPr id="4" name="Straight Connector 3">
            <a:extLst>
              <a:ext uri="{FF2B5EF4-FFF2-40B4-BE49-F238E27FC236}">
                <a16:creationId xmlns:a16="http://schemas.microsoft.com/office/drawing/2014/main" id="{5CB08722-0840-4DE7-BB42-6BBA53345BCE}"/>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40542D6-21B9-4BD3-B80A-A5514A4F224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732A7762-47FD-4C62-9676-36E970FCB20B}"/>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15</a:t>
            </a:r>
          </a:p>
        </p:txBody>
      </p:sp>
      <p:sp>
        <p:nvSpPr>
          <p:cNvPr id="24" name="TextBox 23">
            <a:extLst>
              <a:ext uri="{FF2B5EF4-FFF2-40B4-BE49-F238E27FC236}">
                <a16:creationId xmlns:a16="http://schemas.microsoft.com/office/drawing/2014/main" id="{44CD026D-63AE-44E5-88A8-FD1BA61740B9}"/>
              </a:ext>
            </a:extLst>
          </p:cNvPr>
          <p:cNvSpPr txBox="1"/>
          <p:nvPr/>
        </p:nvSpPr>
        <p:spPr>
          <a:xfrm>
            <a:off x="889000" y="1549400"/>
            <a:ext cx="889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SMALL CHANGES IN FFT MAGNITUDES</a:t>
            </a:r>
          </a:p>
        </p:txBody>
      </p:sp>
      <p:sp>
        <p:nvSpPr>
          <p:cNvPr id="25" name="Rectangle 24">
            <a:extLst>
              <a:ext uri="{FF2B5EF4-FFF2-40B4-BE49-F238E27FC236}">
                <a16:creationId xmlns:a16="http://schemas.microsoft.com/office/drawing/2014/main" id="{81858890-85E1-4DB5-B5EE-8D7386672965}"/>
              </a:ext>
            </a:extLst>
          </p:cNvPr>
          <p:cNvSpPr/>
          <p:nvPr/>
        </p:nvSpPr>
        <p:spPr>
          <a:xfrm>
            <a:off x="863600" y="20320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56F9554-E195-4150-94B3-F8B48C418C60}"/>
              </a:ext>
            </a:extLst>
          </p:cNvPr>
          <p:cNvSpPr txBox="1"/>
          <p:nvPr/>
        </p:nvSpPr>
        <p:spPr>
          <a:xfrm>
            <a:off x="1092200" y="2387600"/>
            <a:ext cx="1841500" cy="230832"/>
          </a:xfrm>
          <a:prstGeom prst="rect">
            <a:avLst/>
          </a:prstGeom>
          <a:noFill/>
        </p:spPr>
        <p:txBody>
          <a:bodyPr vert="horz" wrap="square" lIns="0" tIns="0" rIns="0" bIns="0" rtlCol="0">
            <a:spAutoFit/>
          </a:bodyPr>
          <a:lstStyle/>
          <a:p>
            <a:r>
              <a:rPr lang="en-US" sz="1500">
                <a:solidFill>
                  <a:srgbClr val="CCDDEC"/>
                </a:solidFill>
                <a:latin typeface="Aptos"/>
              </a:rPr>
              <a:t>message bits</a:t>
            </a:r>
          </a:p>
        </p:txBody>
      </p:sp>
      <p:sp>
        <p:nvSpPr>
          <p:cNvPr id="27" name="TextBox 26">
            <a:extLst>
              <a:ext uri="{FF2B5EF4-FFF2-40B4-BE49-F238E27FC236}">
                <a16:creationId xmlns:a16="http://schemas.microsoft.com/office/drawing/2014/main" id="{93B55598-2A68-48A7-92A3-0F4AB352C67B}"/>
              </a:ext>
            </a:extLst>
          </p:cNvPr>
          <p:cNvSpPr txBox="1"/>
          <p:nvPr/>
        </p:nvSpPr>
        <p:spPr>
          <a:xfrm>
            <a:off x="1104900" y="2768600"/>
            <a:ext cx="2159000" cy="353943"/>
          </a:xfrm>
          <a:prstGeom prst="rect">
            <a:avLst/>
          </a:prstGeom>
          <a:noFill/>
        </p:spPr>
        <p:txBody>
          <a:bodyPr vert="horz" wrap="square" lIns="0" tIns="0" rIns="0" bIns="0" rtlCol="0">
            <a:spAutoFit/>
          </a:bodyPr>
          <a:lstStyle/>
          <a:p>
            <a:r>
              <a:rPr lang="en-US" sz="2300" b="1">
                <a:solidFill>
                  <a:srgbClr val="FF64A5"/>
                </a:solidFill>
                <a:latin typeface="Consolas" panose="020B0609020204030204" pitchFamily="49" charset="0"/>
              </a:rPr>
              <a:t>0  1  1  0</a:t>
            </a:r>
          </a:p>
        </p:txBody>
      </p:sp>
      <p:cxnSp>
        <p:nvCxnSpPr>
          <p:cNvPr id="28" name="Straight Connector 27">
            <a:extLst>
              <a:ext uri="{FF2B5EF4-FFF2-40B4-BE49-F238E27FC236}">
                <a16:creationId xmlns:a16="http://schemas.microsoft.com/office/drawing/2014/main" id="{B8E16BE6-DB7A-4E1A-9FF5-F1B0AA007FD8}"/>
              </a:ext>
            </a:extLst>
          </p:cNvPr>
          <p:cNvCxnSpPr/>
          <p:nvPr/>
        </p:nvCxnSpPr>
        <p:spPr>
          <a:xfrm>
            <a:off x="3302000" y="3035300"/>
            <a:ext cx="787400" cy="0"/>
          </a:xfrm>
          <a:prstGeom prst="line">
            <a:avLst/>
          </a:prstGeom>
          <a:ln w="22860">
            <a:solidFill>
              <a:srgbClr val="85A0B8"/>
            </a:solidFill>
            <a:tail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69BF0D6-1F79-4E12-BC98-DA3793C4919A}"/>
              </a:ext>
            </a:extLst>
          </p:cNvPr>
          <p:cNvSpPr txBox="1"/>
          <p:nvPr/>
        </p:nvSpPr>
        <p:spPr>
          <a:xfrm>
            <a:off x="4318000" y="2349500"/>
            <a:ext cx="2921000" cy="230832"/>
          </a:xfrm>
          <a:prstGeom prst="rect">
            <a:avLst/>
          </a:prstGeom>
          <a:noFill/>
        </p:spPr>
        <p:txBody>
          <a:bodyPr vert="horz" wrap="square" lIns="0" tIns="0" rIns="0" bIns="0" rtlCol="0">
            <a:spAutoFit/>
          </a:bodyPr>
          <a:lstStyle/>
          <a:p>
            <a:r>
              <a:rPr lang="en-US" sz="1500">
                <a:solidFill>
                  <a:srgbClr val="CCDDEC"/>
                </a:solidFill>
                <a:latin typeface="Aptos"/>
              </a:rPr>
              <a:t>selected FFT bins</a:t>
            </a:r>
          </a:p>
        </p:txBody>
      </p:sp>
      <p:cxnSp>
        <p:nvCxnSpPr>
          <p:cNvPr id="30" name="Straight Connector 29">
            <a:extLst>
              <a:ext uri="{FF2B5EF4-FFF2-40B4-BE49-F238E27FC236}">
                <a16:creationId xmlns:a16="http://schemas.microsoft.com/office/drawing/2014/main" id="{68F60209-C985-4F8D-B01E-B9003DE2AFB4}"/>
              </a:ext>
            </a:extLst>
          </p:cNvPr>
          <p:cNvCxnSpPr/>
          <p:nvPr/>
        </p:nvCxnSpPr>
        <p:spPr>
          <a:xfrm flipV="1">
            <a:off x="4445000" y="3365500"/>
            <a:ext cx="0" cy="406400"/>
          </a:xfrm>
          <a:prstGeom prst="line">
            <a:avLst/>
          </a:prstGeom>
          <a:ln w="10160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AB4A266-5AEF-4D07-8BBB-F92D0CB43F8F}"/>
              </a:ext>
            </a:extLst>
          </p:cNvPr>
          <p:cNvCxnSpPr/>
          <p:nvPr/>
        </p:nvCxnSpPr>
        <p:spPr>
          <a:xfrm flipV="1">
            <a:off x="4775200" y="2984500"/>
            <a:ext cx="0" cy="7874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72A8B83-15AC-4573-BD8F-2F1E52CA1211}"/>
              </a:ext>
            </a:extLst>
          </p:cNvPr>
          <p:cNvCxnSpPr/>
          <p:nvPr/>
        </p:nvCxnSpPr>
        <p:spPr>
          <a:xfrm flipV="1">
            <a:off x="5105400" y="3263900"/>
            <a:ext cx="0" cy="508000"/>
          </a:xfrm>
          <a:prstGeom prst="line">
            <a:avLst/>
          </a:prstGeom>
          <a:ln w="10160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DAE939B-EF90-4974-9467-42E516045136}"/>
              </a:ext>
            </a:extLst>
          </p:cNvPr>
          <p:cNvCxnSpPr/>
          <p:nvPr/>
        </p:nvCxnSpPr>
        <p:spPr>
          <a:xfrm flipV="1">
            <a:off x="5435600" y="2832100"/>
            <a:ext cx="0" cy="939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5730166-40A8-446F-B6B4-FB367447381A}"/>
              </a:ext>
            </a:extLst>
          </p:cNvPr>
          <p:cNvCxnSpPr/>
          <p:nvPr/>
        </p:nvCxnSpPr>
        <p:spPr>
          <a:xfrm flipV="1">
            <a:off x="5765800" y="3149600"/>
            <a:ext cx="0" cy="6223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6EBFD71-FC98-4A19-A3DC-5564ABD7CCCB}"/>
              </a:ext>
            </a:extLst>
          </p:cNvPr>
          <p:cNvCxnSpPr/>
          <p:nvPr/>
        </p:nvCxnSpPr>
        <p:spPr>
          <a:xfrm flipV="1">
            <a:off x="6096000" y="2921000"/>
            <a:ext cx="0" cy="850900"/>
          </a:xfrm>
          <a:prstGeom prst="line">
            <a:avLst/>
          </a:prstGeom>
          <a:ln w="10160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00132EC-9D1D-4A48-A79A-B9A0C1E89A28}"/>
              </a:ext>
            </a:extLst>
          </p:cNvPr>
          <p:cNvCxnSpPr/>
          <p:nvPr/>
        </p:nvCxnSpPr>
        <p:spPr>
          <a:xfrm flipV="1">
            <a:off x="6426200" y="3302000"/>
            <a:ext cx="0" cy="4699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E1C4350-9677-42C1-BC71-F0314F4E9145}"/>
              </a:ext>
            </a:extLst>
          </p:cNvPr>
          <p:cNvCxnSpPr/>
          <p:nvPr/>
        </p:nvCxnSpPr>
        <p:spPr>
          <a:xfrm flipV="1">
            <a:off x="6756400" y="3073400"/>
            <a:ext cx="0" cy="698500"/>
          </a:xfrm>
          <a:prstGeom prst="line">
            <a:avLst/>
          </a:prstGeom>
          <a:ln w="10160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48F348E-2817-4051-8A0D-EF2176C4E462}"/>
              </a:ext>
            </a:extLst>
          </p:cNvPr>
          <p:cNvCxnSpPr/>
          <p:nvPr/>
        </p:nvCxnSpPr>
        <p:spPr>
          <a:xfrm>
            <a:off x="7429500" y="3035300"/>
            <a:ext cx="723900" cy="0"/>
          </a:xfrm>
          <a:prstGeom prst="line">
            <a:avLst/>
          </a:prstGeom>
          <a:ln w="22860">
            <a:solidFill>
              <a:srgbClr val="85A0B8"/>
            </a:solidFill>
            <a:tailEnd type="arrow"/>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2866594D-0432-41A7-9321-AB8479511E11}"/>
              </a:ext>
            </a:extLst>
          </p:cNvPr>
          <p:cNvSpPr txBox="1"/>
          <p:nvPr/>
        </p:nvSpPr>
        <p:spPr>
          <a:xfrm>
            <a:off x="8394700" y="2616200"/>
            <a:ext cx="26035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playable WAV</a:t>
            </a:r>
          </a:p>
        </p:txBody>
      </p:sp>
      <p:sp>
        <p:nvSpPr>
          <p:cNvPr id="40" name="TextBox 39">
            <a:extLst>
              <a:ext uri="{FF2B5EF4-FFF2-40B4-BE49-F238E27FC236}">
                <a16:creationId xmlns:a16="http://schemas.microsoft.com/office/drawing/2014/main" id="{8508A1CB-0494-4853-837C-E923F3322567}"/>
              </a:ext>
            </a:extLst>
          </p:cNvPr>
          <p:cNvSpPr txBox="1"/>
          <p:nvPr/>
        </p:nvSpPr>
        <p:spPr>
          <a:xfrm>
            <a:off x="901700" y="4470400"/>
            <a:ext cx="10388600" cy="276999"/>
          </a:xfrm>
          <a:prstGeom prst="rect">
            <a:avLst/>
          </a:prstGeom>
          <a:noFill/>
        </p:spPr>
        <p:txBody>
          <a:bodyPr vert="horz" wrap="square" lIns="0" tIns="0" rIns="0" bIns="0" rtlCol="0">
            <a:spAutoFit/>
          </a:bodyPr>
          <a:lstStyle/>
          <a:p>
            <a:r>
              <a:rPr lang="en-US">
                <a:solidFill>
                  <a:srgbClr val="CCDDEC"/>
                </a:solidFill>
                <a:latin typeface="Aptos"/>
              </a:rPr>
              <a:t>Bit 0 uses an even magnitude step; bit 1 uses an odd step. Phase is kept.</a:t>
            </a:r>
          </a:p>
        </p:txBody>
      </p:sp>
      <p:sp>
        <p:nvSpPr>
          <p:cNvPr id="41" name="Rectangle 40">
            <a:extLst>
              <a:ext uri="{FF2B5EF4-FFF2-40B4-BE49-F238E27FC236}">
                <a16:creationId xmlns:a16="http://schemas.microsoft.com/office/drawing/2014/main" id="{7FBB6FF8-3963-4E1C-950B-738578631977}"/>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0B2FB32A-DD81-4086-9809-4104A769920A}"/>
              </a:ext>
            </a:extLst>
          </p:cNvPr>
          <p:cNvSpPr txBox="1"/>
          <p:nvPr/>
        </p:nvSpPr>
        <p:spPr>
          <a:xfrm>
            <a:off x="1066800" y="5283200"/>
            <a:ext cx="10058400" cy="203133"/>
          </a:xfrm>
          <a:prstGeom prst="rect">
            <a:avLst/>
          </a:prstGeom>
          <a:noFill/>
        </p:spPr>
        <p:txBody>
          <a:bodyPr vert="horz" wrap="square" lIns="0" tIns="0" rIns="0" bIns="0" rtlCol="0">
            <a:spAutoFit/>
          </a:bodyPr>
          <a:lstStyle/>
          <a:p>
            <a:r>
              <a:rPr lang="en-US" sz="1320">
                <a:solidFill>
                  <a:srgbClr val="37D9E9"/>
                </a:solidFill>
                <a:latin typeface="Consolas" panose="020B0609020204030204" pitchFamily="49" charset="0"/>
              </a:rPr>
              <a:t>new_mag = quantize(abs(X[k]), bit, delta); X[k] = new_mag * exp(1j * phase)</a:t>
            </a:r>
          </a:p>
        </p:txBody>
      </p:sp>
      <p:sp>
        <p:nvSpPr>
          <p:cNvPr id="43" name="TextBox 42">
            <a:extLst>
              <a:ext uri="{FF2B5EF4-FFF2-40B4-BE49-F238E27FC236}">
                <a16:creationId xmlns:a16="http://schemas.microsoft.com/office/drawing/2014/main" id="{C728DAB2-11E6-49FB-B4B5-35EF3C9D9FE5}"/>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44" name="TextBox 43">
            <a:extLst>
              <a:ext uri="{FF2B5EF4-FFF2-40B4-BE49-F238E27FC236}">
                <a16:creationId xmlns:a16="http://schemas.microsoft.com/office/drawing/2014/main" id="{10050FE5-6C69-441E-932E-5FB917073AFB}"/>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Hide a short message, save the WAV, then extract the text.</a:t>
            </a:r>
          </a:p>
        </p:txBody>
      </p:sp>
      <p:sp>
        <p:nvSpPr>
          <p:cNvPr id="45" name="Rectangle 44">
            <a:extLst>
              <a:ext uri="{FF2B5EF4-FFF2-40B4-BE49-F238E27FC236}">
                <a16:creationId xmlns:a16="http://schemas.microsoft.com/office/drawing/2014/main" id="{0D23FCC7-F94D-474D-9B46-2704D2BAE0F1}"/>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413E17AF-762C-4C80-A70B-700C2A519B00}"/>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15</a:t>
            </a:r>
          </a:p>
        </p:txBody>
      </p:sp>
      <p:sp>
        <p:nvSpPr>
          <p:cNvPr id="47" name="TextBox 46">
            <a:extLst>
              <a:ext uri="{FF2B5EF4-FFF2-40B4-BE49-F238E27FC236}">
                <a16:creationId xmlns:a16="http://schemas.microsoft.com/office/drawing/2014/main" id="{3CBF3B12-8762-4AB3-AFAA-0DCD735CF11F}"/>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3808017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48E8B3-7ABF-4EDA-BD7E-C94E226022C7}"/>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0DE48DB-2634-473A-9867-6470B9556919}"/>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Results and limits</a:t>
            </a:r>
          </a:p>
        </p:txBody>
      </p:sp>
      <p:cxnSp>
        <p:nvCxnSpPr>
          <p:cNvPr id="4" name="Straight Connector 3">
            <a:extLst>
              <a:ext uri="{FF2B5EF4-FFF2-40B4-BE49-F238E27FC236}">
                <a16:creationId xmlns:a16="http://schemas.microsoft.com/office/drawing/2014/main" id="{802453A6-2608-4C7A-88C4-5D4D57956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1D8BD4F-C953-4B6B-B537-6A95D21E7BE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983C82A2-01C5-4036-A6C8-756E5A7E0DBC}"/>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16</a:t>
            </a:r>
          </a:p>
        </p:txBody>
      </p:sp>
      <p:sp>
        <p:nvSpPr>
          <p:cNvPr id="16" name="TextBox 15">
            <a:extLst>
              <a:ext uri="{FF2B5EF4-FFF2-40B4-BE49-F238E27FC236}">
                <a16:creationId xmlns:a16="http://schemas.microsoft.com/office/drawing/2014/main" id="{FFA99332-4E8A-47D1-8E85-A7827A5A817E}"/>
              </a:ext>
            </a:extLst>
          </p:cNvPr>
          <p:cNvSpPr txBox="1"/>
          <p:nvPr/>
        </p:nvSpPr>
        <p:spPr>
          <a:xfrm>
            <a:off x="850900" y="1600200"/>
            <a:ext cx="53340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WHAT THE SIGNALS SHOW</a:t>
            </a:r>
          </a:p>
        </p:txBody>
      </p:sp>
      <p:sp>
        <p:nvSpPr>
          <p:cNvPr id="17" name="TextBox 16">
            <a:extLst>
              <a:ext uri="{FF2B5EF4-FFF2-40B4-BE49-F238E27FC236}">
                <a16:creationId xmlns:a16="http://schemas.microsoft.com/office/drawing/2014/main" id="{89EF9139-3FFB-461E-905B-F9526136D48C}"/>
              </a:ext>
            </a:extLst>
          </p:cNvPr>
          <p:cNvSpPr txBox="1"/>
          <p:nvPr/>
        </p:nvSpPr>
        <p:spPr>
          <a:xfrm>
            <a:off x="889000" y="22479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HEART AUDIO</a:t>
            </a:r>
          </a:p>
        </p:txBody>
      </p:sp>
      <p:sp>
        <p:nvSpPr>
          <p:cNvPr id="18" name="TextBox 17">
            <a:extLst>
              <a:ext uri="{FF2B5EF4-FFF2-40B4-BE49-F238E27FC236}">
                <a16:creationId xmlns:a16="http://schemas.microsoft.com/office/drawing/2014/main" id="{A9B93644-AB00-4396-8094-8805131EEF66}"/>
              </a:ext>
            </a:extLst>
          </p:cNvPr>
          <p:cNvSpPr txBox="1"/>
          <p:nvPr/>
        </p:nvSpPr>
        <p:spPr>
          <a:xfrm>
            <a:off x="889000" y="2654300"/>
            <a:ext cx="4953000" cy="584775"/>
          </a:xfrm>
          <a:prstGeom prst="rect">
            <a:avLst/>
          </a:prstGeom>
          <a:noFill/>
        </p:spPr>
        <p:txBody>
          <a:bodyPr vert="horz" wrap="square" lIns="0" tIns="0" rIns="0" bIns="0" rtlCol="0">
            <a:spAutoFit/>
          </a:bodyPr>
          <a:lstStyle/>
          <a:p>
            <a:r>
              <a:rPr lang="en-US" sz="1900">
                <a:solidFill>
                  <a:srgbClr val="CCDDEC"/>
                </a:solidFill>
                <a:latin typeface="Aptos"/>
              </a:rPr>
              <a:t>Repeated bursts become S1/S2 timing candidates, then an estimated rate.</a:t>
            </a:r>
          </a:p>
        </p:txBody>
      </p:sp>
      <p:sp>
        <p:nvSpPr>
          <p:cNvPr id="19" name="TextBox 18">
            <a:extLst>
              <a:ext uri="{FF2B5EF4-FFF2-40B4-BE49-F238E27FC236}">
                <a16:creationId xmlns:a16="http://schemas.microsoft.com/office/drawing/2014/main" id="{F0794BD0-92F5-4427-AC52-A272583F52A0}"/>
              </a:ext>
            </a:extLst>
          </p:cNvPr>
          <p:cNvSpPr txBox="1"/>
          <p:nvPr/>
        </p:nvSpPr>
        <p:spPr>
          <a:xfrm>
            <a:off x="889000" y="38354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MUSIC</a:t>
            </a:r>
          </a:p>
        </p:txBody>
      </p:sp>
      <p:sp>
        <p:nvSpPr>
          <p:cNvPr id="20" name="TextBox 19">
            <a:extLst>
              <a:ext uri="{FF2B5EF4-FFF2-40B4-BE49-F238E27FC236}">
                <a16:creationId xmlns:a16="http://schemas.microsoft.com/office/drawing/2014/main" id="{629058C6-D074-4DFA-A035-1BE33920B723}"/>
              </a:ext>
            </a:extLst>
          </p:cNvPr>
          <p:cNvSpPr txBox="1"/>
          <p:nvPr/>
        </p:nvSpPr>
        <p:spPr>
          <a:xfrm>
            <a:off x="889000" y="4241800"/>
            <a:ext cx="4953000" cy="584775"/>
          </a:xfrm>
          <a:prstGeom prst="rect">
            <a:avLst/>
          </a:prstGeom>
          <a:noFill/>
        </p:spPr>
        <p:txBody>
          <a:bodyPr vert="horz" wrap="square" lIns="0" tIns="0" rIns="0" bIns="0" rtlCol="0">
            <a:spAutoFit/>
          </a:bodyPr>
          <a:lstStyle/>
          <a:p>
            <a:r>
              <a:rPr lang="en-US" sz="1900">
                <a:solidFill>
                  <a:srgbClr val="CCDDEC"/>
                </a:solidFill>
                <a:latin typeface="Aptos"/>
              </a:rPr>
              <a:t>Waveform, spectrum and spectrogram reveal different parts of the same excerpt.</a:t>
            </a:r>
          </a:p>
        </p:txBody>
      </p:sp>
      <p:cxnSp>
        <p:nvCxnSpPr>
          <p:cNvPr id="21" name="Straight Connector 20">
            <a:extLst>
              <a:ext uri="{FF2B5EF4-FFF2-40B4-BE49-F238E27FC236}">
                <a16:creationId xmlns:a16="http://schemas.microsoft.com/office/drawing/2014/main" id="{5F21527A-F58B-46CA-AFD9-C17614D0A8BD}"/>
              </a:ext>
            </a:extLst>
          </p:cNvPr>
          <p:cNvCxnSpPr/>
          <p:nvPr/>
        </p:nvCxnSpPr>
        <p:spPr>
          <a:xfrm>
            <a:off x="6248400" y="1676400"/>
            <a:ext cx="0" cy="379730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4E7F7EB-CF7A-4F96-B710-D3D7DD22DC33}"/>
              </a:ext>
            </a:extLst>
          </p:cNvPr>
          <p:cNvSpPr txBox="1"/>
          <p:nvPr/>
        </p:nvSpPr>
        <p:spPr>
          <a:xfrm>
            <a:off x="6743700" y="1600200"/>
            <a:ext cx="4635500" cy="323165"/>
          </a:xfrm>
          <a:prstGeom prst="rect">
            <a:avLst/>
          </a:prstGeom>
          <a:noFill/>
        </p:spPr>
        <p:txBody>
          <a:bodyPr vert="horz" wrap="square" lIns="0" tIns="0" rIns="0" bIns="0" rtlCol="0">
            <a:spAutoFit/>
          </a:bodyPr>
          <a:lstStyle/>
          <a:p>
            <a:r>
              <a:rPr lang="en-US" sz="2100" b="1">
                <a:solidFill>
                  <a:srgbClr val="FF64A5"/>
                </a:solidFill>
                <a:latin typeface="Bahnschrift" panose="020B0502040204020203" pitchFamily="34" charset="0"/>
              </a:rPr>
              <a:t>WHAT NEEDS CARE</a:t>
            </a:r>
          </a:p>
        </p:txBody>
      </p:sp>
      <p:sp>
        <p:nvSpPr>
          <p:cNvPr id="23" name="TextBox 22">
            <a:extLst>
              <a:ext uri="{FF2B5EF4-FFF2-40B4-BE49-F238E27FC236}">
                <a16:creationId xmlns:a16="http://schemas.microsoft.com/office/drawing/2014/main" id="{2E9AD502-D928-4A48-820D-A504D62595C4}"/>
              </a:ext>
            </a:extLst>
          </p:cNvPr>
          <p:cNvSpPr txBox="1"/>
          <p:nvPr/>
        </p:nvSpPr>
        <p:spPr>
          <a:xfrm>
            <a:off x="6743700" y="2336800"/>
            <a:ext cx="4406900" cy="877163"/>
          </a:xfrm>
          <a:prstGeom prst="rect">
            <a:avLst/>
          </a:prstGeom>
          <a:noFill/>
        </p:spPr>
        <p:txBody>
          <a:bodyPr vert="horz" wrap="square" lIns="0" tIns="0" rIns="0" bIns="0" rtlCol="0">
            <a:spAutoFit/>
          </a:bodyPr>
          <a:lstStyle/>
          <a:p>
            <a:r>
              <a:rPr lang="en-US" sz="1900">
                <a:solidFill>
                  <a:srgbClr val="CCDDEC"/>
                </a:solidFill>
                <a:latin typeface="Aptos"/>
              </a:rPr>
              <a:t>Heart labels are estimates. Musical onsets are not always beats. Repeated sounds can resemble echoes.</a:t>
            </a:r>
          </a:p>
        </p:txBody>
      </p:sp>
      <p:sp>
        <p:nvSpPr>
          <p:cNvPr id="24" name="TextBox 23">
            <a:extLst>
              <a:ext uri="{FF2B5EF4-FFF2-40B4-BE49-F238E27FC236}">
                <a16:creationId xmlns:a16="http://schemas.microsoft.com/office/drawing/2014/main" id="{3A60B339-4122-4A9A-831C-33A385E4FEAF}"/>
              </a:ext>
            </a:extLst>
          </p:cNvPr>
          <p:cNvSpPr txBox="1"/>
          <p:nvPr/>
        </p:nvSpPr>
        <p:spPr>
          <a:xfrm>
            <a:off x="6743700" y="4051300"/>
            <a:ext cx="4406900" cy="877163"/>
          </a:xfrm>
          <a:prstGeom prst="rect">
            <a:avLst/>
          </a:prstGeom>
          <a:noFill/>
        </p:spPr>
        <p:txBody>
          <a:bodyPr vert="horz" wrap="square" lIns="0" tIns="0" rIns="0" bIns="0" rtlCol="0">
            <a:spAutoFit/>
          </a:bodyPr>
          <a:lstStyle/>
          <a:p>
            <a:r>
              <a:rPr lang="en-US" sz="1900">
                <a:solidFill>
                  <a:srgbClr val="CCDDEC"/>
                </a:solidFill>
                <a:latin typeface="Aptos"/>
              </a:rPr>
              <a:t>Encrypted WAV samples must remain unchanged. Steganography hides text, but does not encrypt it.</a:t>
            </a:r>
          </a:p>
        </p:txBody>
      </p:sp>
      <p:cxnSp>
        <p:nvCxnSpPr>
          <p:cNvPr id="25" name="Straight Connector 24">
            <a:extLst>
              <a:ext uri="{FF2B5EF4-FFF2-40B4-BE49-F238E27FC236}">
                <a16:creationId xmlns:a16="http://schemas.microsoft.com/office/drawing/2014/main" id="{028F4688-BE46-4499-B112-3324B1C2FAD1}"/>
              </a:ext>
            </a:extLst>
          </p:cNvPr>
          <p:cNvCxnSpPr/>
          <p:nvPr/>
        </p:nvCxnSpPr>
        <p:spPr>
          <a:xfrm>
            <a:off x="889000" y="5740400"/>
            <a:ext cx="10401300" cy="0"/>
          </a:xfrm>
          <a:prstGeom prst="line">
            <a:avLst/>
          </a:prstGeom>
          <a:ln w="15240">
            <a:solidFill>
              <a:srgbClr val="264B63"/>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7897A8A0-BAA7-46B9-86D1-F566CE1FC3CC}"/>
              </a:ext>
            </a:extLst>
          </p:cNvPr>
          <p:cNvSpPr txBox="1"/>
          <p:nvPr/>
        </p:nvSpPr>
        <p:spPr>
          <a:xfrm>
            <a:off x="889000" y="5956300"/>
            <a:ext cx="1485900" cy="184666"/>
          </a:xfrm>
          <a:prstGeom prst="rect">
            <a:avLst/>
          </a:prstGeom>
          <a:noFill/>
        </p:spPr>
        <p:txBody>
          <a:bodyPr vert="horz" wrap="square" lIns="0" tIns="0" rIns="0" bIns="0" rtlCol="0">
            <a:spAutoFit/>
          </a:bodyPr>
          <a:lstStyle/>
          <a:p>
            <a:r>
              <a:rPr lang="en-US" sz="1200" b="1">
                <a:solidFill>
                  <a:srgbClr val="FF64A5"/>
                </a:solidFill>
                <a:latin typeface="Bahnschrift" panose="020B0502040204020203" pitchFamily="34" charset="0"/>
              </a:rPr>
              <a:t>DEMO PATH</a:t>
            </a:r>
          </a:p>
        </p:txBody>
      </p:sp>
      <p:sp>
        <p:nvSpPr>
          <p:cNvPr id="27" name="TextBox 26">
            <a:extLst>
              <a:ext uri="{FF2B5EF4-FFF2-40B4-BE49-F238E27FC236}">
                <a16:creationId xmlns:a16="http://schemas.microsoft.com/office/drawing/2014/main" id="{F4BBD5E5-414C-4B91-B481-081BF2FAE261}"/>
              </a:ext>
            </a:extLst>
          </p:cNvPr>
          <p:cNvSpPr txBox="1"/>
          <p:nvPr/>
        </p:nvSpPr>
        <p:spPr>
          <a:xfrm>
            <a:off x="2425700" y="5918200"/>
            <a:ext cx="8382000" cy="246221"/>
          </a:xfrm>
          <a:prstGeom prst="rect">
            <a:avLst/>
          </a:prstGeom>
          <a:noFill/>
        </p:spPr>
        <p:txBody>
          <a:bodyPr vert="horz" wrap="square" lIns="0" tIns="0" rIns="0" bIns="0" rtlCol="0">
            <a:spAutoFit/>
          </a:bodyPr>
          <a:lstStyle/>
          <a:p>
            <a:r>
              <a:rPr lang="en-US" sz="1600">
                <a:solidFill>
                  <a:srgbClr val="EEF6FF"/>
                </a:solidFill>
                <a:latin typeface="Aptos"/>
              </a:rPr>
              <a:t>Upload  →  inspect  →  adjust  →  listen  →  compare</a:t>
            </a:r>
          </a:p>
        </p:txBody>
      </p:sp>
      <p:sp>
        <p:nvSpPr>
          <p:cNvPr id="28" name="Rectangle 27">
            <a:extLst>
              <a:ext uri="{FF2B5EF4-FFF2-40B4-BE49-F238E27FC236}">
                <a16:creationId xmlns:a16="http://schemas.microsoft.com/office/drawing/2014/main" id="{81C56109-88C8-4CB5-9015-71B41254FA4E}"/>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1FE1F9F-9E40-4218-91FD-4A7B41934397}"/>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16</a:t>
            </a:r>
          </a:p>
        </p:txBody>
      </p:sp>
    </p:spTree>
    <p:extLst>
      <p:ext uri="{BB962C8B-B14F-4D97-AF65-F5344CB8AC3E}">
        <p14:creationId xmlns:p14="http://schemas.microsoft.com/office/powerpoint/2010/main" val="2554217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2101</Words>
  <Application>Microsoft Office PowerPoint</Application>
  <PresentationFormat>Widescreen</PresentationFormat>
  <Paragraphs>194</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Bahnschrift</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Rakib Hassan</dc:creator>
  <cp:lastModifiedBy>Rakib Hassan</cp:lastModifiedBy>
  <cp:revision>3</cp:revision>
  <dcterms:created xsi:type="dcterms:W3CDTF">2026-09-25T16:02:10Z</dcterms:created>
  <dcterms:modified xsi:type="dcterms:W3CDTF">2026-09-25T17:07:26Z</dcterms:modified>
</cp:coreProperties>
</file>